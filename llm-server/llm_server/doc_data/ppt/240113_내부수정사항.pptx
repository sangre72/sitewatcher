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33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4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CA198-57EC-6FF2-F898-7E1B7BC92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FF3C92-A0D5-3EEF-C5C2-A60383B1C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FE9267-9AC0-2329-3A19-B6EC7C5A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8B283C-E3F1-0547-A46E-5B0177641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DA628-C617-FAF6-5617-01DB614E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62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07575-B3B5-6FF5-85B5-859EC318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2ACF7-EF6E-608D-E43A-F2C70C202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A25E9A-7028-525D-3C05-F5CF420A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891752-9FAD-69A5-79E1-1AF77CA1F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9B1AC3-68C2-A9D0-B132-AF069CE0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13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D97C1-41A2-B3C2-765C-7E3DC085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D6B172-460A-680C-0433-5514160D9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CB3790-AE6D-07D7-020B-FA2C2FF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5E52AC-3167-6DA9-7535-FDC53DB3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53C5F-92F8-2B46-A96A-B6F1093B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15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7F959-3A93-75DA-817A-F9D27212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DF1F1E-B246-0D67-B7B0-34BA044CD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CEEB19-A93F-56F4-F564-3AA3030B3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C1377E-FE2E-9549-5182-8E7DC3E6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416D67-7563-B410-D497-8DE20991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0F260F-5950-DAC8-2C46-7A00AA8D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286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18370-D8A0-5589-2001-427F9EAD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EC0FCA-1813-78AB-C7DE-3F177E161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8D259D-AD2E-F98A-4877-69CDAF21F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928FBC-EE0E-3264-F137-6C9910B1E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C457C3-A6CD-BD89-D3AB-38E6F67CA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3E9C5C-BB2B-F7F3-D883-DE2DEC14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56E59B-011A-1C68-C1A4-E42A6380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C83BDF-FA0F-EB4A-00E1-8637D2C2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25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52339-D1EC-41AE-BACD-A18D0211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3AFDAF-7373-8946-261E-8A920CF7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0276B7-A654-B090-8556-79C1BAEA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90039E-0854-43F5-5E68-00C6D158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69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9C823A-940A-E8D5-BF99-98A4A2AB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F8FC25-9E72-3F0E-1FDA-2BC22DB5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E2BA17-E210-0CDE-D221-7DD686E7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067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AFE89-764C-70C2-73F8-3C04E705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BFCD9-B8A3-C105-E005-C9607F6EC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0855C5-BC24-9361-ED7F-69D81A9D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E65A46-04F4-5FE9-5AF2-EDE180C28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C30E78-6C9F-344A-1A19-936A2BBA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8D78EB-CD03-8070-8A29-5FB27EA5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11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B3EED-555D-DEF4-35C0-2B1595731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79CBA2-8E1E-1D39-1A0C-036E01CB9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B3767B-128A-EE24-0A9A-ABD4425A0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372B22-4C35-E7DC-AE39-4421951E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06A144-7641-3DBE-A071-7AD1B391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84E01E-4455-6F40-C8D6-64855155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9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36250-C421-44F2-090D-8DEDE69D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6219F-9CF7-A748-186F-9F9D4FD64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08D90-85E5-37E5-34A8-175564FF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B0ACF-C4FD-E7D3-05F2-74A6DBF5C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6885B-153A-4D20-DFF4-2A54A2FD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30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C1AF74-7106-4D55-317B-816B2537C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88D50C-3F38-17C0-2B65-72680CABB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AAD73-57EC-FE3C-0821-656A28C6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CCF1FB-FE71-AC76-E2A3-6B1EC2F9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605A83-80AD-A3A7-E203-13F1627D8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74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92DC9F-B062-91A5-200C-2E5A1EF2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F5365E-2984-81FF-2BEF-24709F85E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B0C22-89AB-10B8-8EFA-413DBA8D7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6F5CB-E7FF-45C9-9917-3879A9CB0FA5}" type="datetimeFigureOut">
              <a:rPr lang="ko-KR" altLang="en-US" smtClean="0"/>
              <a:t>2024-01-13 Saturday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0CD8C5-16AB-6570-F43F-5B179A227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8EC773-504C-B8D1-4175-FD18979F4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882F5-D34E-4768-AE08-F2C51C4A99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27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wellife.or.kr/mypage/my_report.do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B5E46D-3AC3-8C41-7C87-B92DAE86070B}"/>
              </a:ext>
            </a:extLst>
          </p:cNvPr>
          <p:cNvSpPr txBox="1"/>
          <p:nvPr/>
        </p:nvSpPr>
        <p:spPr>
          <a:xfrm>
            <a:off x="491319" y="427630"/>
            <a:ext cx="5447325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주민번호 아이디 실제로 변경 테스트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메인 화면 </a:t>
            </a:r>
            <a:r>
              <a:rPr lang="en-US" altLang="ko-KR" dirty="0"/>
              <a:t>: </a:t>
            </a:r>
            <a:r>
              <a:rPr lang="ko-KR" altLang="en-US" dirty="0"/>
              <a:t>제복신청 내역 표기 안됨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새창으로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설문조사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참여하지 않은 경우 클릭 안되게 하거나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종료된 경우 종료되어서 열람할 수 없다는</a:t>
            </a:r>
            <a:br>
              <a:rPr lang="en-US" altLang="ko-KR" dirty="0"/>
            </a:br>
            <a:r>
              <a:rPr lang="ko-KR" altLang="en-US" dirty="0"/>
              <a:t>알림 멘트 표출 필요 </a:t>
            </a:r>
            <a:r>
              <a:rPr lang="en-US" altLang="ko-KR" dirty="0"/>
              <a:t>(</a:t>
            </a:r>
            <a:r>
              <a:rPr lang="ko-KR" altLang="en-US" dirty="0"/>
              <a:t>실 </a:t>
            </a:r>
            <a:r>
              <a:rPr lang="ko-KR" altLang="en-US" dirty="0" err="1"/>
              <a:t>개발시</a:t>
            </a:r>
            <a:r>
              <a:rPr lang="ko-KR" altLang="en-US" dirty="0"/>
              <a:t> 다시 논의 후 정리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 err="1"/>
              <a:t>메인화면</a:t>
            </a:r>
            <a:r>
              <a:rPr lang="ko-KR" altLang="en-US" dirty="0"/>
              <a:t> 로그인 아이디 저장 기능 체크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br>
              <a:rPr lang="en-US" altLang="ko-KR" dirty="0"/>
            </a:b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32B1B3-3244-8EBA-03F1-2AA194BEE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982" y="384702"/>
            <a:ext cx="4153113" cy="160573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2AC0617-2B48-11A9-5EF7-49FD17853ADF}"/>
              </a:ext>
            </a:extLst>
          </p:cNvPr>
          <p:cNvCxnSpPr/>
          <p:nvPr/>
        </p:nvCxnSpPr>
        <p:spPr>
          <a:xfrm>
            <a:off x="4725170" y="1123666"/>
            <a:ext cx="2990364" cy="2272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8F86FC55-8051-C957-CC3A-D3797BA2E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358" y="2181280"/>
            <a:ext cx="2320680" cy="1763580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523ECF1-9F4B-D76D-2CB6-99BF7464D944}"/>
              </a:ext>
            </a:extLst>
          </p:cNvPr>
          <p:cNvCxnSpPr>
            <a:cxnSpLocks/>
          </p:cNvCxnSpPr>
          <p:nvPr/>
        </p:nvCxnSpPr>
        <p:spPr>
          <a:xfrm>
            <a:off x="2578143" y="1687613"/>
            <a:ext cx="4592042" cy="13754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9C3E7865-F07D-9564-E5A7-F2C3AE46C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19" y="3613777"/>
            <a:ext cx="5368240" cy="129842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90885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8D6F85-2AC1-7F87-4B73-59A094C7A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125835"/>
            <a:ext cx="4009938" cy="23821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380D15-91E9-7BDA-7789-40A3BD99BA88}"/>
              </a:ext>
            </a:extLst>
          </p:cNvPr>
          <p:cNvSpPr txBox="1"/>
          <p:nvPr/>
        </p:nvSpPr>
        <p:spPr>
          <a:xfrm>
            <a:off x="491319" y="427630"/>
            <a:ext cx="601158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아이디 찾기 기능 체크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생년월일 입력 방식 예시 다시 체크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하이픈</a:t>
            </a:r>
            <a:r>
              <a:rPr lang="en-US" altLang="ko-KR" dirty="0"/>
              <a:t>(-) </a:t>
            </a:r>
            <a:r>
              <a:rPr lang="ko-KR" altLang="en-US" dirty="0"/>
              <a:t>입력에 따라 자동 표출 되도록 체크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/>
              <a:t>비밀번호 찾기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실제 개발직원 계정으로 체크하여 테스트 필요할 듯 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8. </a:t>
            </a:r>
            <a:r>
              <a:rPr lang="ko-KR" altLang="en-US" dirty="0"/>
              <a:t>메뉴 명 숨김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휴대전화로 명칭 변경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9. </a:t>
            </a:r>
            <a:r>
              <a:rPr lang="ko-KR" altLang="en-US" dirty="0"/>
              <a:t>로그인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표출 체크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5BC132-8467-DE95-5FC7-44F3342C3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286" y="3064566"/>
            <a:ext cx="6214844" cy="3484045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12C9014-B6CC-1E65-B81A-46ABF640E12F}"/>
              </a:ext>
            </a:extLst>
          </p:cNvPr>
          <p:cNvCxnSpPr/>
          <p:nvPr/>
        </p:nvCxnSpPr>
        <p:spPr>
          <a:xfrm>
            <a:off x="2218888" y="3116510"/>
            <a:ext cx="5591262" cy="1128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E3F8A1A-4FAB-CFCE-A23F-03F57BF9E97D}"/>
              </a:ext>
            </a:extLst>
          </p:cNvPr>
          <p:cNvCxnSpPr>
            <a:cxnSpLocks/>
          </p:cNvCxnSpPr>
          <p:nvPr/>
        </p:nvCxnSpPr>
        <p:spPr>
          <a:xfrm>
            <a:off x="2961350" y="3671403"/>
            <a:ext cx="2673542" cy="1525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4790588D-FA61-C292-B88B-9FC88CFD5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70" y="5130598"/>
            <a:ext cx="2582985" cy="1136193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86090A-309E-4CF3-FD5E-EC2FB1232E58}"/>
              </a:ext>
            </a:extLst>
          </p:cNvPr>
          <p:cNvCxnSpPr>
            <a:cxnSpLocks/>
          </p:cNvCxnSpPr>
          <p:nvPr/>
        </p:nvCxnSpPr>
        <p:spPr>
          <a:xfrm flipH="1">
            <a:off x="1098062" y="4755662"/>
            <a:ext cx="1418492" cy="6795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84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5C7F9E-F7DA-EB0B-60CE-735337EE9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662" y="427630"/>
            <a:ext cx="4318000" cy="24994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380D15-91E9-7BDA-7789-40A3BD99BA88}"/>
              </a:ext>
            </a:extLst>
          </p:cNvPr>
          <p:cNvSpPr txBox="1"/>
          <p:nvPr/>
        </p:nvSpPr>
        <p:spPr>
          <a:xfrm>
            <a:off x="491319" y="427630"/>
            <a:ext cx="707597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10. </a:t>
            </a:r>
            <a:r>
              <a:rPr lang="ko-KR" altLang="en-US" dirty="0"/>
              <a:t>나의 복지 점수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https://dev.wellife.or.kr/mypage/my_report.do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정렬 수정 </a:t>
            </a:r>
            <a:r>
              <a:rPr lang="en-US" altLang="ko-KR" dirty="0"/>
              <a:t>(</a:t>
            </a:r>
            <a:r>
              <a:rPr lang="ko-KR" altLang="en-US" dirty="0"/>
              <a:t>가운데 정렬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11. </a:t>
            </a:r>
            <a:r>
              <a:rPr lang="ko-KR" altLang="en-US" dirty="0"/>
              <a:t>개인지원금 신청 목록 </a:t>
            </a:r>
            <a:r>
              <a:rPr lang="en-US" altLang="ko-KR" dirty="0"/>
              <a:t>: </a:t>
            </a:r>
            <a:r>
              <a:rPr lang="ko-KR" altLang="en-US" dirty="0"/>
              <a:t>날짜 포맷 </a:t>
            </a:r>
            <a:r>
              <a:rPr lang="en-US" altLang="ko-KR" dirty="0"/>
              <a:t>–(</a:t>
            </a:r>
            <a:r>
              <a:rPr lang="ko-KR" altLang="en-US" dirty="0"/>
              <a:t>하이픈</a:t>
            </a:r>
            <a:r>
              <a:rPr lang="en-US" altLang="ko-KR" dirty="0"/>
              <a:t>)</a:t>
            </a:r>
            <a:r>
              <a:rPr lang="ko-KR" altLang="en-US" dirty="0"/>
              <a:t>으로  구분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12. </a:t>
            </a:r>
            <a:r>
              <a:rPr lang="ko-KR" altLang="en-US" dirty="0"/>
              <a:t>게시판 날짜 규칙 수정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하이픈</a:t>
            </a:r>
            <a:r>
              <a:rPr lang="en-US" altLang="ko-KR" dirty="0"/>
              <a:t>(-) </a:t>
            </a:r>
            <a:r>
              <a:rPr lang="ko-KR" altLang="en-US" dirty="0"/>
              <a:t>으로 변경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본문 내용도 포함</a:t>
            </a:r>
            <a:endParaRPr lang="en-US" altLang="ko-KR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86090A-309E-4CF3-FD5E-EC2FB1232E58}"/>
              </a:ext>
            </a:extLst>
          </p:cNvPr>
          <p:cNvCxnSpPr>
            <a:cxnSpLocks/>
          </p:cNvCxnSpPr>
          <p:nvPr/>
        </p:nvCxnSpPr>
        <p:spPr>
          <a:xfrm>
            <a:off x="3278554" y="902677"/>
            <a:ext cx="5748215" cy="1712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DFBCBA0-9809-DF2A-8C7F-06CB90E64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92" y="2149990"/>
            <a:ext cx="6744677" cy="1860431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E70A56E-FE20-C91B-3122-ED1B7E5899E2}"/>
              </a:ext>
            </a:extLst>
          </p:cNvPr>
          <p:cNvCxnSpPr>
            <a:cxnSpLocks/>
          </p:cNvCxnSpPr>
          <p:nvPr/>
        </p:nvCxnSpPr>
        <p:spPr>
          <a:xfrm>
            <a:off x="3571630" y="1627959"/>
            <a:ext cx="429847" cy="149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7D54428F-0C74-FC8F-45D8-6EB81F659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399" y="4370793"/>
            <a:ext cx="4814277" cy="1981634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50E9007-9D98-0CF1-21BD-47795348925E}"/>
              </a:ext>
            </a:extLst>
          </p:cNvPr>
          <p:cNvCxnSpPr/>
          <p:nvPr/>
        </p:nvCxnSpPr>
        <p:spPr>
          <a:xfrm flipV="1">
            <a:off x="2911231" y="5230041"/>
            <a:ext cx="5513754" cy="57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9F1B575D-E705-F79F-1C56-A3F4B420B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5568" y="3324503"/>
            <a:ext cx="4332678" cy="1475914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8969B0A-6414-1F03-8F32-D6BF39824C95}"/>
              </a:ext>
            </a:extLst>
          </p:cNvPr>
          <p:cNvCxnSpPr/>
          <p:nvPr/>
        </p:nvCxnSpPr>
        <p:spPr>
          <a:xfrm flipV="1">
            <a:off x="2579077" y="3833446"/>
            <a:ext cx="5935785" cy="17701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41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0429B-A8EF-D015-0190-92B461F002EE}"/>
              </a:ext>
            </a:extLst>
          </p:cNvPr>
          <p:cNvSpPr txBox="1"/>
          <p:nvPr/>
        </p:nvSpPr>
        <p:spPr>
          <a:xfrm>
            <a:off x="491319" y="427630"/>
            <a:ext cx="1140248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13. </a:t>
            </a:r>
            <a:r>
              <a:rPr lang="ko-KR" altLang="en-US" dirty="0"/>
              <a:t>전체 공통 </a:t>
            </a:r>
            <a:r>
              <a:rPr lang="en-US" altLang="ko-KR" dirty="0"/>
              <a:t>: </a:t>
            </a:r>
            <a:r>
              <a:rPr lang="ko-KR" altLang="en-US" dirty="0" err="1"/>
              <a:t>페이징</a:t>
            </a:r>
            <a:r>
              <a:rPr lang="ko-KR" altLang="en-US" dirty="0"/>
              <a:t> 체크 필요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14. </a:t>
            </a:r>
            <a:r>
              <a:rPr lang="ko-KR" altLang="en-US" dirty="0"/>
              <a:t>경조사</a:t>
            </a:r>
            <a:r>
              <a:rPr lang="en-US" altLang="ko-KR" dirty="0"/>
              <a:t>/</a:t>
            </a:r>
            <a:r>
              <a:rPr lang="ko-KR" altLang="en-US" dirty="0"/>
              <a:t>인사이동 </a:t>
            </a:r>
            <a:r>
              <a:rPr lang="en-US" altLang="ko-KR" dirty="0"/>
              <a:t>: </a:t>
            </a:r>
            <a:r>
              <a:rPr lang="ko-KR" altLang="en-US" dirty="0"/>
              <a:t>운영서버 이전 시 첨부 체크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15. </a:t>
            </a:r>
            <a:r>
              <a:rPr lang="ko-KR" altLang="en-US" dirty="0">
                <a:solidFill>
                  <a:srgbClr val="FF0000"/>
                </a:solidFill>
              </a:rPr>
              <a:t>운영서버 이전 시 첨부파일 업로드 경로 및 기능 체크 필요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16. </a:t>
            </a:r>
            <a:r>
              <a:rPr lang="ko-KR" altLang="en-US" dirty="0"/>
              <a:t>배정신청 후 환수동의로 연결되는 로직 체크 </a:t>
            </a:r>
            <a:r>
              <a:rPr lang="en-US" altLang="ko-KR" dirty="0"/>
              <a:t>(</a:t>
            </a:r>
            <a:r>
              <a:rPr lang="ko-KR" altLang="en-US" dirty="0"/>
              <a:t>환수 동의에 따라 일괄 지급 또는 </a:t>
            </a:r>
            <a:r>
              <a:rPr lang="ko-KR" altLang="en-US" dirty="0" err="1"/>
              <a:t>월할</a:t>
            </a:r>
            <a:r>
              <a:rPr lang="ko-KR" altLang="en-US" dirty="0"/>
              <a:t> 지급을 선택해야 함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환수동의 </a:t>
            </a:r>
            <a:r>
              <a:rPr lang="en-US" altLang="ko-KR" dirty="0"/>
              <a:t>: </a:t>
            </a:r>
            <a:r>
              <a:rPr lang="ko-KR" altLang="en-US" dirty="0"/>
              <a:t>미동의는 동의로 언제든 변경 가능</a:t>
            </a:r>
            <a:r>
              <a:rPr lang="en-US" altLang="ko-KR" dirty="0"/>
              <a:t>, </a:t>
            </a:r>
            <a:r>
              <a:rPr lang="ko-KR" altLang="en-US" dirty="0"/>
              <a:t>동의는 미동의로 변경  불가  </a:t>
            </a:r>
            <a:r>
              <a:rPr lang="en-US" altLang="ko-KR" dirty="0"/>
              <a:t>(</a:t>
            </a:r>
            <a:r>
              <a:rPr lang="ko-KR" altLang="en-US" dirty="0"/>
              <a:t>이 로직은 </a:t>
            </a:r>
            <a:r>
              <a:rPr lang="en-US" altLang="ko-KR" dirty="0"/>
              <a:t>1</a:t>
            </a:r>
            <a:r>
              <a:rPr lang="ko-KR" altLang="en-US" dirty="0"/>
              <a:t>년에 </a:t>
            </a:r>
            <a:r>
              <a:rPr lang="ko-KR" altLang="en-US" dirty="0" err="1"/>
              <a:t>한번씩함</a:t>
            </a:r>
            <a:r>
              <a:rPr lang="en-US" altLang="ko-KR" dirty="0"/>
              <a:t>. )</a:t>
            </a:r>
          </a:p>
          <a:p>
            <a:endParaRPr lang="en-US" altLang="ko-KR" dirty="0"/>
          </a:p>
          <a:p>
            <a:r>
              <a:rPr lang="en-US" altLang="ko-KR" dirty="0"/>
              <a:t>17. </a:t>
            </a:r>
            <a:r>
              <a:rPr lang="ko-KR" altLang="en-US" dirty="0"/>
              <a:t>알림판 </a:t>
            </a:r>
            <a:r>
              <a:rPr lang="en-US" altLang="ko-KR" dirty="0"/>
              <a:t>1</a:t>
            </a:r>
            <a:r>
              <a:rPr lang="ko-KR" altLang="en-US" dirty="0"/>
              <a:t>개만 하드코딩으로 삽입 </a:t>
            </a:r>
            <a:r>
              <a:rPr lang="en-US" altLang="ko-KR" dirty="0"/>
              <a:t>(</a:t>
            </a:r>
            <a:r>
              <a:rPr lang="ko-KR" altLang="en-US" dirty="0"/>
              <a:t>마이페이지 </a:t>
            </a:r>
            <a:r>
              <a:rPr lang="ko-KR" altLang="en-US" dirty="0" err="1"/>
              <a:t>메인만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복지포인트는 변경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B623EC-4E27-1C8D-4E7D-66FC42835C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620"/>
          <a:stretch/>
        </p:blipFill>
        <p:spPr>
          <a:xfrm>
            <a:off x="5490307" y="49588"/>
            <a:ext cx="6322613" cy="11254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339E3A0-B05D-0D70-6498-04D7F6993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322" y="3372951"/>
            <a:ext cx="3794369" cy="181428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3512FE-E773-D975-4E61-0E541E9447C3}"/>
              </a:ext>
            </a:extLst>
          </p:cNvPr>
          <p:cNvSpPr/>
          <p:nvPr/>
        </p:nvSpPr>
        <p:spPr>
          <a:xfrm>
            <a:off x="715108" y="4153877"/>
            <a:ext cx="1809261" cy="898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D331BF-A98A-E2B2-DDB0-6C19D80CA8D4}"/>
              </a:ext>
            </a:extLst>
          </p:cNvPr>
          <p:cNvSpPr txBox="1"/>
          <p:nvPr/>
        </p:nvSpPr>
        <p:spPr>
          <a:xfrm>
            <a:off x="807656" y="4280095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한성우님</a:t>
            </a:r>
            <a:r>
              <a:rPr lang="ko-KR" altLang="en-US" sz="1200" dirty="0">
                <a:solidFill>
                  <a:schemeClr val="bg1"/>
                </a:solidFill>
              </a:rPr>
              <a:t> 복지점수</a:t>
            </a:r>
            <a:br>
              <a:rPr lang="en-US" altLang="ko-KR" sz="1200" dirty="0">
                <a:solidFill>
                  <a:schemeClr val="bg1"/>
                </a:solidFill>
              </a:rPr>
            </a:b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          00.00 </a:t>
            </a:r>
            <a:r>
              <a:rPr lang="ko-KR" altLang="en-US" sz="1200" dirty="0">
                <a:solidFill>
                  <a:schemeClr val="bg1"/>
                </a:solidFill>
              </a:rPr>
              <a:t>점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31A3891-98F5-1DD9-815F-F3470C2E8D4F}"/>
              </a:ext>
            </a:extLst>
          </p:cNvPr>
          <p:cNvCxnSpPr>
            <a:endCxn id="10" idx="1"/>
          </p:cNvCxnSpPr>
          <p:nvPr/>
        </p:nvCxnSpPr>
        <p:spPr>
          <a:xfrm>
            <a:off x="6447692" y="3739662"/>
            <a:ext cx="1539630" cy="5404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44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0429B-A8EF-D015-0190-92B461F002EE}"/>
              </a:ext>
            </a:extLst>
          </p:cNvPr>
          <p:cNvSpPr txBox="1"/>
          <p:nvPr/>
        </p:nvSpPr>
        <p:spPr>
          <a:xfrm>
            <a:off x="491319" y="427630"/>
            <a:ext cx="7313220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18. </a:t>
            </a:r>
            <a:r>
              <a:rPr lang="ko-KR" altLang="en-US" dirty="0"/>
              <a:t>수련원 안내 이미지 </a:t>
            </a:r>
            <a:r>
              <a:rPr lang="en-US" altLang="ko-KR" dirty="0"/>
              <a:t>(</a:t>
            </a:r>
            <a:r>
              <a:rPr lang="ko-KR" altLang="en-US" dirty="0"/>
              <a:t>업로드 및  경로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이미지는 접수 필요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19. </a:t>
            </a:r>
            <a:r>
              <a:rPr lang="ko-KR" altLang="en-US" dirty="0"/>
              <a:t>필수 체크 표시 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20. </a:t>
            </a:r>
            <a:r>
              <a:rPr lang="ko-KR" altLang="en-US" dirty="0"/>
              <a:t>정기신청 </a:t>
            </a:r>
            <a:r>
              <a:rPr lang="en-US" altLang="ko-KR" dirty="0"/>
              <a:t>&gt; </a:t>
            </a:r>
            <a:r>
              <a:rPr lang="ko-KR" altLang="en-US" dirty="0"/>
              <a:t>동일한 수련원이 </a:t>
            </a:r>
            <a:r>
              <a:rPr lang="en-US" altLang="ko-KR" dirty="0"/>
              <a:t>2, 3</a:t>
            </a:r>
            <a:r>
              <a:rPr lang="ko-KR" altLang="en-US" dirty="0"/>
              <a:t>지망에서 선택 되지 않도록 체크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F6561F-E2E0-0030-13FE-B305B6350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231" y="320133"/>
            <a:ext cx="6178062" cy="331705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7E49E32-78ED-85F5-1A47-30BA49ADEFEA}"/>
              </a:ext>
            </a:extLst>
          </p:cNvPr>
          <p:cNvCxnSpPr/>
          <p:nvPr/>
        </p:nvCxnSpPr>
        <p:spPr>
          <a:xfrm>
            <a:off x="3856892" y="851877"/>
            <a:ext cx="2149231" cy="8596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3B6F7807-18CA-F952-0138-F135511B6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2016824"/>
            <a:ext cx="3317700" cy="2961576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A5976B-078E-192B-762F-9A6138FB8D1A}"/>
              </a:ext>
            </a:extLst>
          </p:cNvPr>
          <p:cNvCxnSpPr/>
          <p:nvPr/>
        </p:nvCxnSpPr>
        <p:spPr>
          <a:xfrm>
            <a:off x="1176215" y="1633415"/>
            <a:ext cx="597877" cy="18641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FA0FE4-6D92-FC21-D4C9-B1E119E7F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450" y="3977342"/>
            <a:ext cx="3410231" cy="2560525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24377B5-D403-956F-2422-0D76A1DA8A3A}"/>
              </a:ext>
            </a:extLst>
          </p:cNvPr>
          <p:cNvCxnSpPr>
            <a:cxnSpLocks/>
          </p:cNvCxnSpPr>
          <p:nvPr/>
        </p:nvCxnSpPr>
        <p:spPr>
          <a:xfrm flipV="1">
            <a:off x="7752861" y="5486400"/>
            <a:ext cx="719016" cy="764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36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D816E70-754E-E8DB-C01C-D92F7781D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38" y="0"/>
            <a:ext cx="5541108" cy="30765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C0429B-A8EF-D015-0190-92B461F002EE}"/>
              </a:ext>
            </a:extLst>
          </p:cNvPr>
          <p:cNvSpPr txBox="1"/>
          <p:nvPr/>
        </p:nvSpPr>
        <p:spPr>
          <a:xfrm>
            <a:off x="491319" y="427630"/>
            <a:ext cx="559319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21. </a:t>
            </a:r>
            <a:r>
              <a:rPr lang="ko-KR" altLang="en-US" dirty="0"/>
              <a:t>수련원 </a:t>
            </a:r>
            <a:r>
              <a:rPr lang="en-US" altLang="ko-KR" dirty="0"/>
              <a:t>&gt; </a:t>
            </a:r>
            <a:r>
              <a:rPr lang="ko-KR" altLang="en-US" dirty="0"/>
              <a:t>단체예약 </a:t>
            </a:r>
            <a:r>
              <a:rPr lang="en-US" altLang="ko-KR" dirty="0"/>
              <a:t>: </a:t>
            </a:r>
            <a:r>
              <a:rPr lang="ko-KR" altLang="en-US" dirty="0"/>
              <a:t>휴대전화로 명칭 변경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신청자 정보와 동일 체크 시 휴대폰</a:t>
            </a:r>
            <a:r>
              <a:rPr lang="en-US" altLang="ko-KR" dirty="0"/>
              <a:t>(</a:t>
            </a:r>
            <a:r>
              <a:rPr lang="ko-KR" altLang="en-US" dirty="0"/>
              <a:t>휴대전화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정보 미 표시됨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22. </a:t>
            </a:r>
            <a:r>
              <a:rPr lang="ko-KR" altLang="en-US" dirty="0"/>
              <a:t>마이페이지 </a:t>
            </a:r>
            <a:r>
              <a:rPr lang="en-US" altLang="ko-KR" dirty="0"/>
              <a:t>&gt; </a:t>
            </a:r>
            <a:r>
              <a:rPr lang="ko-KR" altLang="en-US" dirty="0"/>
              <a:t>수련원 예약 </a:t>
            </a:r>
            <a:r>
              <a:rPr lang="en-US" altLang="ko-KR" dirty="0"/>
              <a:t>: </a:t>
            </a:r>
            <a:r>
              <a:rPr lang="ko-KR" altLang="en-US" dirty="0"/>
              <a:t>예약 구분 정보 확인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객실 유형 데이터 확인 </a:t>
            </a:r>
            <a:r>
              <a:rPr lang="en-US" altLang="ko-KR" dirty="0"/>
              <a:t>(</a:t>
            </a:r>
            <a:r>
              <a:rPr lang="ko-KR" altLang="en-US" dirty="0"/>
              <a:t>우선</a:t>
            </a:r>
            <a:r>
              <a:rPr lang="en-US" altLang="ko-KR" dirty="0"/>
              <a:t>/</a:t>
            </a:r>
            <a:r>
              <a:rPr lang="ko-KR" altLang="en-US" dirty="0"/>
              <a:t>단체 데이터 확인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예약 시 </a:t>
            </a:r>
            <a:r>
              <a:rPr lang="en-US" altLang="ko-KR" dirty="0"/>
              <a:t>4</a:t>
            </a:r>
            <a:r>
              <a:rPr lang="ko-KR" altLang="en-US" dirty="0"/>
              <a:t>인</a:t>
            </a:r>
            <a:r>
              <a:rPr lang="en-US" altLang="ko-KR" dirty="0"/>
              <a:t>/6</a:t>
            </a:r>
            <a:r>
              <a:rPr lang="ko-KR" altLang="en-US" dirty="0"/>
              <a:t>인 각 </a:t>
            </a:r>
            <a:r>
              <a:rPr lang="en-US" altLang="ko-KR" dirty="0"/>
              <a:t>1</a:t>
            </a:r>
            <a:r>
              <a:rPr lang="ko-KR" altLang="en-US" dirty="0"/>
              <a:t>개씩 선택함</a:t>
            </a:r>
            <a:r>
              <a:rPr lang="en-US" altLang="ko-KR" dirty="0"/>
              <a:t>)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7E49E32-78ED-85F5-1A47-30BA49ADEFEA}"/>
              </a:ext>
            </a:extLst>
          </p:cNvPr>
          <p:cNvCxnSpPr>
            <a:cxnSpLocks/>
          </p:cNvCxnSpPr>
          <p:nvPr/>
        </p:nvCxnSpPr>
        <p:spPr>
          <a:xfrm>
            <a:off x="5459346" y="678604"/>
            <a:ext cx="1934008" cy="415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D9FCB37-5CF5-5CB3-DC0A-F9534D285ADA}"/>
              </a:ext>
            </a:extLst>
          </p:cNvPr>
          <p:cNvCxnSpPr>
            <a:cxnSpLocks/>
          </p:cNvCxnSpPr>
          <p:nvPr/>
        </p:nvCxnSpPr>
        <p:spPr>
          <a:xfrm>
            <a:off x="5459346" y="737783"/>
            <a:ext cx="1976992" cy="1477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9ED07CC-D3B3-FB1A-C29C-1DFF611D5F51}"/>
              </a:ext>
            </a:extLst>
          </p:cNvPr>
          <p:cNvCxnSpPr>
            <a:cxnSpLocks/>
          </p:cNvCxnSpPr>
          <p:nvPr/>
        </p:nvCxnSpPr>
        <p:spPr>
          <a:xfrm>
            <a:off x="5389008" y="730532"/>
            <a:ext cx="2121577" cy="21181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E3F41E0-7590-9E98-F5BD-3B809EF32E7F}"/>
              </a:ext>
            </a:extLst>
          </p:cNvPr>
          <p:cNvCxnSpPr>
            <a:cxnSpLocks/>
          </p:cNvCxnSpPr>
          <p:nvPr/>
        </p:nvCxnSpPr>
        <p:spPr>
          <a:xfrm>
            <a:off x="2314104" y="1758255"/>
            <a:ext cx="5352788" cy="1152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3792FC47-9607-2FA5-43D3-BE5F2BC7A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399" y="4233475"/>
            <a:ext cx="4697046" cy="223251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5FC720C-C20A-8B81-6571-BA5577640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92" y="3566951"/>
            <a:ext cx="6693874" cy="554270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A7EC759-B46B-7CAD-77EC-3C300C705132}"/>
              </a:ext>
            </a:extLst>
          </p:cNvPr>
          <p:cNvCxnSpPr>
            <a:cxnSpLocks/>
          </p:cNvCxnSpPr>
          <p:nvPr/>
        </p:nvCxnSpPr>
        <p:spPr>
          <a:xfrm>
            <a:off x="3698629" y="4097064"/>
            <a:ext cx="2831125" cy="10102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3BAB22B-10B7-952F-DC6D-EB98C8109DCD}"/>
              </a:ext>
            </a:extLst>
          </p:cNvPr>
          <p:cNvCxnSpPr>
            <a:cxnSpLocks/>
          </p:cNvCxnSpPr>
          <p:nvPr/>
        </p:nvCxnSpPr>
        <p:spPr>
          <a:xfrm>
            <a:off x="4218352" y="5007557"/>
            <a:ext cx="2311402" cy="1256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53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0429B-A8EF-D015-0190-92B461F002EE}"/>
              </a:ext>
            </a:extLst>
          </p:cNvPr>
          <p:cNvSpPr txBox="1"/>
          <p:nvPr/>
        </p:nvSpPr>
        <p:spPr>
          <a:xfrm>
            <a:off x="491319" y="427630"/>
            <a:ext cx="536236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22. </a:t>
            </a:r>
            <a:r>
              <a:rPr lang="ko-KR" altLang="en-US" dirty="0"/>
              <a:t>마이페이지 </a:t>
            </a:r>
            <a:r>
              <a:rPr lang="en-US" altLang="ko-KR" dirty="0"/>
              <a:t>&gt; </a:t>
            </a:r>
            <a:r>
              <a:rPr lang="ko-KR" altLang="en-US" dirty="0"/>
              <a:t>수련원 예약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우선</a:t>
            </a:r>
            <a:r>
              <a:rPr lang="en-US" altLang="ko-KR" dirty="0"/>
              <a:t>/</a:t>
            </a:r>
            <a:r>
              <a:rPr lang="ko-KR" altLang="en-US" dirty="0"/>
              <a:t>단체 예약 구분 내용 확인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예약은 단체로 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23. </a:t>
            </a:r>
            <a:r>
              <a:rPr lang="ko-KR" altLang="en-US" dirty="0"/>
              <a:t>수련원 예약 </a:t>
            </a:r>
            <a:r>
              <a:rPr lang="en-US" altLang="ko-KR" dirty="0"/>
              <a:t>&gt; </a:t>
            </a:r>
            <a:r>
              <a:rPr lang="ko-KR" altLang="en-US" dirty="0"/>
              <a:t>우선 예약 </a:t>
            </a:r>
            <a:r>
              <a:rPr lang="en-US" altLang="ko-KR" dirty="0"/>
              <a:t>: </a:t>
            </a:r>
            <a:r>
              <a:rPr lang="ko-KR" altLang="en-US" dirty="0"/>
              <a:t>휴대전화 필드 확인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BBCA64-1DED-4473-88C0-0BF5F51E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705" y="42806"/>
            <a:ext cx="4298436" cy="24361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FAA45B-53F4-A5FC-1007-BFC9209F2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22308"/>
            <a:ext cx="4839022" cy="2754179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6F3A7B1-F847-BF17-3C58-26FE0AB6A6AE}"/>
              </a:ext>
            </a:extLst>
          </p:cNvPr>
          <p:cNvCxnSpPr/>
          <p:nvPr/>
        </p:nvCxnSpPr>
        <p:spPr>
          <a:xfrm>
            <a:off x="5738070" y="3703739"/>
            <a:ext cx="1359016" cy="8976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62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0429B-A8EF-D015-0190-92B461F002EE}"/>
              </a:ext>
            </a:extLst>
          </p:cNvPr>
          <p:cNvSpPr txBox="1"/>
          <p:nvPr/>
        </p:nvSpPr>
        <p:spPr>
          <a:xfrm>
            <a:off x="491319" y="427630"/>
            <a:ext cx="584807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24. </a:t>
            </a:r>
            <a:r>
              <a:rPr lang="ko-KR" altLang="en-US" dirty="0"/>
              <a:t>마이페이지 </a:t>
            </a:r>
            <a:r>
              <a:rPr lang="en-US" altLang="ko-KR" dirty="0"/>
              <a:t>&gt; </a:t>
            </a:r>
            <a:r>
              <a:rPr lang="ko-KR" altLang="en-US" dirty="0"/>
              <a:t>수련원 예약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우선 상세 화면 첨부파일 확인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날짜 표기 </a:t>
            </a:r>
            <a:r>
              <a:rPr lang="en-US" altLang="ko-KR" dirty="0"/>
              <a:t>– (</a:t>
            </a:r>
            <a:r>
              <a:rPr lang="ko-KR" altLang="en-US" dirty="0"/>
              <a:t>하이픈 처리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25. </a:t>
            </a:r>
            <a:r>
              <a:rPr lang="ko-KR" altLang="en-US" dirty="0"/>
              <a:t>마이페이지 </a:t>
            </a:r>
            <a:r>
              <a:rPr lang="en-US" altLang="ko-KR" dirty="0"/>
              <a:t>&gt; </a:t>
            </a:r>
            <a:r>
              <a:rPr lang="ko-KR" altLang="en-US" dirty="0"/>
              <a:t>수련원예약 </a:t>
            </a:r>
            <a:r>
              <a:rPr lang="en-US" altLang="ko-KR" dirty="0"/>
              <a:t>&gt; </a:t>
            </a:r>
            <a:r>
              <a:rPr lang="ko-KR" altLang="en-US" dirty="0"/>
              <a:t>변경 페이지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인원 변경 여부 체크</a:t>
            </a:r>
            <a:endParaRPr lang="en-US" altLang="ko-KR" dirty="0"/>
          </a:p>
          <a:p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우선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/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단체는 변경에서 인원 항목은</a:t>
            </a:r>
            <a:endParaRPr lang="en-US" altLang="ko-KR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보여주지 않도록 처리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26. </a:t>
            </a:r>
            <a:r>
              <a:rPr lang="ko-KR" altLang="en-US" dirty="0"/>
              <a:t>수련원예약 </a:t>
            </a:r>
            <a:r>
              <a:rPr lang="en-US" altLang="ko-KR" dirty="0"/>
              <a:t>&gt; </a:t>
            </a:r>
            <a:r>
              <a:rPr lang="ko-KR" altLang="en-US" dirty="0"/>
              <a:t>세미나실 신청 </a:t>
            </a:r>
            <a:r>
              <a:rPr lang="en-US" altLang="ko-KR" dirty="0"/>
              <a:t>: </a:t>
            </a:r>
            <a:r>
              <a:rPr lang="ko-KR" altLang="en-US" dirty="0"/>
              <a:t>특이사항은</a:t>
            </a:r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표 삭제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세미나실도 정기신청과 같이 배정방식인지 확인 필요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5DC628-850F-99CC-A34A-D23B9E76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806" y="131690"/>
            <a:ext cx="7624194" cy="17720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A4D39E7-6E74-B05F-8F85-ACBE4C491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699" y="1903708"/>
            <a:ext cx="6476301" cy="2219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CD6BF2-39DE-D94C-2B7C-6CF29B56B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262" y="4054436"/>
            <a:ext cx="4094805" cy="25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2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0429B-A8EF-D015-0190-92B461F002EE}"/>
              </a:ext>
            </a:extLst>
          </p:cNvPr>
          <p:cNvSpPr txBox="1"/>
          <p:nvPr/>
        </p:nvSpPr>
        <p:spPr>
          <a:xfrm>
            <a:off x="491319" y="427630"/>
            <a:ext cx="61815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27. </a:t>
            </a:r>
            <a:r>
              <a:rPr lang="ko-KR" altLang="en-US" dirty="0"/>
              <a:t>마이페이지 </a:t>
            </a:r>
            <a:r>
              <a:rPr lang="en-US" altLang="ko-KR" dirty="0"/>
              <a:t>&gt; </a:t>
            </a:r>
            <a:r>
              <a:rPr lang="ko-KR" altLang="en-US" dirty="0"/>
              <a:t>수련원 예약 </a:t>
            </a:r>
            <a:r>
              <a:rPr lang="en-US" altLang="ko-KR" dirty="0"/>
              <a:t>&gt; </a:t>
            </a:r>
            <a:r>
              <a:rPr lang="ko-KR" altLang="en-US" dirty="0"/>
              <a:t>세미나실 </a:t>
            </a:r>
            <a:r>
              <a:rPr lang="en-US" altLang="ko-KR" dirty="0"/>
              <a:t>&gt;</a:t>
            </a:r>
            <a:r>
              <a:rPr lang="ko-KR" altLang="en-US" dirty="0"/>
              <a:t>상세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세미나실 명칭 </a:t>
            </a:r>
            <a:r>
              <a:rPr lang="en-US" altLang="ko-KR" dirty="0"/>
              <a:t>/ </a:t>
            </a:r>
            <a:r>
              <a:rPr lang="ko-KR" altLang="en-US" dirty="0"/>
              <a:t>날짜</a:t>
            </a:r>
            <a:r>
              <a:rPr lang="en-US" altLang="ko-KR" dirty="0"/>
              <a:t>/ </a:t>
            </a:r>
            <a:r>
              <a:rPr lang="ko-KR" altLang="en-US" dirty="0"/>
              <a:t>시간 확인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세미나실 명칭 </a:t>
            </a:r>
            <a:r>
              <a:rPr lang="en-US" altLang="ko-KR" dirty="0"/>
              <a:t>/ </a:t>
            </a:r>
            <a:r>
              <a:rPr lang="ko-KR" altLang="en-US" dirty="0"/>
              <a:t>이용일 </a:t>
            </a:r>
            <a:r>
              <a:rPr lang="en-US" altLang="ko-KR" dirty="0"/>
              <a:t>/ </a:t>
            </a:r>
            <a:r>
              <a:rPr lang="ko-KR" altLang="en-US" dirty="0"/>
              <a:t>이용시간 형태로 표현 되어야 함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6A9DA8-D106-54DF-D647-46749E48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819" y="57466"/>
            <a:ext cx="5405857" cy="2673559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4D7B96D-B713-4FE1-E1A9-2FC2C18E2C11}"/>
              </a:ext>
            </a:extLst>
          </p:cNvPr>
          <p:cNvCxnSpPr>
            <a:cxnSpLocks/>
          </p:cNvCxnSpPr>
          <p:nvPr/>
        </p:nvCxnSpPr>
        <p:spPr>
          <a:xfrm>
            <a:off x="5029200" y="937846"/>
            <a:ext cx="5748215" cy="5119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146129D-EC46-515D-7639-C43199FE2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407955"/>
              </p:ext>
            </p:extLst>
          </p:nvPr>
        </p:nvGraphicFramePr>
        <p:xfrm>
          <a:off x="491319" y="2965496"/>
          <a:ext cx="8532948" cy="3323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33237">
                  <a:extLst>
                    <a:ext uri="{9D8B030D-6E8A-4147-A177-3AD203B41FA5}">
                      <a16:colId xmlns:a16="http://schemas.microsoft.com/office/drawing/2014/main" val="4107836079"/>
                    </a:ext>
                  </a:extLst>
                </a:gridCol>
                <a:gridCol w="2133237">
                  <a:extLst>
                    <a:ext uri="{9D8B030D-6E8A-4147-A177-3AD203B41FA5}">
                      <a16:colId xmlns:a16="http://schemas.microsoft.com/office/drawing/2014/main" val="3516956309"/>
                    </a:ext>
                  </a:extLst>
                </a:gridCol>
                <a:gridCol w="2133237">
                  <a:extLst>
                    <a:ext uri="{9D8B030D-6E8A-4147-A177-3AD203B41FA5}">
                      <a16:colId xmlns:a16="http://schemas.microsoft.com/office/drawing/2014/main" val="3129496992"/>
                    </a:ext>
                  </a:extLst>
                </a:gridCol>
                <a:gridCol w="2133237">
                  <a:extLst>
                    <a:ext uri="{9D8B030D-6E8A-4147-A177-3AD203B41FA5}">
                      <a16:colId xmlns:a16="http://schemas.microsoft.com/office/drawing/2014/main" val="1635399190"/>
                    </a:ext>
                  </a:extLst>
                </a:gridCol>
              </a:tblGrid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이용인원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이용일자</a:t>
                      </a:r>
                      <a:endParaRPr kumimoji="0" lang="en-US" altLang="ko-KR" sz="900" b="1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 ~ 12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641064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14782E5-C32E-FA02-0123-64EC70501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216511"/>
              </p:ext>
            </p:extLst>
          </p:nvPr>
        </p:nvGraphicFramePr>
        <p:xfrm>
          <a:off x="491319" y="3382536"/>
          <a:ext cx="8532948" cy="253649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844316">
                  <a:extLst>
                    <a:ext uri="{9D8B030D-6E8A-4147-A177-3AD203B41FA5}">
                      <a16:colId xmlns:a16="http://schemas.microsoft.com/office/drawing/2014/main" val="4107836079"/>
                    </a:ext>
                  </a:extLst>
                </a:gridCol>
                <a:gridCol w="2844316">
                  <a:extLst>
                    <a:ext uri="{9D8B030D-6E8A-4147-A177-3AD203B41FA5}">
                      <a16:colId xmlns:a16="http://schemas.microsoft.com/office/drawing/2014/main" val="3516956309"/>
                    </a:ext>
                  </a:extLst>
                </a:gridCol>
                <a:gridCol w="2844316">
                  <a:extLst>
                    <a:ext uri="{9D8B030D-6E8A-4147-A177-3AD203B41FA5}">
                      <a16:colId xmlns:a16="http://schemas.microsoft.com/office/drawing/2014/main" val="3129496992"/>
                    </a:ext>
                  </a:extLst>
                </a:gridCol>
              </a:tblGrid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이용일자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세미나실</a:t>
                      </a:r>
                      <a:endParaRPr kumimoji="0" lang="en-US" altLang="ko-KR" sz="900" b="1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이용시간</a:t>
                      </a:r>
                      <a:endParaRPr kumimoji="0" lang="en-US" altLang="ko-KR" sz="900" b="1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641064"/>
                  </a:ext>
                </a:extLst>
              </a:tr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세미나실</a:t>
                      </a: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2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175174"/>
                  </a:ext>
                </a:extLst>
              </a:tr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세미나살</a:t>
                      </a: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14571"/>
                  </a:ext>
                </a:extLst>
              </a:tr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709109"/>
                  </a:ext>
                </a:extLst>
              </a:tr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세미나실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403226"/>
                  </a:ext>
                </a:extLst>
              </a:tr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14691"/>
                  </a:ext>
                </a:extLst>
              </a:tr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955824"/>
                  </a:ext>
                </a:extLst>
              </a:tr>
              <a:tr h="293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9" marR="72009" marT="89951" marB="8995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864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987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548</Words>
  <Application>Microsoft Office PowerPoint</Application>
  <PresentationFormat>와이드스크린</PresentationFormat>
  <Paragraphs>117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JONGKYU KIM</dc:creator>
  <cp:lastModifiedBy>JONGKYU KIM</cp:lastModifiedBy>
  <cp:revision>5</cp:revision>
  <dcterms:created xsi:type="dcterms:W3CDTF">2024-01-13T01:10:37Z</dcterms:created>
  <dcterms:modified xsi:type="dcterms:W3CDTF">2024-01-13T06:45:45Z</dcterms:modified>
</cp:coreProperties>
</file>