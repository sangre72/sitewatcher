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62" r:id="rId2"/>
    <p:sldId id="287" r:id="rId3"/>
    <p:sldId id="256" r:id="rId4"/>
    <p:sldId id="257" r:id="rId5"/>
    <p:sldId id="258" r:id="rId6"/>
    <p:sldId id="259" r:id="rId7"/>
    <p:sldId id="260" r:id="rId8"/>
    <p:sldId id="261" r:id="rId9"/>
    <p:sldId id="265" r:id="rId10"/>
    <p:sldId id="282" r:id="rId11"/>
    <p:sldId id="266" r:id="rId12"/>
    <p:sldId id="267" r:id="rId13"/>
    <p:sldId id="27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9" r:id="rId24"/>
    <p:sldId id="280" r:id="rId25"/>
    <p:sldId id="264" r:id="rId26"/>
    <p:sldId id="281" r:id="rId27"/>
    <p:sldId id="263" r:id="rId28"/>
    <p:sldId id="278" r:id="rId29"/>
    <p:sldId id="283" r:id="rId30"/>
    <p:sldId id="284" r:id="rId31"/>
    <p:sldId id="285" r:id="rId32"/>
    <p:sldId id="286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818"/>
  </p:normalViewPr>
  <p:slideViewPr>
    <p:cSldViewPr snapToGrid="0">
      <p:cViewPr varScale="1">
        <p:scale>
          <a:sx n="175" d="100"/>
          <a:sy n="175" d="100"/>
        </p:scale>
        <p:origin x="1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1BDAED-7345-B44C-B296-2A4941D6406E}" type="datetimeFigureOut">
              <a:rPr kumimoji="1" lang="ko-KR" altLang="en-US" smtClean="0"/>
              <a:t>2024. 5. 14.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AA5C1E-3A87-DC4A-90FE-3C17E25CEF7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47848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A5C1E-3A87-DC4A-90FE-3C17E25CEF7C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88983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A5C1E-3A87-DC4A-90FE-3C17E25CEF7C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35013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E4104C-6283-EB36-5586-DD57FF13CD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69A5E03-13D7-9EDC-158F-8AB4BB5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EC63A6-B29D-9975-D88E-FAF8CB964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25A3B-E377-8C48-AE86-CC08BFA33B66}" type="datetimeFigureOut">
              <a:rPr kumimoji="1" lang="ko-KR" altLang="en-US" smtClean="0"/>
              <a:t>2024. 5. 14.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7746C4-BD6E-F1A3-87BE-B5A6B5682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4C1409-00DB-B56A-4684-46A1A6567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C7AC6-8F07-854A-BD42-74E15C387E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3447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09A454-E5C7-6B48-02F9-E147A755A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A20F83-B39A-A1E0-67DB-06B94C9BA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EED40A-4413-2C17-10CF-1E146377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25A3B-E377-8C48-AE86-CC08BFA33B66}" type="datetimeFigureOut">
              <a:rPr kumimoji="1" lang="ko-KR" altLang="en-US" smtClean="0"/>
              <a:t>2024. 5. 14.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37CB01-7109-89D1-5027-F1C9BC4ED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9208A0-D84C-9BA9-1DF1-3350F6EF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C7AC6-8F07-854A-BD42-74E15C387E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04583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2183F3-B3EB-FDDF-1E43-56EA17D3F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3EA2D6-D0A2-FE3F-4DA9-2BC5356C2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CAC473-0ED3-318F-5018-41E4C48F2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25A3B-E377-8C48-AE86-CC08BFA33B66}" type="datetimeFigureOut">
              <a:rPr kumimoji="1" lang="ko-KR" altLang="en-US" smtClean="0"/>
              <a:t>2024. 5. 14.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0D9BE1-A0A5-ED8D-CA9B-CF153B430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FCD293-1E17-1C54-E56A-5BB13E5F9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C7AC6-8F07-854A-BD42-74E15C387E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39225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76D623-59F0-7E6F-F21B-B48D4DC95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D78827-BD76-9552-8A97-704191D85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CCC9D5-B837-D1F4-46A6-824C4BA94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72C591-71A0-785B-75FE-11CA11942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25A3B-E377-8C48-AE86-CC08BFA33B66}" type="datetimeFigureOut">
              <a:rPr kumimoji="1" lang="ko-KR" altLang="en-US" smtClean="0"/>
              <a:t>2024. 5. 14.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83C1DD-ACC2-B6BA-FAF4-17F87B4BD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EBC7BE-F30A-57EB-137E-DDFF6E682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C7AC6-8F07-854A-BD42-74E15C387E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00809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99C85-1D2C-612F-2EB6-1477530CD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F8F25D-A807-C839-7DDB-2AFADA3CD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1138E4-1B14-6843-55F1-A50E41C56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17A6EF6-83C7-ECAA-2490-5E7ADD26EB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F5665EC-0B00-259E-FA9E-D73BBC24B5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24F1C6-DA9C-FCEF-03AA-9FCFFDC02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25A3B-E377-8C48-AE86-CC08BFA33B66}" type="datetimeFigureOut">
              <a:rPr kumimoji="1" lang="ko-KR" altLang="en-US" smtClean="0"/>
              <a:t>2024. 5. 14.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D4EFEE9-5FB2-4C49-142B-C84B1206A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C578291-ECD6-EDF5-752E-A6DC53A5C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C7AC6-8F07-854A-BD42-74E15C387E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46659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A06704-0306-999A-353C-35F74803A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A91127A-F1F0-D014-B07F-D15D0272F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25A3B-E377-8C48-AE86-CC08BFA33B66}" type="datetimeFigureOut">
              <a:rPr kumimoji="1" lang="ko-KR" altLang="en-US" smtClean="0"/>
              <a:t>2024. 5. 14.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891912-CE87-D8D8-8A7E-81154C4EB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A72721-4ACB-56A3-4D7B-3927411D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C7AC6-8F07-854A-BD42-74E15C387E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19662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A8F544B-32AA-E2F2-A481-2AD4D73D4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25A3B-E377-8C48-AE86-CC08BFA33B66}" type="datetimeFigureOut">
              <a:rPr kumimoji="1" lang="ko-KR" altLang="en-US" smtClean="0"/>
              <a:t>2024. 5. 14.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36EC913-272E-8011-3D93-A2FC827A0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78841B-1B7F-49D7-9583-F4DF825FA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C7AC6-8F07-854A-BD42-74E15C387E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87044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AC9156-A111-E1F6-C439-7A1C728F0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B5BC37-242B-BA2E-15E7-AD02CB923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C6BA32-BA3F-4836-9E5B-1550B6AB1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8E3130-2665-1C48-2802-C982AF352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25A3B-E377-8C48-AE86-CC08BFA33B66}" type="datetimeFigureOut">
              <a:rPr kumimoji="1" lang="ko-KR" altLang="en-US" smtClean="0"/>
              <a:t>2024. 5. 14.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A88E30-8640-7B7D-1270-532FC0D98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B06D0A-4053-3055-A91D-71D07D8B4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C7AC6-8F07-854A-BD42-74E15C387E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23840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562E2F-BB53-9EF2-F20E-9640092DD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165C364-B3E4-2A6E-A538-4D4C41BA21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C6021F-559D-303A-C1B7-D6D55680B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1EE72F-1D51-5121-F0D5-AA37C3A84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25A3B-E377-8C48-AE86-CC08BFA33B66}" type="datetimeFigureOut">
              <a:rPr kumimoji="1" lang="ko-KR" altLang="en-US" smtClean="0"/>
              <a:t>2024. 5. 14.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36D79E-F91A-75A6-8569-B0253CF3B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61B4E5-B9C8-C3CF-727E-6BFD22027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C7AC6-8F07-854A-BD42-74E15C387E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4494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8CEBEB-11D1-881B-3702-94C8FCE45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301B562-198B-BEC2-E552-F48E7EAC4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826B47-8EDA-5333-6DFE-0AA3FF7CC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25A3B-E377-8C48-AE86-CC08BFA33B66}" type="datetimeFigureOut">
              <a:rPr kumimoji="1" lang="ko-KR" altLang="en-US" smtClean="0"/>
              <a:t>2024. 5. 14.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BE75F1-6A49-228C-AF57-9B2333945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BF77E2-0C33-0177-6F51-DBACC2BA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C7AC6-8F07-854A-BD42-74E15C387E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28712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C1924BD-7300-8E1B-D784-E4A825ED59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5A1206-1602-ECE7-9BF1-63DD45FFC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1D2FD7-1348-BFED-9610-78D047F9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25A3B-E377-8C48-AE86-CC08BFA33B66}" type="datetimeFigureOut">
              <a:rPr kumimoji="1" lang="ko-KR" altLang="en-US" smtClean="0"/>
              <a:t>2024. 5. 14.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0C6258-4AAF-EC3E-C38E-DFC02A327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E125D7-214D-2BFC-0DC0-D13EB10E5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C7AC6-8F07-854A-BD42-74E15C387E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53559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1316AC9-2261-63F9-0E99-B6D6D7A43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74DC28-96EF-5068-F390-B5BA72DDD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4EF21B-1B27-456F-6D5E-849A881B07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A25A3B-E377-8C48-AE86-CC08BFA33B66}" type="datetimeFigureOut">
              <a:rPr kumimoji="1" lang="ko-KR" altLang="en-US" smtClean="0"/>
              <a:t>2024. 5. 14.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16DE9C-C4DF-D6E7-D416-691DBF087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4F02F6-79D4-7AAA-121F-7B35ED6E6B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3C7AC6-8F07-854A-BD42-74E15C387E1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34992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omoEfficio/dev-tips/blob/master/Spring%EC%97%90%EC%84%9C%20JSON%EC%97%90%20XSS%20%EB%B0%A9%EC%A7%80%20%EC%B2%98%EB%A6%AC%20%ED%95%98%EA%B8%B0.md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adoptium.net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search.org/downloads.html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search.org/downloads.ht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en/download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rtifacts.opensearch.org/publickeys/opensearch.pgp" TargetMode="External"/><Relationship Id="rId2" Type="http://schemas.openxmlformats.org/officeDocument/2006/relationships/hyperlink" Target="https://opensearch.org/download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ocalhost:5601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rtifacts.opensearch.org/publickeys/opensearch.pgp" TargetMode="External"/><Relationship Id="rId2" Type="http://schemas.openxmlformats.org/officeDocument/2006/relationships/hyperlink" Target="https://opensearch.org/download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ocalhost:5601/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python.langchain.com/v0.1/docs/expression_language/interface/#input-schema" TargetMode="External"/><Relationship Id="rId3" Type="http://schemas.openxmlformats.org/officeDocument/2006/relationships/hyperlink" Target="https://python.langchain.com/v0.1/docs/expression_language/interface/" TargetMode="External"/><Relationship Id="rId7" Type="http://schemas.openxmlformats.org/officeDocument/2006/relationships/hyperlink" Target="https://python.langchain.com/v0.1/docs/expression_language/interface/#async-stream-events-beta" TargetMode="External"/><Relationship Id="rId2" Type="http://schemas.openxmlformats.org/officeDocument/2006/relationships/hyperlink" Target="https://python.langchain.com/v0.1/docs/expression_language/streamin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ython.langchain.com/v0.1/docs/guides/productionization/fallbacks/" TargetMode="External"/><Relationship Id="rId5" Type="http://schemas.openxmlformats.org/officeDocument/2006/relationships/hyperlink" Target="https://python.langchain.com/v0.1/docs/expression_language/primitives/parallel/" TargetMode="External"/><Relationship Id="rId4" Type="http://schemas.openxmlformats.org/officeDocument/2006/relationships/hyperlink" Target="https://python.langchain.com/v0.1/docs/langserve/" TargetMode="External"/><Relationship Id="rId9" Type="http://schemas.openxmlformats.org/officeDocument/2006/relationships/hyperlink" Target="https://python.langchain.com/v0.1/docs/langsmith/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090A7B-F33A-F788-512C-4E969BB1F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7711"/>
          </a:xfrm>
        </p:spPr>
        <p:txBody>
          <a:bodyPr>
            <a:normAutofit/>
          </a:bodyPr>
          <a:lstStyle/>
          <a:p>
            <a:r>
              <a:rPr kumimoji="1" lang="ko-KR" altLang="en-US" sz="2400" dirty="0"/>
              <a:t>진행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C1E1A4-44B1-63CB-1281-79F04A87E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6163" y="1025236"/>
            <a:ext cx="52578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1050" dirty="0"/>
              <a:t>Node.js </a:t>
            </a:r>
            <a:r>
              <a:rPr lang="ko-KR" altLang="en-US" sz="1050" dirty="0"/>
              <a:t>서버 </a:t>
            </a:r>
            <a:endParaRPr lang="en-US" altLang="ko-KR" sz="1050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050" dirty="0" err="1"/>
              <a:t>리액트에서</a:t>
            </a:r>
            <a:r>
              <a:rPr lang="ko-KR" altLang="en-US" sz="1050" dirty="0"/>
              <a:t> 필요로 하는 </a:t>
            </a:r>
            <a:r>
              <a:rPr lang="en-US" altLang="ko-KR" sz="1050" dirty="0"/>
              <a:t>response </a:t>
            </a:r>
            <a:r>
              <a:rPr lang="ko-KR" altLang="en-US" sz="1050" dirty="0"/>
              <a:t>생성</a:t>
            </a:r>
            <a:endParaRPr lang="en-US" altLang="ko-KR" sz="105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105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050" dirty="0"/>
              <a:t>CMS </a:t>
            </a:r>
            <a:r>
              <a:rPr lang="ko-KR" altLang="en-US" sz="1050" dirty="0" err="1"/>
              <a:t>전자정부프레임웍</a:t>
            </a:r>
            <a:r>
              <a:rPr lang="ko-KR" altLang="en-US" sz="1050" dirty="0"/>
              <a:t> 코어 설정</a:t>
            </a:r>
            <a:endParaRPr lang="en-US" altLang="ko-KR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050" dirty="0"/>
              <a:t>API doc </a:t>
            </a:r>
            <a:r>
              <a:rPr lang="ko-KR" altLang="en-US" sz="1050" dirty="0"/>
              <a:t>자동 생성 있으면 </a:t>
            </a:r>
            <a:r>
              <a:rPr lang="ko-KR" altLang="en-US" sz="1050" dirty="0" err="1"/>
              <a:t>좋을듯</a:t>
            </a:r>
            <a:endParaRPr lang="en-US" altLang="ko-KR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" altLang="ko-KR" sz="1050" dirty="0" err="1"/>
              <a:t>Atomikos</a:t>
            </a:r>
            <a:r>
              <a:rPr lang="ko-KR" altLang="en-US" sz="1050" dirty="0"/>
              <a:t> </a:t>
            </a:r>
            <a:r>
              <a:rPr lang="ko-KR" altLang="en-US" sz="1050" dirty="0" err="1"/>
              <a:t>분산트랜젝션</a:t>
            </a:r>
            <a:r>
              <a:rPr lang="ko-KR" altLang="en-US" sz="1050" dirty="0"/>
              <a:t> </a:t>
            </a:r>
            <a:r>
              <a:rPr lang="en-US" altLang="ko-KR" sz="1050" dirty="0"/>
              <a:t>,</a:t>
            </a:r>
            <a:r>
              <a:rPr lang="ko-KR" altLang="en-US" sz="1050" dirty="0"/>
              <a:t> 데이터베이스 연결 </a:t>
            </a:r>
            <a:r>
              <a:rPr lang="ko-KR" altLang="en-US" sz="1050" dirty="0" err="1"/>
              <a:t>풀링</a:t>
            </a:r>
            <a:r>
              <a:rPr lang="en-US" altLang="ko-KR" sz="1050" dirty="0"/>
              <a:t>,</a:t>
            </a:r>
            <a:r>
              <a:rPr lang="ko-KR" altLang="en-US" sz="1050" dirty="0"/>
              <a:t> 고가용성 및 성능</a:t>
            </a:r>
            <a:r>
              <a:rPr lang="en-US" altLang="ko-KR" sz="1050" dirty="0"/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" altLang="ko-KR" sz="1050" dirty="0" err="1"/>
              <a:t>Atomikos</a:t>
            </a:r>
            <a:r>
              <a:rPr lang="en" altLang="ko-KR" sz="1050" dirty="0"/>
              <a:t>: </a:t>
            </a:r>
            <a:r>
              <a:rPr lang="ko-KR" altLang="en-US" sz="1050" dirty="0"/>
              <a:t>분산 트랜잭션이 필요한 복잡한 애플리케이션에 적합합니다</a:t>
            </a:r>
            <a:r>
              <a:rPr lang="en-US" altLang="ko-KR" sz="1050" dirty="0"/>
              <a:t>. </a:t>
            </a:r>
            <a:r>
              <a:rPr lang="ko-KR" altLang="en-US" sz="1050" dirty="0"/>
              <a:t>예를 들어</a:t>
            </a:r>
            <a:r>
              <a:rPr lang="en-US" altLang="ko-KR" sz="1050" dirty="0"/>
              <a:t>, </a:t>
            </a:r>
            <a:r>
              <a:rPr lang="ko-KR" altLang="en-US" sz="1050" dirty="0"/>
              <a:t>여러 데이터베이스와의 트랜잭션을 하나의 트랜잭션으로 관리해야 하는 경우 유용합니다</a:t>
            </a:r>
            <a:r>
              <a:rPr lang="en-US" altLang="ko-KR" sz="105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" altLang="ko-KR" sz="1050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94B8CE8-1D89-D180-0843-B6297D197BBF}"/>
              </a:ext>
            </a:extLst>
          </p:cNvPr>
          <p:cNvSpPr txBox="1">
            <a:spLocks/>
          </p:cNvSpPr>
          <p:nvPr/>
        </p:nvSpPr>
        <p:spPr>
          <a:xfrm>
            <a:off x="990600" y="1025236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ko-KR" altLang="en-US" sz="1400" dirty="0" err="1"/>
              <a:t>리액트</a:t>
            </a:r>
            <a:r>
              <a:rPr kumimoji="1" lang="ko-KR" altLang="en-US" sz="1400" dirty="0"/>
              <a:t> 기본 메뉴 설정</a:t>
            </a:r>
            <a:endParaRPr kumimoji="1" lang="en-US" altLang="ko-KR" sz="1400" dirty="0"/>
          </a:p>
          <a:p>
            <a:pPr>
              <a:lnSpc>
                <a:spcPct val="100000"/>
              </a:lnSpc>
            </a:pPr>
            <a:r>
              <a:rPr kumimoji="1" lang="ko-KR" altLang="en-US" sz="1400" dirty="0" err="1"/>
              <a:t>트리뷰</a:t>
            </a:r>
            <a:endParaRPr kumimoji="1" lang="en-US" altLang="ko-KR" sz="1400" dirty="0"/>
          </a:p>
          <a:p>
            <a:pPr>
              <a:lnSpc>
                <a:spcPct val="100000"/>
              </a:lnSpc>
            </a:pPr>
            <a:r>
              <a:rPr kumimoji="1" lang="ko-KR" altLang="en-US" sz="1400" dirty="0"/>
              <a:t>데이터베이스 연결 </a:t>
            </a:r>
            <a:r>
              <a:rPr kumimoji="1" lang="en-US" altLang="ko-KR" sz="1400" dirty="0"/>
              <a:t>/</a:t>
            </a:r>
            <a:r>
              <a:rPr kumimoji="1" lang="ko-KR" altLang="en-US" sz="1400" dirty="0"/>
              <a:t> 샘플 쿼리 </a:t>
            </a:r>
            <a:r>
              <a:rPr kumimoji="1" lang="ko-KR" altLang="en-US" sz="1400" dirty="0" err="1"/>
              <a:t>트리뷰연결</a:t>
            </a:r>
            <a:endParaRPr kumimoji="1" lang="en-US" altLang="ko-KR" sz="1400" dirty="0"/>
          </a:p>
          <a:p>
            <a:pPr>
              <a:lnSpc>
                <a:spcPct val="100000"/>
              </a:lnSpc>
            </a:pPr>
            <a:r>
              <a:rPr kumimoji="1" lang="ko-KR" altLang="en-US" sz="1400" dirty="0"/>
              <a:t>파일 정보 읽기 및 </a:t>
            </a:r>
            <a:r>
              <a:rPr kumimoji="1" lang="ko-KR" altLang="en-US" sz="1400" dirty="0" err="1"/>
              <a:t>트리뷰</a:t>
            </a:r>
            <a:r>
              <a:rPr kumimoji="1" lang="ko-KR" altLang="en-US" sz="1400" dirty="0"/>
              <a:t> 연결</a:t>
            </a:r>
            <a:endParaRPr kumimoji="1" lang="en-US" altLang="ko-KR" sz="1400" dirty="0"/>
          </a:p>
          <a:p>
            <a:pPr>
              <a:lnSpc>
                <a:spcPct val="100000"/>
              </a:lnSpc>
            </a:pPr>
            <a:r>
              <a:rPr kumimoji="1" lang="ko-KR" altLang="en-US" sz="1400" dirty="0" err="1"/>
              <a:t>텝기능</a:t>
            </a:r>
            <a:r>
              <a:rPr kumimoji="1" lang="ko-KR" altLang="en-US" sz="1400" dirty="0"/>
              <a:t> 구현</a:t>
            </a:r>
            <a:endParaRPr kumimoji="1" lang="en-US" altLang="ko-KR" sz="1400" dirty="0"/>
          </a:p>
          <a:p>
            <a:pPr>
              <a:lnSpc>
                <a:spcPct val="100000"/>
              </a:lnSpc>
            </a:pPr>
            <a:r>
              <a:rPr kumimoji="1" lang="en-US" altLang="ko-KR" sz="1400" dirty="0" err="1"/>
              <a:t>chatAPI</a:t>
            </a:r>
            <a:r>
              <a:rPr kumimoji="1" lang="en-US" altLang="ko-KR" sz="1400" dirty="0"/>
              <a:t> / Bard </a:t>
            </a:r>
            <a:r>
              <a:rPr kumimoji="1" lang="ko-KR" altLang="en-US" sz="1400" dirty="0"/>
              <a:t>연동</a:t>
            </a:r>
            <a:endParaRPr kumimoji="1" lang="en-US" altLang="ko-KR" sz="1400" dirty="0"/>
          </a:p>
          <a:p>
            <a:pPr>
              <a:lnSpc>
                <a:spcPct val="100000"/>
              </a:lnSpc>
            </a:pPr>
            <a:r>
              <a:rPr kumimoji="1" lang="ko-KR" altLang="en-US" sz="1400" dirty="0"/>
              <a:t>우측 작업 창 </a:t>
            </a:r>
            <a:r>
              <a:rPr kumimoji="1" lang="ko-KR" altLang="en-US" sz="1400" dirty="0" err="1"/>
              <a:t>생성및</a:t>
            </a:r>
            <a:r>
              <a:rPr kumimoji="1" lang="ko-KR" altLang="en-US" sz="1400" dirty="0"/>
              <a:t> 메시지연동</a:t>
            </a:r>
            <a:endParaRPr kumimoji="1" lang="en-US" altLang="ko-KR" sz="1400" dirty="0"/>
          </a:p>
          <a:p>
            <a:pPr>
              <a:lnSpc>
                <a:spcPct val="100000"/>
              </a:lnSpc>
            </a:pPr>
            <a:r>
              <a:rPr kumimoji="1" lang="en-US" altLang="ko-KR" sz="1400" dirty="0" err="1"/>
              <a:t>Apexchart</a:t>
            </a:r>
            <a:r>
              <a:rPr kumimoji="1" lang="en-US" altLang="ko-KR" sz="1400" dirty="0"/>
              <a:t> </a:t>
            </a:r>
            <a:r>
              <a:rPr kumimoji="1" lang="ko-KR" altLang="en-US" sz="1400" dirty="0"/>
              <a:t>연동 </a:t>
            </a:r>
            <a:r>
              <a:rPr kumimoji="1" lang="en-US" altLang="ko-KR" sz="1400" dirty="0"/>
              <a:t>/</a:t>
            </a:r>
            <a:r>
              <a:rPr kumimoji="1" lang="ko-KR" altLang="en-US" sz="1400" dirty="0"/>
              <a:t> 실시간 데이터 표현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5767EC-0BB6-B023-2BBC-BCBFCF29FE28}"/>
              </a:ext>
            </a:extLst>
          </p:cNvPr>
          <p:cNvSpPr txBox="1"/>
          <p:nvPr/>
        </p:nvSpPr>
        <p:spPr>
          <a:xfrm>
            <a:off x="3048000" y="4822576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dirty="0">
                <a:effectLst/>
                <a:latin typeface="Helvetica Neue" panose="02000503000000020004" pitchFamily="2" charset="0"/>
              </a:rPr>
              <a:t>아이디어</a:t>
            </a:r>
            <a:endParaRPr lang="ko-KR" altLang="en-US" sz="1100" dirty="0">
              <a:effectLst/>
              <a:latin typeface="Helvetica Neue" panose="02000503000000020004" pitchFamily="2" charset="0"/>
            </a:endParaRPr>
          </a:p>
          <a:p>
            <a:r>
              <a:rPr lang="ko-KR" altLang="en-US" sz="1100" b="1" dirty="0">
                <a:effectLst/>
                <a:latin typeface="Helvetica Neue" panose="02000503000000020004" pitchFamily="2" charset="0"/>
              </a:rPr>
              <a:t>쿼리 목록이 위나 아래로 </a:t>
            </a:r>
            <a:r>
              <a:rPr lang="ko-KR" altLang="en-US" sz="1100" b="1" dirty="0" err="1">
                <a:effectLst/>
                <a:latin typeface="Helvetica Neue" panose="02000503000000020004" pitchFamily="2" charset="0"/>
              </a:rPr>
              <a:t>내려감</a:t>
            </a:r>
            <a:r>
              <a:rPr lang="en-US" altLang="ko-KR" sz="1100" b="1" dirty="0">
                <a:effectLst/>
                <a:latin typeface="Helvetica Neue" panose="02000503000000020004" pitchFamily="2" charset="0"/>
              </a:rPr>
              <a:t>. -&gt; </a:t>
            </a:r>
            <a:r>
              <a:rPr lang="ko-KR" altLang="en-US" sz="1100" b="1" dirty="0">
                <a:effectLst/>
                <a:latin typeface="Helvetica Neue" panose="02000503000000020004" pitchFamily="2" charset="0"/>
              </a:rPr>
              <a:t>실행 </a:t>
            </a:r>
            <a:r>
              <a:rPr lang="ko-KR" altLang="en-US" sz="1100" b="1" dirty="0" err="1">
                <a:effectLst/>
                <a:latin typeface="Helvetica Neue" panose="02000503000000020004" pitchFamily="2" charset="0"/>
              </a:rPr>
              <a:t>핸들러</a:t>
            </a:r>
            <a:r>
              <a:rPr lang="ko-KR" altLang="en-US" sz="1100" b="1" dirty="0">
                <a:effectLst/>
                <a:latin typeface="Helvetica Neue" panose="02000503000000020004" pitchFamily="2" charset="0"/>
              </a:rPr>
              <a:t> 명칭 </a:t>
            </a:r>
            <a:r>
              <a:rPr lang="en-US" altLang="ko-KR" sz="1100" b="1" dirty="0">
                <a:effectLst/>
                <a:latin typeface="Helvetica Neue" panose="02000503000000020004" pitchFamily="2" charset="0"/>
              </a:rPr>
              <a:t>&gt; </a:t>
            </a:r>
            <a:r>
              <a:rPr lang="ko-KR" altLang="en-US" sz="1100" b="1" dirty="0">
                <a:effectLst/>
                <a:latin typeface="Helvetica Neue" panose="02000503000000020004" pitchFamily="2" charset="0"/>
              </a:rPr>
              <a:t>조회 파라메터 </a:t>
            </a:r>
            <a:r>
              <a:rPr lang="en-US" altLang="ko-KR" sz="1100" b="1" dirty="0">
                <a:effectLst/>
                <a:latin typeface="Helvetica Neue" panose="02000503000000020004" pitchFamily="2" charset="0"/>
              </a:rPr>
              <a:t>&gt; </a:t>
            </a:r>
            <a:r>
              <a:rPr lang="ko-KR" altLang="en-US" sz="1100" b="1" dirty="0">
                <a:effectLst/>
                <a:latin typeface="Helvetica Neue" panose="02000503000000020004" pitchFamily="2" charset="0"/>
              </a:rPr>
              <a:t>쿼리 </a:t>
            </a:r>
            <a:r>
              <a:rPr lang="ko-KR" altLang="en-US" sz="1100" b="1" dirty="0" err="1">
                <a:effectLst/>
                <a:latin typeface="Helvetica Neue" panose="02000503000000020004" pitchFamily="2" charset="0"/>
              </a:rPr>
              <a:t>첫줄</a:t>
            </a:r>
            <a:r>
              <a:rPr lang="ko-KR" altLang="en-US" sz="1100" b="1" dirty="0">
                <a:effectLst/>
                <a:latin typeface="Helvetica Neue" panose="02000503000000020004" pitchFamily="2" charset="0"/>
              </a:rPr>
              <a:t> 나오면 </a:t>
            </a:r>
            <a:r>
              <a:rPr lang="ko-KR" altLang="en-US" sz="1100" b="1" dirty="0" err="1">
                <a:effectLst/>
                <a:latin typeface="Helvetica Neue" panose="02000503000000020004" pitchFamily="2" charset="0"/>
              </a:rPr>
              <a:t>좋을듯</a:t>
            </a:r>
            <a:r>
              <a:rPr lang="ko-KR" altLang="en-US" sz="1100" b="1" dirty="0">
                <a:effectLst/>
                <a:latin typeface="Helvetica Neue" panose="02000503000000020004" pitchFamily="2" charset="0"/>
              </a:rPr>
              <a:t> </a:t>
            </a:r>
            <a:r>
              <a:rPr lang="en-US" altLang="ko-KR" sz="1100" b="1" dirty="0">
                <a:effectLst/>
                <a:latin typeface="Helvetica Neue" panose="02000503000000020004" pitchFamily="2" charset="0"/>
              </a:rPr>
              <a:t>&gt; </a:t>
            </a:r>
            <a:endParaRPr lang="ko-KR" altLang="en-US" sz="1100" dirty="0">
              <a:effectLst/>
              <a:latin typeface="Helvetica Neue" panose="02000503000000020004" pitchFamily="2" charset="0"/>
            </a:endParaRPr>
          </a:p>
          <a:p>
            <a:r>
              <a:rPr lang="ko-KR" altLang="en-US" sz="1100" b="1" dirty="0">
                <a:effectLst/>
                <a:latin typeface="Helvetica Neue" panose="02000503000000020004" pitchFamily="2" charset="0"/>
              </a:rPr>
              <a:t>종료되면 사라짐</a:t>
            </a:r>
            <a:r>
              <a:rPr lang="en-US" altLang="ko-KR" sz="1100" b="1" dirty="0">
                <a:effectLst/>
                <a:latin typeface="Helvetica Neue" panose="02000503000000020004" pitchFamily="2" charset="0"/>
              </a:rPr>
              <a:t>. </a:t>
            </a:r>
            <a:endParaRPr lang="ko-KR" altLang="en-US" sz="1100" dirty="0">
              <a:effectLst/>
              <a:latin typeface="Helvetica Neue" panose="02000503000000020004" pitchFamily="2" charset="0"/>
            </a:endParaRPr>
          </a:p>
          <a:p>
            <a:r>
              <a:rPr lang="ko-KR" altLang="en-US" sz="1100" b="1" dirty="0">
                <a:effectLst/>
                <a:latin typeface="Helvetica Neue" panose="02000503000000020004" pitchFamily="2" charset="0"/>
              </a:rPr>
              <a:t>쿼리 실행이 길어지면 초록 </a:t>
            </a:r>
            <a:r>
              <a:rPr lang="en-US" altLang="ko-KR" sz="1100" b="1" dirty="0">
                <a:effectLst/>
                <a:latin typeface="Helvetica Neue" panose="02000503000000020004" pitchFamily="2" charset="0"/>
              </a:rPr>
              <a:t>&gt; </a:t>
            </a:r>
            <a:r>
              <a:rPr lang="ko-KR" altLang="en-US" sz="1100" b="1" dirty="0">
                <a:effectLst/>
                <a:latin typeface="Helvetica Neue" panose="02000503000000020004" pitchFamily="2" charset="0"/>
              </a:rPr>
              <a:t>노랑 </a:t>
            </a:r>
            <a:r>
              <a:rPr lang="en-US" altLang="ko-KR" sz="1100" b="1" dirty="0">
                <a:effectLst/>
                <a:latin typeface="Helvetica Neue" panose="02000503000000020004" pitchFamily="2" charset="0"/>
              </a:rPr>
              <a:t>&gt; </a:t>
            </a:r>
            <a:r>
              <a:rPr lang="ko-KR" altLang="en-US" sz="1100" b="1" dirty="0">
                <a:effectLst/>
                <a:latin typeface="Helvetica Neue" panose="02000503000000020004" pitchFamily="2" charset="0"/>
              </a:rPr>
              <a:t>주황 </a:t>
            </a:r>
            <a:r>
              <a:rPr lang="en-US" altLang="ko-KR" sz="1100" b="1" dirty="0">
                <a:effectLst/>
                <a:latin typeface="Helvetica Neue" panose="02000503000000020004" pitchFamily="2" charset="0"/>
              </a:rPr>
              <a:t>&gt; </a:t>
            </a:r>
            <a:r>
              <a:rPr lang="ko-KR" altLang="en-US" sz="1100" b="1" dirty="0">
                <a:effectLst/>
                <a:latin typeface="Helvetica Neue" panose="02000503000000020004" pitchFamily="2" charset="0"/>
              </a:rPr>
              <a:t>붉은 색으로 변함</a:t>
            </a:r>
            <a:r>
              <a:rPr lang="en-US" altLang="ko-KR" sz="1100" b="1" dirty="0">
                <a:effectLst/>
                <a:latin typeface="Helvetica Neue" panose="02000503000000020004" pitchFamily="2" charset="0"/>
              </a:rPr>
              <a:t>. </a:t>
            </a:r>
            <a:endParaRPr lang="ko-KR" altLang="en-US" sz="1100" dirty="0">
              <a:effectLst/>
              <a:latin typeface="Helvetica Neue" panose="02000503000000020004" pitchFamily="2" charset="0"/>
            </a:endParaRPr>
          </a:p>
          <a:p>
            <a:r>
              <a:rPr lang="ko-KR" altLang="en-US" sz="1100" b="1" dirty="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계속</a:t>
            </a:r>
            <a:r>
              <a:rPr lang="ko-KR" altLang="en-US" sz="1100" b="1" dirty="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100" b="1" dirty="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누적되면</a:t>
            </a:r>
            <a:r>
              <a:rPr lang="ko-KR" altLang="en-US" sz="1100" b="1" dirty="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100" b="1" dirty="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목록</a:t>
            </a:r>
            <a:r>
              <a:rPr lang="ko-KR" altLang="en-US" sz="1100" b="1" dirty="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100" b="1" dirty="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옆에</a:t>
            </a:r>
            <a:r>
              <a:rPr lang="ko-KR" altLang="en-US" sz="1100" b="1" dirty="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100" b="1" dirty="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숫자로</a:t>
            </a:r>
            <a:r>
              <a:rPr lang="ko-KR" altLang="en-US" sz="1100" b="1" dirty="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100" b="1" dirty="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현재</a:t>
            </a:r>
            <a:r>
              <a:rPr lang="ko-KR" altLang="en-US" sz="1100" b="1" dirty="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100" b="1" dirty="0" err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진해이중인</a:t>
            </a:r>
            <a:r>
              <a:rPr lang="ko-KR" altLang="en-US" sz="1100" b="1" dirty="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100" b="1" dirty="0" err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갯수</a:t>
            </a:r>
            <a:r>
              <a:rPr lang="ko-KR" altLang="en-US" sz="1100" b="1" dirty="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100" b="1" dirty="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보여줌</a:t>
            </a:r>
            <a:r>
              <a:rPr lang="en-US" altLang="ko-KR" sz="1100" b="1" dirty="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. &gt; </a:t>
            </a:r>
            <a:r>
              <a:rPr lang="ko-KR" altLang="en-US" sz="1100" b="1" dirty="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파라메터는</a:t>
            </a:r>
            <a:r>
              <a:rPr lang="ko-KR" altLang="en-US" sz="1100" b="1" dirty="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100" b="1" dirty="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상관</a:t>
            </a:r>
            <a:r>
              <a:rPr lang="ko-KR" altLang="en-US" sz="1100" b="1" dirty="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100" b="1" dirty="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없이</a:t>
            </a:r>
            <a:r>
              <a:rPr lang="en-US" altLang="ko-KR" sz="1100" b="1" dirty="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? </a:t>
            </a:r>
            <a:r>
              <a:rPr lang="ko-KR" altLang="en-US" sz="1100" b="1" dirty="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상관</a:t>
            </a:r>
            <a:r>
              <a:rPr lang="ko-KR" altLang="en-US" sz="1100" b="1" dirty="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100" b="1" dirty="0" err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있시</a:t>
            </a:r>
            <a:r>
              <a:rPr lang="en-US" altLang="ko-KR" sz="1100" b="1" dirty="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?</a:t>
            </a:r>
            <a:endParaRPr lang="ko-KR" altLang="en-US" sz="1100" dirty="0">
              <a:effectLst/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6349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043008-BEA2-4C3E-5047-63F7C0A25D1D}"/>
              </a:ext>
            </a:extLst>
          </p:cNvPr>
          <p:cNvSpPr txBox="1"/>
          <p:nvPr/>
        </p:nvSpPr>
        <p:spPr>
          <a:xfrm>
            <a:off x="224971" y="340541"/>
            <a:ext cx="6096000" cy="438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900" dirty="0"/>
              <a:t>"</a:t>
            </a:r>
            <a:r>
              <a:rPr lang="ko-KR" altLang="en-US" sz="900" dirty="0"/>
              <a:t>최근 경륜 경기 분석</a:t>
            </a:r>
            <a:r>
              <a:rPr lang="en-US" altLang="ko-KR" sz="900" dirty="0"/>
              <a:t>: </a:t>
            </a:r>
            <a:r>
              <a:rPr lang="ko-KR" altLang="en-US" sz="900" dirty="0"/>
              <a:t>주요 선수와 전략</a:t>
            </a:r>
            <a:r>
              <a:rPr lang="en-US" altLang="ko-KR" sz="900" dirty="0"/>
              <a:t>"</a:t>
            </a:r>
            <a:r>
              <a:rPr lang="ko-KR" altLang="en-US" sz="900" dirty="0"/>
              <a:t>이라는 제목에 맞추어 분석하기 위해 필요한 데이터는 다음과 같습니다</a:t>
            </a:r>
            <a:r>
              <a:rPr lang="en-US" altLang="ko-KR" sz="900" dirty="0"/>
              <a:t>. </a:t>
            </a:r>
            <a:r>
              <a:rPr lang="ko-KR" altLang="en-US" sz="900" dirty="0"/>
              <a:t>이 데이터는 경륜 경기의 결과와 선수의 성적</a:t>
            </a:r>
            <a:r>
              <a:rPr lang="en-US" altLang="ko-KR" sz="900" dirty="0"/>
              <a:t>, </a:t>
            </a:r>
            <a:r>
              <a:rPr lang="ko-KR" altLang="en-US" sz="900" dirty="0"/>
              <a:t>경기 환경 등을 포함하여 다각도로 분석할 수 있도록 도와줍니다</a:t>
            </a:r>
            <a:r>
              <a:rPr lang="en-US" altLang="ko-KR" sz="900" dirty="0"/>
              <a:t>.</a:t>
            </a:r>
          </a:p>
          <a:p>
            <a:pPr algn="l"/>
            <a:r>
              <a:rPr lang="en-US" altLang="ko-KR" sz="900" dirty="0"/>
              <a:t>1. </a:t>
            </a:r>
            <a:r>
              <a:rPr lang="ko-KR" altLang="en-US" sz="900" dirty="0"/>
              <a:t>선수 데이터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900" dirty="0"/>
              <a:t>선수 이름 및 </a:t>
            </a:r>
            <a:r>
              <a:rPr lang="en" altLang="ko-KR" sz="900" dirty="0"/>
              <a:t>ID: </a:t>
            </a:r>
            <a:r>
              <a:rPr lang="ko-KR" altLang="en-US" sz="900" dirty="0"/>
              <a:t>각 선수의 고유 식별자와 이름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900" dirty="0"/>
              <a:t>연령 및 경력</a:t>
            </a:r>
            <a:r>
              <a:rPr lang="en-US" altLang="ko-KR" sz="900" dirty="0"/>
              <a:t>: </a:t>
            </a:r>
            <a:r>
              <a:rPr lang="ko-KR" altLang="en-US" sz="900" dirty="0"/>
              <a:t>선수의 나이와 경륜 경력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900" dirty="0"/>
              <a:t>평균 속도</a:t>
            </a:r>
            <a:r>
              <a:rPr lang="en-US" altLang="ko-KR" sz="900" dirty="0"/>
              <a:t>: </a:t>
            </a:r>
            <a:r>
              <a:rPr lang="ko-KR" altLang="en-US" sz="900" dirty="0"/>
              <a:t>경기 중 선수의 평균 속도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900" dirty="0"/>
              <a:t>최고 속도</a:t>
            </a:r>
            <a:r>
              <a:rPr lang="en-US" altLang="ko-KR" sz="900" dirty="0"/>
              <a:t>: </a:t>
            </a:r>
            <a:r>
              <a:rPr lang="ko-KR" altLang="en-US" sz="900" dirty="0"/>
              <a:t>경기 중 선수의 최고 속도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900" dirty="0"/>
              <a:t>승률</a:t>
            </a:r>
            <a:r>
              <a:rPr lang="en-US" altLang="ko-KR" sz="900" dirty="0"/>
              <a:t>: </a:t>
            </a:r>
            <a:r>
              <a:rPr lang="ko-KR" altLang="en-US" sz="900" dirty="0"/>
              <a:t>선수의 최근 승률 </a:t>
            </a:r>
            <a:r>
              <a:rPr lang="en-US" altLang="ko-KR" sz="900" dirty="0"/>
              <a:t>(</a:t>
            </a:r>
            <a:r>
              <a:rPr lang="ko-KR" altLang="en-US" sz="900" dirty="0"/>
              <a:t>예</a:t>
            </a:r>
            <a:r>
              <a:rPr lang="en-US" altLang="ko-KR" sz="900" dirty="0"/>
              <a:t>: </a:t>
            </a:r>
            <a:r>
              <a:rPr lang="ko-KR" altLang="en-US" sz="900" dirty="0"/>
              <a:t>최근 </a:t>
            </a:r>
            <a:r>
              <a:rPr lang="en-US" altLang="ko-KR" sz="900" dirty="0"/>
              <a:t>10</a:t>
            </a:r>
            <a:r>
              <a:rPr lang="ko-KR" altLang="en-US" sz="900" dirty="0"/>
              <a:t>경기 중 몇 승</a:t>
            </a:r>
            <a:r>
              <a:rPr lang="en-US" altLang="ko-KR" sz="900" dirty="0"/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900" dirty="0" err="1"/>
              <a:t>포디움</a:t>
            </a:r>
            <a:r>
              <a:rPr lang="ko-KR" altLang="en-US" sz="900" dirty="0"/>
              <a:t> 비율</a:t>
            </a:r>
            <a:r>
              <a:rPr lang="en-US" altLang="ko-KR" sz="900" dirty="0"/>
              <a:t>: 1, 2, 3</a:t>
            </a:r>
            <a:r>
              <a:rPr lang="ko-KR" altLang="en-US" sz="900" dirty="0"/>
              <a:t>위에 오른 비율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900" dirty="0"/>
              <a:t>출발 </a:t>
            </a:r>
            <a:r>
              <a:rPr lang="ko-KR" altLang="en-US" sz="900" dirty="0" err="1"/>
              <a:t>위치별</a:t>
            </a:r>
            <a:r>
              <a:rPr lang="ko-KR" altLang="en-US" sz="900" dirty="0"/>
              <a:t> 성적</a:t>
            </a:r>
            <a:r>
              <a:rPr lang="en-US" altLang="ko-KR" sz="900" dirty="0"/>
              <a:t>: </a:t>
            </a:r>
            <a:r>
              <a:rPr lang="ko-KR" altLang="en-US" sz="900" dirty="0"/>
              <a:t>출발 위치에 따른 성적 </a:t>
            </a:r>
            <a:r>
              <a:rPr lang="en-US" altLang="ko-KR" sz="900" dirty="0"/>
              <a:t>(</a:t>
            </a:r>
            <a:r>
              <a:rPr lang="ko-KR" altLang="en-US" sz="900" dirty="0"/>
              <a:t>예</a:t>
            </a:r>
            <a:r>
              <a:rPr lang="en-US" altLang="ko-KR" sz="900" dirty="0"/>
              <a:t>: 1</a:t>
            </a:r>
            <a:r>
              <a:rPr lang="ko-KR" altLang="en-US" sz="900" dirty="0"/>
              <a:t>번 위치에서 몇 승</a:t>
            </a:r>
            <a:r>
              <a:rPr lang="en-US" altLang="ko-KR" sz="900" dirty="0"/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900" dirty="0"/>
              <a:t>기타 특이사항</a:t>
            </a:r>
            <a:r>
              <a:rPr lang="en-US" altLang="ko-KR" sz="900" dirty="0"/>
              <a:t>: </a:t>
            </a:r>
            <a:r>
              <a:rPr lang="ko-KR" altLang="en-US" sz="900" dirty="0"/>
              <a:t>부상 기록</a:t>
            </a:r>
            <a:r>
              <a:rPr lang="en-US" altLang="ko-KR" sz="900" dirty="0"/>
              <a:t>, </a:t>
            </a:r>
            <a:r>
              <a:rPr lang="ko-KR" altLang="en-US" sz="900" dirty="0"/>
              <a:t>최근 컨디션 등</a:t>
            </a:r>
          </a:p>
          <a:p>
            <a:pPr algn="l"/>
            <a:r>
              <a:rPr lang="en-US" altLang="ko-KR" sz="900" dirty="0"/>
              <a:t>2. </a:t>
            </a:r>
            <a:r>
              <a:rPr lang="ko-KR" altLang="en-US" sz="900" dirty="0"/>
              <a:t>경기 데이터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900" dirty="0"/>
              <a:t>경기 날짜 및 시간</a:t>
            </a:r>
            <a:r>
              <a:rPr lang="en-US" altLang="ko-KR" sz="900" dirty="0"/>
              <a:t>: </a:t>
            </a:r>
            <a:r>
              <a:rPr lang="ko-KR" altLang="en-US" sz="900" dirty="0"/>
              <a:t>각 경기의 날짜와 시간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900" dirty="0"/>
              <a:t>경기 장소</a:t>
            </a:r>
            <a:r>
              <a:rPr lang="en-US" altLang="ko-KR" sz="900" dirty="0"/>
              <a:t>: </a:t>
            </a:r>
            <a:r>
              <a:rPr lang="ko-KR" altLang="en-US" sz="900" dirty="0"/>
              <a:t>경기장이름 및 위치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900" dirty="0"/>
              <a:t>날씨 조건</a:t>
            </a:r>
            <a:r>
              <a:rPr lang="en-US" altLang="ko-KR" sz="900" dirty="0"/>
              <a:t>: </a:t>
            </a:r>
            <a:r>
              <a:rPr lang="ko-KR" altLang="en-US" sz="900" dirty="0"/>
              <a:t>경기 당일의 날씨 </a:t>
            </a:r>
            <a:r>
              <a:rPr lang="en-US" altLang="ko-KR" sz="900" dirty="0"/>
              <a:t>(</a:t>
            </a:r>
            <a:r>
              <a:rPr lang="ko-KR" altLang="en-US" sz="900" dirty="0"/>
              <a:t>예</a:t>
            </a:r>
            <a:r>
              <a:rPr lang="en-US" altLang="ko-KR" sz="900" dirty="0"/>
              <a:t>: </a:t>
            </a:r>
            <a:r>
              <a:rPr lang="ko-KR" altLang="en-US" sz="900" dirty="0"/>
              <a:t>온도</a:t>
            </a:r>
            <a:r>
              <a:rPr lang="en-US" altLang="ko-KR" sz="900" dirty="0"/>
              <a:t>, </a:t>
            </a:r>
            <a:r>
              <a:rPr lang="ko-KR" altLang="en-US" sz="900" dirty="0"/>
              <a:t>습도</a:t>
            </a:r>
            <a:r>
              <a:rPr lang="en-US" altLang="ko-KR" sz="900" dirty="0"/>
              <a:t>, </a:t>
            </a:r>
            <a:r>
              <a:rPr lang="ko-KR" altLang="en-US" sz="900" dirty="0"/>
              <a:t>비</a:t>
            </a:r>
            <a:r>
              <a:rPr lang="en-US" altLang="ko-KR" sz="900" dirty="0"/>
              <a:t>/</a:t>
            </a:r>
            <a:r>
              <a:rPr lang="ko-KR" altLang="en-US" sz="900" dirty="0"/>
              <a:t>눈 여부</a:t>
            </a:r>
            <a:r>
              <a:rPr lang="en-US" altLang="ko-KR" sz="900" dirty="0"/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900" dirty="0"/>
              <a:t>트랙 조건</a:t>
            </a:r>
            <a:r>
              <a:rPr lang="en-US" altLang="ko-KR" sz="900" dirty="0"/>
              <a:t>: </a:t>
            </a:r>
            <a:r>
              <a:rPr lang="ko-KR" altLang="en-US" sz="900" dirty="0"/>
              <a:t>트랙의 종류와 상태 </a:t>
            </a:r>
            <a:r>
              <a:rPr lang="en-US" altLang="ko-KR" sz="900" dirty="0"/>
              <a:t>(</a:t>
            </a:r>
            <a:r>
              <a:rPr lang="ko-KR" altLang="en-US" sz="900" dirty="0"/>
              <a:t>예</a:t>
            </a:r>
            <a:r>
              <a:rPr lang="en-US" altLang="ko-KR" sz="900" dirty="0"/>
              <a:t>: </a:t>
            </a:r>
            <a:r>
              <a:rPr lang="ko-KR" altLang="en-US" sz="900" dirty="0"/>
              <a:t>습도</a:t>
            </a:r>
            <a:r>
              <a:rPr lang="en-US" altLang="ko-KR" sz="900" dirty="0"/>
              <a:t>, </a:t>
            </a:r>
            <a:r>
              <a:rPr lang="ko-KR" altLang="en-US" sz="900" dirty="0"/>
              <a:t>마찰력</a:t>
            </a:r>
            <a:r>
              <a:rPr lang="en-US" altLang="ko-KR" sz="900" dirty="0"/>
              <a:t>)</a:t>
            </a:r>
          </a:p>
          <a:p>
            <a:pPr algn="l"/>
            <a:r>
              <a:rPr lang="en-US" altLang="ko-KR" sz="900" dirty="0"/>
              <a:t>3. </a:t>
            </a:r>
            <a:r>
              <a:rPr lang="ko-KR" altLang="en-US" sz="900" dirty="0"/>
              <a:t>경기 결과 데이터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900" dirty="0"/>
              <a:t>경기 결과</a:t>
            </a:r>
            <a:r>
              <a:rPr lang="en-US" altLang="ko-KR" sz="900" dirty="0"/>
              <a:t>: </a:t>
            </a:r>
            <a:r>
              <a:rPr lang="ko-KR" altLang="en-US" sz="900" dirty="0"/>
              <a:t>각 경기의 순위와 시간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900" dirty="0"/>
              <a:t>각 선수의 기록</a:t>
            </a:r>
            <a:r>
              <a:rPr lang="en-US" altLang="ko-KR" sz="900" dirty="0"/>
              <a:t>: </a:t>
            </a:r>
            <a:r>
              <a:rPr lang="ko-KR" altLang="en-US" sz="900" dirty="0"/>
              <a:t>경기 중 각 선수의 기록 </a:t>
            </a:r>
            <a:r>
              <a:rPr lang="en-US" altLang="ko-KR" sz="900" dirty="0"/>
              <a:t>(</a:t>
            </a:r>
            <a:r>
              <a:rPr lang="ko-KR" altLang="en-US" sz="900" dirty="0"/>
              <a:t>예</a:t>
            </a:r>
            <a:r>
              <a:rPr lang="en-US" altLang="ko-KR" sz="900" dirty="0"/>
              <a:t>: </a:t>
            </a:r>
            <a:r>
              <a:rPr lang="ko-KR" altLang="en-US" sz="900" dirty="0"/>
              <a:t>중간 타임</a:t>
            </a:r>
            <a:r>
              <a:rPr lang="en-US" altLang="ko-KR" sz="900" dirty="0"/>
              <a:t>, </a:t>
            </a:r>
            <a:r>
              <a:rPr lang="ko-KR" altLang="en-US" sz="900" dirty="0"/>
              <a:t>최종 타임</a:t>
            </a:r>
            <a:r>
              <a:rPr lang="en-US" altLang="ko-KR" sz="900" dirty="0"/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900" dirty="0"/>
              <a:t>추월 및 방어 전략</a:t>
            </a:r>
            <a:r>
              <a:rPr lang="en-US" altLang="ko-KR" sz="900" dirty="0"/>
              <a:t>: </a:t>
            </a:r>
            <a:r>
              <a:rPr lang="ko-KR" altLang="en-US" sz="900" dirty="0"/>
              <a:t>각 선수의 전략적 움직임 </a:t>
            </a:r>
            <a:r>
              <a:rPr lang="en-US" altLang="ko-KR" sz="900" dirty="0"/>
              <a:t>(</a:t>
            </a:r>
            <a:r>
              <a:rPr lang="ko-KR" altLang="en-US" sz="900" dirty="0"/>
              <a:t>예</a:t>
            </a:r>
            <a:r>
              <a:rPr lang="en-US" altLang="ko-KR" sz="900" dirty="0"/>
              <a:t>: </a:t>
            </a:r>
            <a:r>
              <a:rPr lang="ko-KR" altLang="en-US" sz="900" dirty="0"/>
              <a:t>특정 구간에서의 추월 시도</a:t>
            </a:r>
            <a:r>
              <a:rPr lang="en-US" altLang="ko-KR" sz="900" dirty="0"/>
              <a:t>)</a:t>
            </a:r>
          </a:p>
          <a:p>
            <a:pPr algn="l"/>
            <a:r>
              <a:rPr lang="en-US" altLang="ko-KR" sz="900" dirty="0"/>
              <a:t>4. </a:t>
            </a:r>
            <a:r>
              <a:rPr lang="ko-KR" altLang="en-US" sz="900" dirty="0"/>
              <a:t>전략 및 전술 데이터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900" dirty="0"/>
              <a:t>출발 전략</a:t>
            </a:r>
            <a:r>
              <a:rPr lang="en-US" altLang="ko-KR" sz="900" dirty="0"/>
              <a:t>: </a:t>
            </a:r>
            <a:r>
              <a:rPr lang="ko-KR" altLang="en-US" sz="900" dirty="0"/>
              <a:t>출발 속도 및 위치에 따른 전략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900" dirty="0"/>
              <a:t>팀 전략</a:t>
            </a:r>
            <a:r>
              <a:rPr lang="en-US" altLang="ko-KR" sz="900" dirty="0"/>
              <a:t>: </a:t>
            </a:r>
            <a:r>
              <a:rPr lang="ko-KR" altLang="en-US" sz="900" dirty="0"/>
              <a:t>같은 팀 선수 간의 협력 전략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900" dirty="0"/>
              <a:t>경기 중 전술</a:t>
            </a:r>
            <a:r>
              <a:rPr lang="en-US" altLang="ko-KR" sz="900" dirty="0"/>
              <a:t>: </a:t>
            </a:r>
            <a:r>
              <a:rPr lang="ko-KR" altLang="en-US" sz="900" dirty="0"/>
              <a:t>경기 중 특정 상황에서의 전술 </a:t>
            </a:r>
            <a:r>
              <a:rPr lang="en-US" altLang="ko-KR" sz="900" dirty="0"/>
              <a:t>(</a:t>
            </a:r>
            <a:r>
              <a:rPr lang="ko-KR" altLang="en-US" sz="900" dirty="0"/>
              <a:t>예</a:t>
            </a:r>
            <a:r>
              <a:rPr lang="en-US" altLang="ko-KR" sz="900" dirty="0"/>
              <a:t>: </a:t>
            </a:r>
            <a:r>
              <a:rPr lang="ko-KR" altLang="en-US" sz="900" dirty="0"/>
              <a:t>바람을 피하기 위해 대열을 이루는 전략</a:t>
            </a:r>
            <a:r>
              <a:rPr lang="en-US" altLang="ko-KR" sz="900" dirty="0"/>
              <a:t>)</a:t>
            </a:r>
          </a:p>
          <a:p>
            <a:pPr algn="l"/>
            <a:r>
              <a:rPr lang="en-US" altLang="ko-KR" sz="900" dirty="0"/>
              <a:t>5. </a:t>
            </a:r>
            <a:r>
              <a:rPr lang="ko-KR" altLang="en-US" sz="900" dirty="0"/>
              <a:t>통계 데이터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900" dirty="0"/>
              <a:t>종합 통계</a:t>
            </a:r>
            <a:r>
              <a:rPr lang="en-US" altLang="ko-KR" sz="900" dirty="0"/>
              <a:t>: </a:t>
            </a:r>
            <a:r>
              <a:rPr lang="ko-KR" altLang="en-US" sz="900" dirty="0"/>
              <a:t>최근 </a:t>
            </a:r>
            <a:r>
              <a:rPr lang="en-US" altLang="ko-KR" sz="900" dirty="0"/>
              <a:t>10</a:t>
            </a:r>
            <a:r>
              <a:rPr lang="ko-KR" altLang="en-US" sz="900" dirty="0"/>
              <a:t>경기 또는 </a:t>
            </a:r>
            <a:r>
              <a:rPr lang="ko-KR" altLang="en-US" sz="900" dirty="0" err="1"/>
              <a:t>시즌별</a:t>
            </a:r>
            <a:r>
              <a:rPr lang="ko-KR" altLang="en-US" sz="900" dirty="0"/>
              <a:t> 종합 통계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900" dirty="0"/>
              <a:t>상위 선수 분석</a:t>
            </a:r>
            <a:r>
              <a:rPr lang="en-US" altLang="ko-KR" sz="900" dirty="0"/>
              <a:t>: </a:t>
            </a:r>
            <a:r>
              <a:rPr lang="ko-KR" altLang="en-US" sz="900" dirty="0"/>
              <a:t>상위권 선수들의 공통점 및 </a:t>
            </a:r>
            <a:r>
              <a:rPr lang="ko-KR" altLang="en-US" sz="900" dirty="0" err="1"/>
              <a:t>차별점</a:t>
            </a:r>
            <a:endParaRPr lang="ko-KR" altLang="en-US" sz="9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900" dirty="0" err="1"/>
              <a:t>경기별</a:t>
            </a:r>
            <a:r>
              <a:rPr lang="ko-KR" altLang="en-US" sz="900" dirty="0"/>
              <a:t> 비교 분석</a:t>
            </a:r>
            <a:r>
              <a:rPr lang="en-US" altLang="ko-KR" sz="900" dirty="0"/>
              <a:t>: </a:t>
            </a:r>
            <a:r>
              <a:rPr lang="ko-KR" altLang="en-US" sz="900" dirty="0"/>
              <a:t>다른 경기와의 비교 분석</a:t>
            </a:r>
          </a:p>
          <a:p>
            <a:pPr algn="l"/>
            <a:r>
              <a:rPr lang="en-US" altLang="ko-KR" sz="900" dirty="0"/>
              <a:t>6. </a:t>
            </a:r>
            <a:r>
              <a:rPr lang="ko-KR" altLang="en-US" sz="900" dirty="0"/>
              <a:t>예측 및 추천 데이터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900" dirty="0"/>
              <a:t>다음 경기 예측</a:t>
            </a:r>
            <a:r>
              <a:rPr lang="en-US" altLang="ko-KR" sz="900" dirty="0"/>
              <a:t>: </a:t>
            </a:r>
            <a:r>
              <a:rPr lang="ko-KR" altLang="en-US" sz="900" dirty="0"/>
              <a:t>날씨</a:t>
            </a:r>
            <a:r>
              <a:rPr lang="en-US" altLang="ko-KR" sz="900" dirty="0"/>
              <a:t>, </a:t>
            </a:r>
            <a:r>
              <a:rPr lang="ko-KR" altLang="en-US" sz="900" dirty="0"/>
              <a:t>선수 컨디션 등을 고려한 다음 경기 예측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900" dirty="0"/>
              <a:t>추천 선수 및 전략</a:t>
            </a:r>
            <a:r>
              <a:rPr lang="en-US" altLang="ko-KR" sz="900" dirty="0"/>
              <a:t>: </a:t>
            </a:r>
            <a:r>
              <a:rPr lang="ko-KR" altLang="en-US" sz="900" dirty="0"/>
              <a:t>데이터에 기반한 추천 선수와 전략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10A1271-EF98-C980-EF71-68F02AF39D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912770"/>
              </p:ext>
            </p:extLst>
          </p:nvPr>
        </p:nvGraphicFramePr>
        <p:xfrm>
          <a:off x="5062708" y="2235923"/>
          <a:ext cx="6972417" cy="751528"/>
        </p:xfrm>
        <a:graphic>
          <a:graphicData uri="http://schemas.openxmlformats.org/drawingml/2006/table">
            <a:tbl>
              <a:tblPr/>
              <a:tblGrid>
                <a:gridCol w="774713">
                  <a:extLst>
                    <a:ext uri="{9D8B030D-6E8A-4147-A177-3AD203B41FA5}">
                      <a16:colId xmlns:a16="http://schemas.microsoft.com/office/drawing/2014/main" val="108065415"/>
                    </a:ext>
                  </a:extLst>
                </a:gridCol>
                <a:gridCol w="469036">
                  <a:extLst>
                    <a:ext uri="{9D8B030D-6E8A-4147-A177-3AD203B41FA5}">
                      <a16:colId xmlns:a16="http://schemas.microsoft.com/office/drawing/2014/main" val="2716828276"/>
                    </a:ext>
                  </a:extLst>
                </a:gridCol>
                <a:gridCol w="464457">
                  <a:extLst>
                    <a:ext uri="{9D8B030D-6E8A-4147-A177-3AD203B41FA5}">
                      <a16:colId xmlns:a16="http://schemas.microsoft.com/office/drawing/2014/main" val="184983761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3323129"/>
                    </a:ext>
                  </a:extLst>
                </a:gridCol>
                <a:gridCol w="696686">
                  <a:extLst>
                    <a:ext uri="{9D8B030D-6E8A-4147-A177-3AD203B41FA5}">
                      <a16:colId xmlns:a16="http://schemas.microsoft.com/office/drawing/2014/main" val="1282953879"/>
                    </a:ext>
                  </a:extLst>
                </a:gridCol>
                <a:gridCol w="776514">
                  <a:extLst>
                    <a:ext uri="{9D8B030D-6E8A-4147-A177-3AD203B41FA5}">
                      <a16:colId xmlns:a16="http://schemas.microsoft.com/office/drawing/2014/main" val="4191179042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1182687983"/>
                    </a:ext>
                  </a:extLst>
                </a:gridCol>
                <a:gridCol w="921657">
                  <a:extLst>
                    <a:ext uri="{9D8B030D-6E8A-4147-A177-3AD203B41FA5}">
                      <a16:colId xmlns:a16="http://schemas.microsoft.com/office/drawing/2014/main" val="3783926860"/>
                    </a:ext>
                  </a:extLst>
                </a:gridCol>
                <a:gridCol w="1671925">
                  <a:extLst>
                    <a:ext uri="{9D8B030D-6E8A-4147-A177-3AD203B41FA5}">
                      <a16:colId xmlns:a16="http://schemas.microsoft.com/office/drawing/2014/main" val="48124354"/>
                    </a:ext>
                  </a:extLst>
                </a:gridCol>
              </a:tblGrid>
              <a:tr h="246020">
                <a:tc>
                  <a:txBody>
                    <a:bodyPr/>
                    <a:lstStyle/>
                    <a:p>
                      <a:pPr fontAlgn="b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선수 이름</a:t>
                      </a:r>
                    </a:p>
                  </a:txBody>
                  <a:tcPr marL="85320" marR="85320" marT="42660" marB="42660" anchor="b">
                    <a:lnL w="9525" cap="flat" cmpd="sng" algn="ctr">
                      <a:solidFill>
                        <a:srgbClr val="A06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5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6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6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" sz="900" dirty="0">
                          <a:solidFill>
                            <a:schemeClr val="bg1"/>
                          </a:solidFill>
                        </a:rPr>
                        <a:t>ID</a:t>
                      </a:r>
                    </a:p>
                  </a:txBody>
                  <a:tcPr marL="85320" marR="85320" marT="42660" marB="42660" anchor="b">
                    <a:lnL w="9525" cap="flat" cmpd="sng" algn="ctr">
                      <a:solidFill>
                        <a:srgbClr val="505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6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5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4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연령</a:t>
                      </a:r>
                    </a:p>
                  </a:txBody>
                  <a:tcPr marL="85320" marR="85320" marT="42660" marB="42660" anchor="b">
                    <a:lnL w="9525" cap="flat" cmpd="sng" algn="ctr">
                      <a:solidFill>
                        <a:srgbClr val="706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5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6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5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경력</a:t>
                      </a:r>
                    </a:p>
                  </a:txBody>
                  <a:tcPr marL="85320" marR="85320" marT="42660" marB="42660" anchor="b">
                    <a:lnL w="9525" cap="flat" cmpd="sng" algn="ctr">
                      <a:solidFill>
                        <a:srgbClr val="005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72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5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4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평균 속도</a:t>
                      </a:r>
                    </a:p>
                  </a:txBody>
                  <a:tcPr marL="85320" marR="85320" marT="42660" marB="42660" anchor="b">
                    <a:lnL w="9525" cap="flat" cmpd="sng" algn="ctr">
                      <a:solidFill>
                        <a:srgbClr val="4072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7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72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44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최고 속도</a:t>
                      </a:r>
                    </a:p>
                  </a:txBody>
                  <a:tcPr marL="85320" marR="85320" marT="42660" marB="42660" anchor="b">
                    <a:lnL w="9525" cap="flat" cmpd="sng" algn="ctr">
                      <a:solidFill>
                        <a:srgbClr val="007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2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7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6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승률</a:t>
                      </a:r>
                    </a:p>
                  </a:txBody>
                  <a:tcPr marL="85320" marR="85320" marT="42660" marB="42660" anchor="b">
                    <a:lnL w="9525" cap="flat" cmpd="sng" algn="ctr">
                      <a:solidFill>
                        <a:srgbClr val="4042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57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2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6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ko-KR" altLang="en-US" sz="900" dirty="0" err="1">
                          <a:solidFill>
                            <a:schemeClr val="bg1"/>
                          </a:solidFill>
                        </a:rPr>
                        <a:t>포디움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 비율</a:t>
                      </a:r>
                    </a:p>
                  </a:txBody>
                  <a:tcPr marL="85320" marR="85320" marT="42660" marB="42660" anchor="b">
                    <a:lnL w="9525" cap="flat" cmpd="sng" algn="ctr">
                      <a:solidFill>
                        <a:srgbClr val="7057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4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57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55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출발 위치별 성적</a:t>
                      </a:r>
                    </a:p>
                  </a:txBody>
                  <a:tcPr marL="85320" marR="85320" marT="42660" marB="42660" anchor="b">
                    <a:lnL w="9525" cap="flat" cmpd="sng" algn="ctr">
                      <a:solidFill>
                        <a:srgbClr val="A04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4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4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8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038067"/>
                  </a:ext>
                </a:extLst>
              </a:tr>
              <a:tr h="283028">
                <a:tc>
                  <a:txBody>
                    <a:bodyPr/>
                    <a:lstStyle/>
                    <a:p>
                      <a:pPr fontAlgn="base"/>
                      <a:r>
                        <a:rPr lang="en" sz="900">
                          <a:solidFill>
                            <a:schemeClr val="bg1"/>
                          </a:solidFill>
                        </a:rPr>
                        <a:t>A </a:t>
                      </a:r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선수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406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64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6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8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001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0064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5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4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805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4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5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B0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년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904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44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4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AD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" sz="900">
                          <a:solidFill>
                            <a:schemeClr val="bg1"/>
                          </a:solidFill>
                        </a:rPr>
                        <a:t>45km/h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B044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6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44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8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" sz="900">
                          <a:solidFill>
                            <a:schemeClr val="bg1"/>
                          </a:solidFill>
                        </a:rPr>
                        <a:t>50km/h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B06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6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6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9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900">
                          <a:solidFill>
                            <a:schemeClr val="bg1"/>
                          </a:solidFill>
                        </a:rPr>
                        <a:t>70%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406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55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6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8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50%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6055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8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55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A9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90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번 위치</a:t>
                      </a:r>
                      <a:r>
                        <a:rPr lang="en-US" altLang="ko-KR" sz="900">
                          <a:solidFill>
                            <a:schemeClr val="bg1"/>
                          </a:solidFill>
                        </a:rPr>
                        <a:t>: 3</a:t>
                      </a:r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승</a:t>
                      </a:r>
                      <a:r>
                        <a:rPr lang="en-US" altLang="ko-KR" sz="900">
                          <a:solidFill>
                            <a:schemeClr val="bg1"/>
                          </a:solidFill>
                        </a:rPr>
                        <a:t>, 2</a:t>
                      </a:r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번 위치</a:t>
                      </a:r>
                      <a:r>
                        <a:rPr lang="en-US" altLang="ko-KR" sz="900">
                          <a:solidFill>
                            <a:schemeClr val="bg1"/>
                          </a:solidFill>
                        </a:rPr>
                        <a:t>: 2</a:t>
                      </a:r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승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C08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8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8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9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366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" sz="900">
                          <a:solidFill>
                            <a:schemeClr val="bg1"/>
                          </a:solidFill>
                        </a:rPr>
                        <a:t>B </a:t>
                      </a:r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선수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C08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8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8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900">
                          <a:solidFill>
                            <a:schemeClr val="bg1"/>
                          </a:solidFill>
                        </a:rPr>
                        <a:t>002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00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B0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C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900">
                          <a:solidFill>
                            <a:schemeClr val="bg1"/>
                          </a:solidFill>
                        </a:rPr>
                        <a:t>30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30B0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AD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B0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B0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년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90AD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8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AD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AD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" sz="900" dirty="0">
                          <a:solidFill>
                            <a:schemeClr val="bg1"/>
                          </a:solidFill>
                        </a:rPr>
                        <a:t>44km/h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308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9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8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8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" sz="900" dirty="0">
                          <a:solidFill>
                            <a:schemeClr val="bg1"/>
                          </a:solidFill>
                        </a:rPr>
                        <a:t>49km/h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C09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8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9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9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60%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D08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A9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8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8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40%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D0A9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9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A9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A9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번 위치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: 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승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, 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번 위치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: 3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승</a:t>
                      </a:r>
                    </a:p>
                  </a:txBody>
                  <a:tcPr marL="85320" marR="85320" marT="42660" marB="42660" anchor="ctr">
                    <a:lnL w="9525" cap="flat" cmpd="sng" algn="ctr">
                      <a:solidFill>
                        <a:srgbClr val="709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9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9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9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152353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24E3D90-9378-CCC1-F271-E24AA0E9DD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195929"/>
              </p:ext>
            </p:extLst>
          </p:nvPr>
        </p:nvGraphicFramePr>
        <p:xfrm>
          <a:off x="5074443" y="3156619"/>
          <a:ext cx="6972415" cy="731520"/>
        </p:xfrm>
        <a:graphic>
          <a:graphicData uri="http://schemas.openxmlformats.org/drawingml/2006/table">
            <a:tbl>
              <a:tblPr/>
              <a:tblGrid>
                <a:gridCol w="1394483">
                  <a:extLst>
                    <a:ext uri="{9D8B030D-6E8A-4147-A177-3AD203B41FA5}">
                      <a16:colId xmlns:a16="http://schemas.microsoft.com/office/drawing/2014/main" val="3894114410"/>
                    </a:ext>
                  </a:extLst>
                </a:gridCol>
                <a:gridCol w="1394483">
                  <a:extLst>
                    <a:ext uri="{9D8B030D-6E8A-4147-A177-3AD203B41FA5}">
                      <a16:colId xmlns:a16="http://schemas.microsoft.com/office/drawing/2014/main" val="1454547137"/>
                    </a:ext>
                  </a:extLst>
                </a:gridCol>
                <a:gridCol w="1394483">
                  <a:extLst>
                    <a:ext uri="{9D8B030D-6E8A-4147-A177-3AD203B41FA5}">
                      <a16:colId xmlns:a16="http://schemas.microsoft.com/office/drawing/2014/main" val="3471237346"/>
                    </a:ext>
                  </a:extLst>
                </a:gridCol>
                <a:gridCol w="1394483">
                  <a:extLst>
                    <a:ext uri="{9D8B030D-6E8A-4147-A177-3AD203B41FA5}">
                      <a16:colId xmlns:a16="http://schemas.microsoft.com/office/drawing/2014/main" val="914319869"/>
                    </a:ext>
                  </a:extLst>
                </a:gridCol>
                <a:gridCol w="1394483">
                  <a:extLst>
                    <a:ext uri="{9D8B030D-6E8A-4147-A177-3AD203B41FA5}">
                      <a16:colId xmlns:a16="http://schemas.microsoft.com/office/drawing/2014/main" val="29050194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b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</a:rPr>
                        <a:t>경기 날짜</a:t>
                      </a:r>
                    </a:p>
                  </a:txBody>
                  <a:tcPr anchor="b">
                    <a:lnL w="9525" cap="flat" cmpd="sng" algn="ctr">
                      <a:solidFill>
                        <a:srgbClr val="80A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A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A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B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</a:rPr>
                        <a:t>시간</a:t>
                      </a:r>
                    </a:p>
                  </a:txBody>
                  <a:tcPr anchor="b">
                    <a:lnL w="9525" cap="flat" cmpd="sng" algn="ctr">
                      <a:solidFill>
                        <a:srgbClr val="E0A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A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A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8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</a:rPr>
                        <a:t>장소</a:t>
                      </a:r>
                    </a:p>
                  </a:txBody>
                  <a:tcPr anchor="b">
                    <a:lnL w="9525" cap="flat" cmpd="sng" algn="ctr">
                      <a:solidFill>
                        <a:srgbClr val="00A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A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A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B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</a:rPr>
                        <a:t>날씨</a:t>
                      </a:r>
                    </a:p>
                  </a:txBody>
                  <a:tcPr anchor="b">
                    <a:lnL w="9525" cap="flat" cmpd="sng" algn="ctr">
                      <a:solidFill>
                        <a:srgbClr val="90A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8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A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8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ko-KR" altLang="en-US" sz="1000" b="1">
                          <a:solidFill>
                            <a:schemeClr val="bg1"/>
                          </a:solidFill>
                          <a:effectLst/>
                        </a:rPr>
                        <a:t>트랙 조건</a:t>
                      </a:r>
                    </a:p>
                  </a:txBody>
                  <a:tcPr anchor="b">
                    <a:lnL w="9525" cap="flat" cmpd="sng" algn="ctr">
                      <a:solidFill>
                        <a:srgbClr val="508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8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8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A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088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1000">
                          <a:solidFill>
                            <a:schemeClr val="bg1"/>
                          </a:solidFill>
                          <a:effectLst/>
                        </a:rPr>
                        <a:t>2023-05-01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0B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8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B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D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1000">
                          <a:solidFill>
                            <a:schemeClr val="bg1"/>
                          </a:solidFill>
                          <a:effectLst/>
                        </a:rPr>
                        <a:t>14:00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608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B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8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000">
                          <a:solidFill>
                            <a:schemeClr val="bg1"/>
                          </a:solidFill>
                          <a:effectLst/>
                        </a:rPr>
                        <a:t>서울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0B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8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B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000">
                          <a:solidFill>
                            <a:schemeClr val="bg1"/>
                          </a:solidFill>
                          <a:effectLst/>
                        </a:rPr>
                        <a:t>맑음</a:t>
                      </a:r>
                      <a:r>
                        <a:rPr lang="en-US" altLang="ko-KR" sz="1000">
                          <a:solidFill>
                            <a:schemeClr val="bg1"/>
                          </a:solidFill>
                          <a:effectLst/>
                        </a:rPr>
                        <a:t>, 22</a:t>
                      </a:r>
                      <a:r>
                        <a:rPr lang="ko-KR" altLang="en-US" sz="1000">
                          <a:solidFill>
                            <a:schemeClr val="bg1"/>
                          </a:solidFill>
                          <a:effectLst/>
                        </a:rPr>
                        <a:t>도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08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A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8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E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000">
                          <a:solidFill>
                            <a:schemeClr val="bg1"/>
                          </a:solidFill>
                          <a:effectLst/>
                        </a:rPr>
                        <a:t>건조</a:t>
                      </a:r>
                      <a:r>
                        <a:rPr lang="en-US" altLang="ko-KR" sz="100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bg1"/>
                          </a:solidFill>
                          <a:effectLst/>
                        </a:rPr>
                        <a:t>마찰력 높음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0A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A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A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D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235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1000">
                          <a:solidFill>
                            <a:schemeClr val="bg1"/>
                          </a:solidFill>
                          <a:effectLst/>
                        </a:rPr>
                        <a:t>2023-05-08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0D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D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D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1000">
                          <a:solidFill>
                            <a:schemeClr val="bg1"/>
                          </a:solidFill>
                          <a:effectLst/>
                        </a:rPr>
                        <a:t>16:00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000">
                          <a:solidFill>
                            <a:schemeClr val="bg1"/>
                          </a:solidFill>
                          <a:effectLst/>
                        </a:rPr>
                        <a:t>부산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0D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E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000">
                          <a:solidFill>
                            <a:schemeClr val="bg1"/>
                          </a:solidFill>
                          <a:effectLst/>
                        </a:rPr>
                        <a:t>비</a:t>
                      </a:r>
                      <a:r>
                        <a:rPr lang="en-US" altLang="ko-KR" sz="1000">
                          <a:solidFill>
                            <a:schemeClr val="bg1"/>
                          </a:solidFill>
                          <a:effectLst/>
                        </a:rPr>
                        <a:t>, 18</a:t>
                      </a:r>
                      <a:r>
                        <a:rPr lang="ko-KR" altLang="en-US" sz="1000">
                          <a:solidFill>
                            <a:schemeClr val="bg1"/>
                          </a:solidFill>
                          <a:effectLst/>
                        </a:rPr>
                        <a:t>도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0E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D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E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E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000" dirty="0">
                          <a:solidFill>
                            <a:schemeClr val="bg1"/>
                          </a:solidFill>
                          <a:effectLst/>
                        </a:rPr>
                        <a:t>습기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  <a:effectLst/>
                        </a:rPr>
                        <a:t>마찰력 낮음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80D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D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D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DF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750449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68E803D-988C-5D7A-3C97-339FEA4E4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651829"/>
              </p:ext>
            </p:extLst>
          </p:nvPr>
        </p:nvGraphicFramePr>
        <p:xfrm>
          <a:off x="5062707" y="940560"/>
          <a:ext cx="6972416" cy="1143000"/>
        </p:xfrm>
        <a:graphic>
          <a:graphicData uri="http://schemas.openxmlformats.org/drawingml/2006/table">
            <a:tbl>
              <a:tblPr/>
              <a:tblGrid>
                <a:gridCol w="1743104">
                  <a:extLst>
                    <a:ext uri="{9D8B030D-6E8A-4147-A177-3AD203B41FA5}">
                      <a16:colId xmlns:a16="http://schemas.microsoft.com/office/drawing/2014/main" val="1922030221"/>
                    </a:ext>
                  </a:extLst>
                </a:gridCol>
                <a:gridCol w="1743104">
                  <a:extLst>
                    <a:ext uri="{9D8B030D-6E8A-4147-A177-3AD203B41FA5}">
                      <a16:colId xmlns:a16="http://schemas.microsoft.com/office/drawing/2014/main" val="1785378856"/>
                    </a:ext>
                  </a:extLst>
                </a:gridCol>
                <a:gridCol w="1743104">
                  <a:extLst>
                    <a:ext uri="{9D8B030D-6E8A-4147-A177-3AD203B41FA5}">
                      <a16:colId xmlns:a16="http://schemas.microsoft.com/office/drawing/2014/main" val="450167735"/>
                    </a:ext>
                  </a:extLst>
                </a:gridCol>
                <a:gridCol w="1743104">
                  <a:extLst>
                    <a:ext uri="{9D8B030D-6E8A-4147-A177-3AD203B41FA5}">
                      <a16:colId xmlns:a16="http://schemas.microsoft.com/office/drawing/2014/main" val="16383053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b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경기 날짜</a:t>
                      </a:r>
                    </a:p>
                  </a:txBody>
                  <a:tcPr anchor="b">
                    <a:lnL w="9525" cap="flat" cmpd="sng" algn="ctr">
                      <a:solidFill>
                        <a:srgbClr val="F0E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선수 이름</a:t>
                      </a:r>
                    </a:p>
                  </a:txBody>
                  <a:tcPr anchor="b">
                    <a:lnL w="9525" cap="flat" cmpd="sng" algn="ctr">
                      <a:solidFill>
                        <a:srgbClr val="D0C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E0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순위</a:t>
                      </a:r>
                    </a:p>
                  </a:txBody>
                  <a:tcPr anchor="b">
                    <a:lnL w="9525" cap="flat" cmpd="sng" algn="ctr">
                      <a:solidFill>
                        <a:srgbClr val="D0E0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D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E0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E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기록</a:t>
                      </a:r>
                    </a:p>
                  </a:txBody>
                  <a:tcPr anchor="b">
                    <a:lnL w="9525" cap="flat" cmpd="sng" algn="ctr">
                      <a:solidFill>
                        <a:srgbClr val="F0ED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D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D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E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822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2023-05-01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0D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C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" sz="900" dirty="0">
                          <a:solidFill>
                            <a:schemeClr val="bg1"/>
                          </a:solidFill>
                        </a:rPr>
                        <a:t>A 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선수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0F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E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C9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9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0E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E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E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C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90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분 </a:t>
                      </a:r>
                      <a:r>
                        <a:rPr lang="en-US" altLang="ko-KR" sz="900">
                          <a:solidFill>
                            <a:schemeClr val="bg1"/>
                          </a:solidFill>
                        </a:rPr>
                        <a:t>45</a:t>
                      </a:r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초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0E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E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E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E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952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900">
                          <a:solidFill>
                            <a:schemeClr val="bg1"/>
                          </a:solidFill>
                        </a:rPr>
                        <a:t>2023-05-01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70C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C9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C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F4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" sz="900" dirty="0">
                          <a:solidFill>
                            <a:schemeClr val="bg1"/>
                          </a:solidFill>
                        </a:rPr>
                        <a:t>B 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선수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60C9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C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C9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0C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E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C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90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분 </a:t>
                      </a:r>
                      <a:r>
                        <a:rPr lang="en-US" altLang="ko-KR" sz="900">
                          <a:solidFill>
                            <a:schemeClr val="bg1"/>
                          </a:solidFill>
                        </a:rPr>
                        <a:t>47</a:t>
                      </a:r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초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0E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E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E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FD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404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900">
                          <a:solidFill>
                            <a:schemeClr val="bg1"/>
                          </a:solidFill>
                        </a:rPr>
                        <a:t>2023-05-08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0F4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E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F4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" sz="900" dirty="0">
                          <a:solidFill>
                            <a:schemeClr val="bg1"/>
                          </a:solidFill>
                        </a:rPr>
                        <a:t>B 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선수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0E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0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0C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FD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3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분 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50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초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0FD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FD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FD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0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174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900">
                          <a:solidFill>
                            <a:schemeClr val="bg1"/>
                          </a:solidFill>
                        </a:rPr>
                        <a:t>2023-05-08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3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0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" sz="900" dirty="0">
                          <a:solidFill>
                            <a:schemeClr val="bg1"/>
                          </a:solidFill>
                        </a:rPr>
                        <a:t>A 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선수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100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3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0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0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3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0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3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36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분 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55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초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00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0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0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0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580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6436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DB2B87-3CE7-73BC-1305-7A5A91E645BC}"/>
              </a:ext>
            </a:extLst>
          </p:cNvPr>
          <p:cNvSpPr txBox="1"/>
          <p:nvPr/>
        </p:nvSpPr>
        <p:spPr>
          <a:xfrm>
            <a:off x="694714" y="239894"/>
            <a:ext cx="6098058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2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미들웨어의 역할</a:t>
            </a:r>
            <a:endParaRPr lang="en-US" altLang="ko-KR" sz="1200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öhne"/>
            </a:endParaRPr>
          </a:p>
          <a:p>
            <a:pPr algn="l"/>
            <a:endParaRPr lang="ko-KR" altLang="en-US" sz="1200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öhne"/>
            </a:endParaRPr>
          </a:p>
          <a:p>
            <a:pPr algn="l"/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1. </a:t>
            </a:r>
            <a:r>
              <a:rPr lang="ko-KR" altLang="en-US" sz="12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데이터 변환</a:t>
            </a:r>
            <a:endParaRPr lang="ko-KR" altLang="en-US" sz="12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2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프론트엔드와</a:t>
            </a: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</a:t>
            </a:r>
            <a:r>
              <a:rPr lang="ko-KR" altLang="en-US" sz="12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백엔드</a:t>
            </a: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사이에서 데이터 포맷이나 구조를 변환해줍니다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 </a:t>
            </a: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예를 들어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2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프론트엔드에서</a:t>
            </a: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받은 </a:t>
            </a:r>
            <a:r>
              <a:rPr lang="en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JSON </a:t>
            </a: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데이터를 </a:t>
            </a:r>
            <a:r>
              <a:rPr lang="ko-KR" altLang="en-US" sz="12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백엔드에서</a:t>
            </a: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요구하는 특정 포맷으로 변환할 수 있습니다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2. </a:t>
            </a:r>
            <a:r>
              <a:rPr lang="ko-KR" altLang="en-US" sz="12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보안</a:t>
            </a:r>
            <a:endParaRPr lang="ko-KR" altLang="en-US" sz="12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요청과 응답 사이에 보안 계층을 추가하여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en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API </a:t>
            </a: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키 검증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en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OAuth </a:t>
            </a: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인증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데이터 암호화 등을 처리할 수 있습니다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3. </a:t>
            </a:r>
            <a:r>
              <a:rPr lang="ko-KR" altLang="en-US" sz="12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로깅 및 모니터링</a:t>
            </a:r>
            <a:endParaRPr lang="ko-KR" altLang="en-US" sz="12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시스템의 성능을 모니터링하고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로그를 기록하여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문제 해결 및 최적화에 필요한 정보를 제공합니다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4. </a:t>
            </a:r>
            <a:r>
              <a:rPr lang="ko-KR" altLang="en-US" sz="12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레이트</a:t>
            </a:r>
            <a:r>
              <a:rPr lang="ko-KR" altLang="en-US" sz="12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</a:t>
            </a:r>
            <a:r>
              <a:rPr lang="ko-KR" altLang="en-US" sz="12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리밋팅</a:t>
            </a:r>
            <a:r>
              <a:rPr lang="ko-KR" altLang="en-US" sz="12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및 </a:t>
            </a:r>
            <a:r>
              <a:rPr lang="ko-KR" altLang="en-US" sz="12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쓰로틀링</a:t>
            </a:r>
            <a:endParaRPr lang="ko-KR" altLang="en-US" sz="12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서버에 대한 요청의 수를 제한하여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과도한 트래픽으로 인한 서버 다운을 방지합니다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5. </a:t>
            </a:r>
            <a:r>
              <a:rPr lang="ko-KR" altLang="en-US" sz="12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캐싱</a:t>
            </a:r>
            <a:endParaRPr lang="ko-KR" altLang="en-US" sz="12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자주 요청되는 데이터나 결과를 임시로 저장하여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성능을 향상시키고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2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백엔드</a:t>
            </a: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서버의 부하를 줄일 수 있습니다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ko-KR" altLang="en-US" sz="12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구현 방법</a:t>
            </a:r>
          </a:p>
          <a:p>
            <a:pPr algn="l"/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미들웨어 계층을 구현하는 방법은 여러 가지가 있지만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가장 일반적인 방법 중 하나는 </a:t>
            </a:r>
            <a:r>
              <a:rPr lang="en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API </a:t>
            </a: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게이트웨이를 사용하는 것입니다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 </a:t>
            </a:r>
            <a:r>
              <a:rPr lang="en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API </a:t>
            </a: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게이트웨이는 클라이언트와 </a:t>
            </a:r>
            <a:r>
              <a:rPr lang="ko-KR" altLang="en-US" sz="12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백엔드</a:t>
            </a: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서비스 사이의 중앙 집중형 진입 지점으로 작동하며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위에서 언급한 미들웨어의 모든 역할을 수행할 수 있습니다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예시 기술 스택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ko-KR" sz="12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API </a:t>
            </a:r>
            <a:r>
              <a:rPr lang="ko-KR" altLang="en-US" sz="12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게이트웨이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: </a:t>
            </a:r>
            <a:r>
              <a:rPr lang="en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Amazon API Gateway, Kong, </a:t>
            </a:r>
            <a:r>
              <a:rPr lang="en" altLang="ko-KR" sz="12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Zuul</a:t>
            </a:r>
            <a:r>
              <a:rPr lang="en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</a:t>
            </a: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등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2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인증 및 권한 부여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: </a:t>
            </a:r>
            <a:r>
              <a:rPr lang="en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OAuth2, JWT (JSON Web Tokens)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2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로깅 및 모니터링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: </a:t>
            </a:r>
            <a:r>
              <a:rPr lang="en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ELK </a:t>
            </a: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스택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(</a:t>
            </a:r>
            <a:r>
              <a:rPr lang="en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Elasticsearch, Logstash, Kibana), Prometheus + Grafana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2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캐싱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: </a:t>
            </a:r>
            <a:r>
              <a:rPr lang="en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Redis, Memcached</a:t>
            </a:r>
          </a:p>
          <a:p>
            <a:pPr algn="l"/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미들웨어를 설계할 때는 시스템의 전체적인 아키텍처와 요구 사항을 고려하여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필요한 기능과 서비스를 결정하고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각각의 구성 요소를 어떻게 통합할지 계획하는 것이 중요합니다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 </a:t>
            </a: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또한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보안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확장성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유지 관리의 용이성 등도 중요한 고려 사항입니다</a:t>
            </a:r>
            <a:r>
              <a:rPr lang="en-US" altLang="ko-KR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9280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06B634-D20F-CE45-392A-2622575BF674}"/>
              </a:ext>
            </a:extLst>
          </p:cNvPr>
          <p:cNvSpPr txBox="1"/>
          <p:nvPr/>
        </p:nvSpPr>
        <p:spPr>
          <a:xfrm>
            <a:off x="756745" y="1159972"/>
            <a:ext cx="6096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프론트엔드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서버를 위한 미들웨어</a:t>
            </a: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öhne"/>
              </a:rPr>
              <a:t> 역할</a:t>
            </a:r>
            <a:endParaRPr lang="en-US" altLang="ko-KR" sz="1000" b="1" dirty="0">
              <a:solidFill>
                <a:schemeClr val="tx1">
                  <a:lumMod val="95000"/>
                  <a:lumOff val="5000"/>
                </a:schemeClr>
              </a:solidFill>
              <a:latin typeface="Söhne"/>
            </a:endParaRPr>
          </a:p>
          <a:p>
            <a:pPr algn="l"/>
            <a:endParaRPr lang="en-US" altLang="ko-KR" sz="1000" b="1" dirty="0">
              <a:solidFill>
                <a:schemeClr val="tx1">
                  <a:lumMod val="95000"/>
                  <a:lumOff val="5000"/>
                </a:schemeClr>
              </a:solidFill>
              <a:latin typeface="Söhne"/>
            </a:endParaRP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1. 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서버사이드 렌더링</a:t>
            </a:r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(</a:t>
            </a:r>
            <a:r>
              <a:rPr lang="en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SSR) 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지원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ko-KR" sz="1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Next.js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와 같은 프레임워크는 서버사이드 렌더링을 지원합니다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미들웨어는 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SSR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요청을 처리하고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프론트엔드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서버에서 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렌더링된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페이지를 클라이언트에게 전달하는 역할을 할 수 있습니다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2. </a:t>
            </a:r>
            <a:r>
              <a:rPr lang="en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API 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라우팅 및 </a:t>
            </a:r>
            <a:r>
              <a:rPr lang="ko-KR" altLang="en-US" sz="1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프록싱</a:t>
            </a:r>
            <a:endParaRPr lang="ko-KR" altLang="en-US" sz="1000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프론트엔드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애플리케이션에서 다양한 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백엔드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API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로의 요청을 관리하고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적절한 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API 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엔드포인트로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라우팅합니다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이를 통해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프론트엔드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개발자는 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백엔드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서비스의 복잡성을 신경 쓰지 않고 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API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를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사용할 수 있습니다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3. 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보안 강화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CORS (Cross-Origin Resource Sharing)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: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다른 도메인 간의 리소스 요청을 허용하기 위해 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CORS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정책을 관리합니다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CSRF (Cross-Site Request Forgery)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및 </a:t>
            </a:r>
            <a:r>
              <a:rPr lang="en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XSS (Cross-Site Scripting)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공격 방지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: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웹 애플리케이션을 보호하기 위한 방어 메커니즘을 제공합니다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4. 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사용자 인증 및 권한 부여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JWT (JSON Web Tokens)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또는 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OAuth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를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사용하여 사용자 인증을 관리합니다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미들웨어는 토큰 기반 인증을 처리하여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API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요청이 인증된 사용자에 의해 이루어지는지 확인합니다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5. 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데이터 변환 및 검증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클라이언트에서 보내는 데이터 형식을 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백엔드가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요구하는 형식으로 변환하거나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데이터를 검증하여 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API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요청의 유효성을 검사합니다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6. 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로드 </a:t>
            </a:r>
            <a:r>
              <a:rPr lang="ko-KR" altLang="en-US" sz="1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밸런싱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및 </a:t>
            </a:r>
            <a:r>
              <a:rPr lang="ko-KR" altLang="en-US" sz="1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캐싱</a:t>
            </a:r>
            <a:endParaRPr lang="ko-KR" altLang="en-US" sz="1000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사용자 요청을 여러 서버에 균등하게 분배하여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시스템의 부하를 줄이고 응답 시간을 단축합니다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자주 사용되는 데이터를 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캐시하여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백엔드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서버의 부하를 줄이고 성능을 향상시킵니다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7. 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국제화 및 지역화 지원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다국어 지원을 위해 요청에 따라 적절한 언어 및 지역 설정을 제공합니다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이는 글로벌 시장을 대상으로 하는 애플리케이션에 매우 중요할 수 있습니다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이러한 기능들은 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프론트엔드의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확장성을 보장하고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다양한 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프론트엔드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프레임워크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/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라이브러리와의 통합을 용이하게 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또한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미들웨어를 통해 보안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성능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사용성 등의 측면에서 애플리케이션의 전반적인 품질을 향상시킬 수 있습니다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8212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41BAB2-6EF2-DEC9-AB1C-E6E59EE3C7FA}"/>
              </a:ext>
            </a:extLst>
          </p:cNvPr>
          <p:cNvSpPr txBox="1"/>
          <p:nvPr/>
        </p:nvSpPr>
        <p:spPr>
          <a:xfrm>
            <a:off x="767255" y="763629"/>
            <a:ext cx="60960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어플리케이션 </a:t>
            </a: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öhne"/>
              </a:rPr>
              <a:t>서버를 위한 미들웨어 역할</a:t>
            </a:r>
            <a:endParaRPr lang="en-US" altLang="ko-KR" sz="1000" b="1" dirty="0">
              <a:solidFill>
                <a:schemeClr val="tx1">
                  <a:lumMod val="95000"/>
                  <a:lumOff val="5000"/>
                </a:schemeClr>
              </a:solidFill>
              <a:latin typeface="Söhne"/>
            </a:endParaRPr>
          </a:p>
          <a:p>
            <a:pPr algn="l"/>
            <a:endParaRPr lang="en-US" altLang="ko-KR" sz="1000" b="1" dirty="0">
              <a:solidFill>
                <a:schemeClr val="tx1">
                  <a:lumMod val="95000"/>
                  <a:lumOff val="5000"/>
                </a:schemeClr>
              </a:solidFill>
              <a:latin typeface="Söhne"/>
            </a:endParaRP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1. 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데이터 파싱 및 변환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클라이언트로부터 받은 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JSON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데이터를 서버가 이해할 수 있는 형태로 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파싱합니다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반대로 서버에서 클라이언트로 데이터를 보낼 때는 서버의 데이터를 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JSON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형태로 변환해 주는 역할도 수행합니다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2. 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데이터 검증 및 </a:t>
            </a:r>
            <a:r>
              <a:rPr lang="ko-KR" altLang="en-US" sz="1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새니타이징</a:t>
            </a:r>
            <a:endParaRPr lang="ko-KR" altLang="en-US" sz="1000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요청된 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JSON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데이터의 유효성을 검사하여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데이터 구조가 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올바른지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필수 필드가 모두 포함되어 있는지 등을 확인합니다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또한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새니타이징을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통해 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XSS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공격 등 보안에 취약한 요소를 제거합니다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ko-KR" sz="1000" dirty="0">
                <a:solidFill>
                  <a:srgbClr val="46788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dev-tips/Spring</a:t>
            </a:r>
            <a:r>
              <a:rPr lang="ko-KR" altLang="en-US" sz="1000" dirty="0">
                <a:solidFill>
                  <a:srgbClr val="46788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에서 </a:t>
            </a:r>
            <a:r>
              <a:rPr lang="en" altLang="ko-KR" sz="1000" dirty="0">
                <a:solidFill>
                  <a:srgbClr val="46788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JSON</a:t>
            </a:r>
            <a:r>
              <a:rPr lang="ko-KR" altLang="en-US" sz="1000" dirty="0">
                <a:solidFill>
                  <a:srgbClr val="46788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에 </a:t>
            </a:r>
            <a:r>
              <a:rPr lang="en" altLang="ko-KR" sz="1000" dirty="0">
                <a:solidFill>
                  <a:srgbClr val="46788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XSS </a:t>
            </a:r>
            <a:r>
              <a:rPr lang="ko-KR" altLang="en-US" sz="1000" dirty="0">
                <a:solidFill>
                  <a:srgbClr val="46788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방지 처리 하기</a:t>
            </a:r>
            <a:r>
              <a:rPr lang="en-US" altLang="ko-KR" sz="1000" dirty="0">
                <a:solidFill>
                  <a:srgbClr val="46788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en" altLang="ko-KR" sz="1000" dirty="0">
                <a:solidFill>
                  <a:srgbClr val="C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 at master · HomoEfficio/dev-tips · GitHub</a:t>
            </a:r>
            <a:endParaRPr lang="en-US" altLang="ko-KR" sz="1000" b="0" i="0" dirty="0">
              <a:solidFill>
                <a:srgbClr val="C00000"/>
              </a:solidFill>
              <a:effectLst/>
              <a:latin typeface="Söhne"/>
            </a:endParaRP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3. </a:t>
            </a:r>
            <a:r>
              <a:rPr lang="en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API </a:t>
            </a:r>
            <a:r>
              <a:rPr lang="ko-KR" altLang="en-US" sz="1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레이트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</a:t>
            </a:r>
            <a:r>
              <a:rPr lang="ko-KR" altLang="en-US" sz="1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리밋팅</a:t>
            </a:r>
            <a:endParaRPr lang="ko-KR" altLang="en-US" sz="1000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서버에 대한 요청 수를 제한하여 과부하를 방지합니다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특히 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API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를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통해 대량의 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JSON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데이터를 처리할 때 중요한 기능입니다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ko-KR" altLang="en-US" sz="1000" dirty="0">
                <a:solidFill>
                  <a:srgbClr val="C00000"/>
                </a:solidFill>
                <a:latin typeface="Söhne"/>
              </a:rPr>
              <a:t>구현필요</a:t>
            </a:r>
            <a:endParaRPr lang="en-US" altLang="ko-KR" sz="1000" b="0" i="0" dirty="0">
              <a:solidFill>
                <a:srgbClr val="C00000"/>
              </a:solidFill>
              <a:effectLst/>
              <a:latin typeface="Söhne"/>
            </a:endParaRP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4. </a:t>
            </a:r>
            <a:r>
              <a:rPr lang="en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CORS 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정책 관리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다른 도메인에서 서버로의 요청을 허용하거나 제한하는 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CORS(Cross-Origin Resource Sharing)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정책을 관리합니다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 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JSON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데이터를 다루는 웹 서비스에서는 필수적인 보안 조치 중 하나입니다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0" i="0" dirty="0" err="1">
                <a:solidFill>
                  <a:srgbClr val="C00000"/>
                </a:solidFill>
                <a:effectLst/>
                <a:latin typeface="Söhne"/>
              </a:rPr>
              <a:t>전자정부프레임워크에서는</a:t>
            </a:r>
            <a:r>
              <a:rPr lang="ko-KR" altLang="en-US" sz="1000" b="0" i="0" dirty="0">
                <a:solidFill>
                  <a:srgbClr val="C00000"/>
                </a:solidFill>
                <a:effectLst/>
                <a:latin typeface="Söhne"/>
              </a:rPr>
              <a:t> 설정파일에서 정의</a:t>
            </a:r>
            <a:endParaRPr lang="en-US" altLang="ko-KR" sz="1000" b="0" i="0" dirty="0">
              <a:solidFill>
                <a:srgbClr val="C00000"/>
              </a:solidFill>
              <a:effectLst/>
              <a:latin typeface="Söhne"/>
            </a:endParaRP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5. 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에러 핸들링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데이터 처리 과정에서 발생할 수 있는 에러를 적절히 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핸들링하여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클라이언트에게 명확한 에러 메시지와 상태 코드를 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JSON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형태로 반환합니다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6. </a:t>
            </a:r>
            <a:r>
              <a:rPr lang="ko-KR" altLang="en-US" sz="1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캐싱</a:t>
            </a:r>
            <a:endParaRPr lang="ko-KR" altLang="en-US" sz="1000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자주 요청되는 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JSON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데이터를 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캐시하여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서버의 처리 부하를 줄이고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응답 속도를 향상시킵니다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7. 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로그 기록 및 모니터링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JSON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데이터 요청 및 응답을 로그로 기록하여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시스템의 성능 모니터링과 문제 해결에 필요한 데이터를 제공합니다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8. 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인증 및 권한 부여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JSON Web Tokens(JWT)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또는 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OAuth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를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활용하여 사용자 인증을 처리하고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요청된 데이터에 대한 접근 권한을 검증합니다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9. 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데이터 압축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대량의 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JSON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데이터를 클라이언트로 전송할 때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데이터 압축을 통해 전송 시간을 단축하고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대역폭 사용을 최적화합니다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이러한 미들웨어 기능들은 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JSON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데이터를 중심으로 한 서버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-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클라이언트 통신에서 효율성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보안성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사용성을 대폭 향상시킬 수 있습니다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미들웨어는 서버와 클라이언트 사이에서 데이터를 적절히 처리하고 전달하는 데 필수적인 역할을 하며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이를 통해 개발자는 보다 안정적이고 확장 가능한 애플리케이션을 구축할 수 있습니다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7746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7A8A5-28FD-6F74-A663-202644BE057C}"/>
              </a:ext>
            </a:extLst>
          </p:cNvPr>
          <p:cNvSpPr txBox="1"/>
          <p:nvPr/>
        </p:nvSpPr>
        <p:spPr>
          <a:xfrm>
            <a:off x="756745" y="707347"/>
            <a:ext cx="6096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기타</a:t>
            </a:r>
            <a:endParaRPr lang="en-US" altLang="ko-KR" sz="10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öhne"/>
            </a:endParaRPr>
          </a:p>
          <a:p>
            <a:pPr algn="l"/>
            <a:endParaRPr lang="en-US" altLang="ko-KR" sz="1000" dirty="0">
              <a:solidFill>
                <a:schemeClr val="tx1">
                  <a:lumMod val="95000"/>
                  <a:lumOff val="5000"/>
                </a:schemeClr>
              </a:solidFill>
              <a:latin typeface="Söhne"/>
            </a:endParaRPr>
          </a:p>
          <a:p>
            <a:pPr algn="l"/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시스템 관리자 설정 화면에서 다양한 유형의 요청 데이터 처리 방식을 정의하고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이를 필터에서 실시간으로 반영하는 구조를 구상하는 것은 유연한 시스템을 구축하는 좋은 접근 방법입니다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이 방식은 아래와 같은 과정을 포함할 수 있습니다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:</a:t>
            </a: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1. 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설정 관리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설정 화면에서 관리자는 요청 데이터 처리 방식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(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일반 파라메터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JSON, Multipart)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을 선택합니다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이 설정은 데이터베이스나 설정 파일 등에 저장되어야 하며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필터에서 액세스할 수 있어야 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2. 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필터 구현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HTTP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요청을 가로채는 필터를 구현합니다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필터는 설정을 조회하여 현재 정의된 요청 데이터 처리 방식을 확인합니다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필터는 요청의 컨텐츠 타입을 확인하고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설정에 따라 적절하게 요청 데이터를 변환합니다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3. 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실시간 설정 적용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설정이 변경될 때마다 필터가 이를 인지할 수 있도록 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리스너나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폴링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메커니즘을 구현합니다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필터는 변경된 설정을 즉시 반영하여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요청 데이터 처리 방식을 동적으로 조정합니다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4. 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데이터 변환 및 검증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변환된 데이터는 검증 과정을 거쳐야 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서버는 변환된 데이터가 예상되는 형식과 일치하는지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필요한 필드를 포함하고 있는지 확인해야 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5. 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예외 처리 및 로깅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변환 과정에서 발생할 수 있는 예외를 적절히 처리하고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필요한 정보를 로깅합니다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이 방식의 주요 장점은 시스템이 다양한 클라이언트 요구사항에 대응할 수 있다는 것과 관리자가 시스템을 재배포하지 않고도 요청 처리 방식을 쉽게 변경할 수 있다는 점입니다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하지만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이런 유연성을 달성하기 위해서는 다음과 같은 고려 사항들이 있습니다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성능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: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설정을 실시간으로 반영하기 위한 메커니즘은 시스템의 성능에 영향을 줄 수 있습니다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설정 조회가 요청 처리 시간에 추가되므로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이 부분을 최적화할 필요가 있습니다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보안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: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데이터 변환 로직은 보안 취약점을 도입할 수 있으므로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보안 검토 및 적절한 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새니타이징과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검증이 매우 중요합니다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복잡성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: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시스템의 복잡성이 증가하고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디버깅과 유지보수가 더 어려워질 수 있습니다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잘 정의된 프로세스와 문서화가 필요합니다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테스트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: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다양한 설정에 대해 광범위한 테스트를 수행하여 시스템의 안정성을 보장해야 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6507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F9E314-9BCC-1442-08EF-A1129925EA43}"/>
              </a:ext>
            </a:extLst>
          </p:cNvPr>
          <p:cNvSpPr txBox="1"/>
          <p:nvPr/>
        </p:nvSpPr>
        <p:spPr>
          <a:xfrm>
            <a:off x="756745" y="707347"/>
            <a:ext cx="7567448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기타</a:t>
            </a:r>
            <a:endParaRPr lang="en-US" altLang="ko-KR" sz="10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öhne"/>
            </a:endParaRPr>
          </a:p>
          <a:p>
            <a:pPr algn="l"/>
            <a:endParaRPr lang="en-US" altLang="ko-KR" sz="1000" dirty="0">
              <a:solidFill>
                <a:schemeClr val="tx1">
                  <a:lumMod val="95000"/>
                  <a:lumOff val="5000"/>
                </a:schemeClr>
              </a:solidFill>
              <a:latin typeface="Söhne"/>
            </a:endParaRPr>
          </a:p>
          <a:p>
            <a:pPr algn="l"/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데이터 압축 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: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서버를 어플리케이션 서버로 웹 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/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와스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다 사용 할 경우 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스프링부트의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설정으로 변경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할 수 있게 한다</a:t>
            </a:r>
            <a:endParaRPr lang="en-US" altLang="ko-KR" sz="10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öhne"/>
            </a:endParaRPr>
          </a:p>
          <a:p>
            <a:pPr algn="l"/>
            <a:r>
              <a:rPr lang="en-US" altLang="ko-KR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server.compression.enabled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=true</a:t>
            </a:r>
          </a:p>
          <a:p>
            <a:pPr algn="l"/>
            <a:r>
              <a:rPr lang="en-US" altLang="ko-KR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server.compression.mime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-types=application/</a:t>
            </a:r>
            <a:r>
              <a:rPr lang="en-US" altLang="ko-KR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json,application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/</a:t>
            </a:r>
            <a:r>
              <a:rPr lang="en-US" altLang="ko-KR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xml,text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/</a:t>
            </a:r>
            <a:r>
              <a:rPr lang="en-US" altLang="ko-KR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html,text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/</a:t>
            </a:r>
            <a:r>
              <a:rPr lang="en-US" altLang="ko-KR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xml,text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/plain</a:t>
            </a:r>
          </a:p>
          <a:p>
            <a:pPr algn="l"/>
            <a:endParaRPr lang="en-US" altLang="ko-KR" sz="1000" dirty="0">
              <a:solidFill>
                <a:schemeClr val="tx1">
                  <a:lumMod val="95000"/>
                  <a:lumOff val="5000"/>
                </a:schemeClr>
              </a:solidFill>
              <a:latin typeface="Söhne"/>
            </a:endParaRPr>
          </a:p>
          <a:p>
            <a:pPr algn="l"/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öhne"/>
              </a:rPr>
              <a:t>스프링만 사용 할 경우 </a:t>
            </a:r>
            <a:endParaRPr lang="en-US" altLang="ko-KR" sz="1000" dirty="0">
              <a:solidFill>
                <a:schemeClr val="tx1">
                  <a:lumMod val="95000"/>
                  <a:lumOff val="5000"/>
                </a:schemeClr>
              </a:solidFill>
              <a:latin typeface="Söhne"/>
            </a:endParaRPr>
          </a:p>
          <a:p>
            <a:pPr algn="l"/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&lt;Connector port="8080" protocol="HTTP/1.1"</a:t>
            </a:r>
          </a:p>
          <a:p>
            <a:pPr algn="l"/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          </a:t>
            </a:r>
            <a:r>
              <a:rPr lang="en-US" altLang="ko-KR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connectionTimeout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="20000"</a:t>
            </a:r>
          </a:p>
          <a:p>
            <a:pPr algn="l"/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          </a:t>
            </a:r>
            <a:r>
              <a:rPr lang="en-US" altLang="ko-KR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redirectPort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="8443"</a:t>
            </a:r>
          </a:p>
          <a:p>
            <a:pPr algn="l"/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          compression="on"</a:t>
            </a:r>
          </a:p>
          <a:p>
            <a:pPr algn="l"/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          </a:t>
            </a:r>
            <a:r>
              <a:rPr lang="en-US" altLang="ko-KR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compressionMinSize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="256"</a:t>
            </a:r>
          </a:p>
          <a:p>
            <a:pPr algn="l"/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          </a:t>
            </a:r>
            <a:r>
              <a:rPr lang="en-US" altLang="ko-KR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noCompressionUserAgents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="</a:t>
            </a:r>
            <a:r>
              <a:rPr lang="en-US" altLang="ko-KR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gozilla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en-US" altLang="ko-KR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traviata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"</a:t>
            </a:r>
          </a:p>
          <a:p>
            <a:pPr algn="l"/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          </a:t>
            </a:r>
            <a:r>
              <a:rPr lang="en-US" altLang="ko-KR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compressableMimeType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="text/</a:t>
            </a:r>
            <a:r>
              <a:rPr lang="en-US" altLang="ko-KR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html,text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/</a:t>
            </a:r>
            <a:r>
              <a:rPr lang="en-US" altLang="ko-KR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xml,text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/</a:t>
            </a:r>
            <a:r>
              <a:rPr lang="en-US" altLang="ko-KR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plain,application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/</a:t>
            </a:r>
            <a:r>
              <a:rPr lang="en-US" altLang="ko-KR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json,application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/xml" /&gt;</a:t>
            </a:r>
          </a:p>
          <a:p>
            <a:pPr algn="l"/>
            <a:endParaRPr lang="en-US" altLang="ko-KR" sz="10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142936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1DC75B-8FBF-745F-AC75-4F0EB5937775}"/>
              </a:ext>
            </a:extLst>
          </p:cNvPr>
          <p:cNvSpPr txBox="1"/>
          <p:nvPr/>
        </p:nvSpPr>
        <p:spPr>
          <a:xfrm>
            <a:off x="861849" y="402041"/>
            <a:ext cx="6096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프록시</a:t>
            </a:r>
            <a:endParaRPr lang="en-US" altLang="ko-KR" sz="1000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öhne"/>
            </a:endParaRPr>
          </a:p>
          <a:p>
            <a:pPr algn="l"/>
            <a:endParaRPr lang="en-US" altLang="ko-KR" sz="1000" b="1" dirty="0">
              <a:solidFill>
                <a:schemeClr val="tx1">
                  <a:lumMod val="95000"/>
                  <a:lumOff val="5000"/>
                </a:schemeClr>
              </a:solidFill>
              <a:latin typeface="Söhne"/>
            </a:endParaRP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1. 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요청 및 응답 중계</a:t>
            </a:r>
          </a:p>
          <a:p>
            <a:pPr algn="l"/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어플리케이션 프록시는 클라이언트로부터 받은 요청을 적절한 서버로 전달하고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그 서버로부터의 응답을 다시 클라이언트에게 전달합니다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이 과정에서 프록시는 요청 및 응답 데이터를 조작하거나 분석할 수 있습니다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2. 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서비스 추상화</a:t>
            </a:r>
          </a:p>
          <a:p>
            <a:pPr algn="l"/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프록시는 클라이언트와 서비스 사이의 구체적인 세부 사항을 숨깁니다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클라이언트는 실제 서비스의 위치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프로토콜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구현 세부 사항을 알 필요 없이 프록시를 통해 서비스를 사용할 수 있습니다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3. 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로드 </a:t>
            </a:r>
            <a:r>
              <a:rPr lang="ko-KR" altLang="en-US" sz="1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밸런싱</a:t>
            </a:r>
            <a:endParaRPr lang="ko-KR" altLang="en-US" sz="1000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öhne"/>
            </a:endParaRPr>
          </a:p>
          <a:p>
            <a:pPr algn="l"/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어플리케이션 프록시는 여러 서버 인스턴스에 걸쳐 요청을 분산하여 로드 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밸런싱을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수행할 수 있으며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이는 서비스의 가용성과 성능을 향상시키는 데 기여합니다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4. </a:t>
            </a:r>
            <a:r>
              <a:rPr lang="ko-KR" altLang="en-US" sz="1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캐싱</a:t>
            </a:r>
            <a:endParaRPr lang="ko-KR" altLang="en-US" sz="1000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öhne"/>
            </a:endParaRPr>
          </a:p>
          <a:p>
            <a:pPr algn="l"/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프록시는 자주 요청되는 데이터를 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캐시하여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반복된 요청에 대해 빠른 응답을 제공하고 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백엔드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서버의 부하를 감소시킵니다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5. 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보안</a:t>
            </a:r>
          </a:p>
          <a:p>
            <a:pPr algn="l"/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프록시는 요청을 검사하여 악의적인 트래픽을 필터링하고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특정 보안 규칙이나 정책을 적용하여 애플리케이션의 보안을 강화할 수 있습니다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6. 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연결 관리</a:t>
            </a:r>
          </a:p>
          <a:p>
            <a:pPr algn="l"/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네트워크 리소스를 효율적으로 사용하기 위해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프록시는 여러 클라이언트 요청에 대해 단일 연결을 재사용하거나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연결 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풀링을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구현할 수 있습니다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7. 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프로토콜 변환</a:t>
            </a:r>
          </a:p>
          <a:p>
            <a:pPr algn="l"/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클라이언트와 서버가 다른 통신 프로토콜을 사용하는 경우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프록시는 이 둘 사이의 프로토콜 변환을 처리할 수 있습니다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8. </a:t>
            </a:r>
            <a:r>
              <a:rPr lang="ko-KR" altLang="en-US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오류 처리 및 장애 전환</a:t>
            </a:r>
          </a:p>
          <a:p>
            <a:pPr algn="l"/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서버에 문제가 발생했을 때 프록시는 오류를 클라이언트에게 알리거나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요청을 백업 서버로 자동으로 전환하여 서비스의 연속성을 유지할 수 있습니다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endParaRPr lang="en-US" altLang="ko-KR" sz="1000" dirty="0">
              <a:solidFill>
                <a:schemeClr val="tx1">
                  <a:lumMod val="95000"/>
                  <a:lumOff val="5000"/>
                </a:schemeClr>
              </a:solidFill>
              <a:latin typeface="Söhne"/>
            </a:endParaRPr>
          </a:p>
          <a:p>
            <a:pPr algn="l"/>
            <a:endParaRPr lang="en-US" altLang="ko-KR" sz="10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öhne"/>
            </a:endParaRPr>
          </a:p>
          <a:p>
            <a:pPr algn="l"/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스프링 클라우드를 사용하면 다음과 같이 로드 </a:t>
            </a:r>
            <a:r>
              <a:rPr lang="ko-KR" altLang="en-US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밸런싱을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구현할 수 있습니다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:</a:t>
            </a:r>
          </a:p>
          <a:p>
            <a:pPr algn="l"/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@Configuration</a:t>
            </a:r>
          </a:p>
          <a:p>
            <a:pPr algn="l"/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public class </a:t>
            </a:r>
            <a:r>
              <a:rPr lang="en-US" altLang="ko-KR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MyConfiguration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{</a:t>
            </a:r>
          </a:p>
          <a:p>
            <a:pPr algn="l"/>
            <a:endParaRPr lang="en-US" altLang="ko-KR" sz="10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öhne"/>
            </a:endParaRPr>
          </a:p>
          <a:p>
            <a:pPr algn="l"/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   @</a:t>
            </a:r>
            <a:r>
              <a:rPr lang="en-US" altLang="ko-KR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LoadBalanced</a:t>
            </a:r>
            <a:endParaRPr lang="en-US" altLang="ko-KR" sz="10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öhne"/>
            </a:endParaRPr>
          </a:p>
          <a:p>
            <a:pPr algn="l"/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   @Bean</a:t>
            </a:r>
          </a:p>
          <a:p>
            <a:pPr algn="l"/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   public </a:t>
            </a:r>
            <a:r>
              <a:rPr lang="en-US" altLang="ko-KR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RestTemplate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</a:t>
            </a:r>
            <a:r>
              <a:rPr lang="en-US" altLang="ko-KR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restTemplate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() {</a:t>
            </a:r>
          </a:p>
          <a:p>
            <a:pPr algn="l"/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       return new </a:t>
            </a:r>
            <a:r>
              <a:rPr lang="en-US" altLang="ko-KR" sz="10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RestTemplate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();</a:t>
            </a:r>
          </a:p>
          <a:p>
            <a:pPr algn="l"/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   }</a:t>
            </a:r>
          </a:p>
          <a:p>
            <a:pPr algn="l"/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05B299-21FF-840B-5186-666FA39AAA32}"/>
              </a:ext>
            </a:extLst>
          </p:cNvPr>
          <p:cNvSpPr txBox="1"/>
          <p:nvPr/>
        </p:nvSpPr>
        <p:spPr>
          <a:xfrm>
            <a:off x="6863255" y="769570"/>
            <a:ext cx="44668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Round Robin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: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요청을 순서대로 각 서버에 분배합니다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Least Connections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: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가장 적은 연결을 가진 서버에 요청을 분배합니다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ko-KR" sz="1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IP Hash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: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클라이언트의 </a:t>
            </a:r>
            <a:r>
              <a:rPr lang="en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IP </a:t>
            </a:r>
            <a:r>
              <a:rPr lang="ko-KR" alt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주소를 기반으로 서버를 선택합니다</a:t>
            </a:r>
            <a:r>
              <a:rPr lang="en-US" altLang="ko-KR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179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FEC2DF0-B7AB-4275-35C7-05596486021E}"/>
              </a:ext>
            </a:extLst>
          </p:cNvPr>
          <p:cNvSpPr txBox="1"/>
          <p:nvPr/>
        </p:nvSpPr>
        <p:spPr>
          <a:xfrm>
            <a:off x="789708" y="819788"/>
            <a:ext cx="1041169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0" i="0" dirty="0" err="1">
                <a:solidFill>
                  <a:srgbClr val="374151"/>
                </a:solidFill>
                <a:effectLst/>
                <a:latin typeface="ui-sans-serif"/>
              </a:rPr>
              <a:t>메트릭비트</a:t>
            </a:r>
            <a:r>
              <a:rPr lang="en-US" altLang="ko-KR" sz="1300" b="0" i="0" dirty="0">
                <a:solidFill>
                  <a:srgbClr val="374151"/>
                </a:solidFill>
                <a:effectLst/>
                <a:latin typeface="ui-sans-serif"/>
              </a:rPr>
              <a:t> : </a:t>
            </a:r>
            <a:r>
              <a:rPr lang="en" altLang="ko-KR" sz="1300" b="0" i="0" dirty="0">
                <a:solidFill>
                  <a:srgbClr val="374151"/>
                </a:solidFill>
                <a:effectLst/>
                <a:latin typeface="ui-sans-serif"/>
              </a:rPr>
              <a:t>CPU </a:t>
            </a:r>
            <a:r>
              <a:rPr lang="ko-KR" altLang="en-US" sz="1300" b="0" i="0" dirty="0">
                <a:solidFill>
                  <a:srgbClr val="374151"/>
                </a:solidFill>
                <a:effectLst/>
                <a:latin typeface="ui-sans-serif"/>
              </a:rPr>
              <a:t>사용량</a:t>
            </a:r>
            <a:r>
              <a:rPr lang="en-US" altLang="ko-KR" sz="1300" b="0" i="0" dirty="0">
                <a:solidFill>
                  <a:srgbClr val="374151"/>
                </a:solidFill>
                <a:effectLst/>
                <a:latin typeface="ui-sans-serif"/>
              </a:rPr>
              <a:t>, </a:t>
            </a:r>
            <a:r>
              <a:rPr lang="ko-KR" altLang="en-US" sz="1300" b="0" i="0" dirty="0">
                <a:solidFill>
                  <a:srgbClr val="374151"/>
                </a:solidFill>
                <a:effectLst/>
                <a:latin typeface="ui-sans-serif"/>
              </a:rPr>
              <a:t>메모리 사용량 및 네트워크 트래픽과 같은 시스템 및 애플리케이션 </a:t>
            </a:r>
            <a:r>
              <a:rPr lang="ko-KR" altLang="en-US" sz="1300" b="0" i="0" dirty="0" err="1">
                <a:solidFill>
                  <a:srgbClr val="374151"/>
                </a:solidFill>
                <a:effectLst/>
                <a:latin typeface="ui-sans-serif"/>
              </a:rPr>
              <a:t>메트릭을</a:t>
            </a:r>
            <a:r>
              <a:rPr lang="ko-KR" altLang="en-US" sz="1300" b="0" i="0" dirty="0">
                <a:solidFill>
                  <a:srgbClr val="374151"/>
                </a:solidFill>
                <a:effectLst/>
                <a:latin typeface="ui-sans-serif"/>
              </a:rPr>
              <a:t> 수집하고 분석을 위해 중앙 위치로 보내는 데 사용됩니다</a:t>
            </a:r>
            <a:r>
              <a:rPr lang="en-US" altLang="ko-KR" sz="1300" b="0" i="0" dirty="0">
                <a:solidFill>
                  <a:srgbClr val="374151"/>
                </a:solidFill>
                <a:effectLst/>
                <a:latin typeface="ui-sans-serif"/>
              </a:rPr>
              <a:t>.</a:t>
            </a:r>
            <a:endParaRPr lang="ko-KR" altLang="en-US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E4404E-ACDD-A398-9A6D-8100644CDDA0}"/>
              </a:ext>
            </a:extLst>
          </p:cNvPr>
          <p:cNvSpPr txBox="1"/>
          <p:nvPr/>
        </p:nvSpPr>
        <p:spPr>
          <a:xfrm>
            <a:off x="789707" y="1373970"/>
            <a:ext cx="1041169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0" i="0" dirty="0" err="1">
                <a:solidFill>
                  <a:srgbClr val="374151"/>
                </a:solidFill>
                <a:effectLst/>
                <a:highlight>
                  <a:srgbClr val="F9FBFC"/>
                </a:highlight>
                <a:latin typeface="ui-sans-serif"/>
              </a:rPr>
              <a:t>패킷비트</a:t>
            </a:r>
            <a:r>
              <a:rPr lang="en-US" altLang="ko-KR" sz="1300" b="0" i="0" dirty="0">
                <a:solidFill>
                  <a:srgbClr val="374151"/>
                </a:solidFill>
                <a:effectLst/>
                <a:highlight>
                  <a:srgbClr val="F9FBFC"/>
                </a:highlight>
                <a:latin typeface="ui-sans-serif"/>
              </a:rPr>
              <a:t>(</a:t>
            </a:r>
            <a:r>
              <a:rPr lang="en" altLang="ko-KR" sz="1300" b="0" i="0" dirty="0" err="1">
                <a:solidFill>
                  <a:srgbClr val="374151"/>
                </a:solidFill>
                <a:effectLst/>
                <a:highlight>
                  <a:srgbClr val="F9FBFC"/>
                </a:highlight>
                <a:latin typeface="ui-sans-serif"/>
              </a:rPr>
              <a:t>Packetbeat</a:t>
            </a:r>
            <a:r>
              <a:rPr lang="en" altLang="ko-KR" sz="1300" b="0" i="0" dirty="0">
                <a:solidFill>
                  <a:srgbClr val="374151"/>
                </a:solidFill>
                <a:effectLst/>
                <a:highlight>
                  <a:srgbClr val="F9FBFC"/>
                </a:highlight>
                <a:latin typeface="ui-sans-serif"/>
              </a:rPr>
              <a:t>) : HTTP </a:t>
            </a:r>
            <a:r>
              <a:rPr lang="ko-KR" altLang="en-US" sz="1300" b="0" i="0" dirty="0">
                <a:solidFill>
                  <a:srgbClr val="374151"/>
                </a:solidFill>
                <a:effectLst/>
                <a:highlight>
                  <a:srgbClr val="F9FBFC"/>
                </a:highlight>
                <a:latin typeface="ui-sans-serif"/>
              </a:rPr>
              <a:t>요청 및 응답</a:t>
            </a:r>
            <a:r>
              <a:rPr lang="en-US" altLang="ko-KR" sz="1300" b="0" i="0" dirty="0">
                <a:solidFill>
                  <a:srgbClr val="374151"/>
                </a:solidFill>
                <a:effectLst/>
                <a:highlight>
                  <a:srgbClr val="F9FBFC"/>
                </a:highlight>
                <a:latin typeface="ui-sans-serif"/>
              </a:rPr>
              <a:t>, </a:t>
            </a:r>
            <a:r>
              <a:rPr lang="en" altLang="ko-KR" sz="1300" b="0" i="0" dirty="0">
                <a:solidFill>
                  <a:srgbClr val="374151"/>
                </a:solidFill>
                <a:effectLst/>
                <a:highlight>
                  <a:srgbClr val="F9FBFC"/>
                </a:highlight>
                <a:latin typeface="ui-sans-serif"/>
              </a:rPr>
              <a:t>DNS </a:t>
            </a:r>
            <a:r>
              <a:rPr lang="ko-KR" altLang="en-US" sz="1300" b="0" i="0" dirty="0">
                <a:solidFill>
                  <a:srgbClr val="374151"/>
                </a:solidFill>
                <a:effectLst/>
                <a:highlight>
                  <a:srgbClr val="F9FBFC"/>
                </a:highlight>
                <a:latin typeface="ui-sans-serif"/>
              </a:rPr>
              <a:t>쿼리 및 </a:t>
            </a:r>
            <a:r>
              <a:rPr lang="en" altLang="ko-KR" sz="1300" b="0" i="0" dirty="0">
                <a:solidFill>
                  <a:srgbClr val="374151"/>
                </a:solidFill>
                <a:effectLst/>
                <a:highlight>
                  <a:srgbClr val="F9FBFC"/>
                </a:highlight>
                <a:latin typeface="ui-sans-serif"/>
              </a:rPr>
              <a:t>MySQL </a:t>
            </a:r>
            <a:r>
              <a:rPr lang="ko-KR" altLang="en-US" sz="1300" b="0" i="0" dirty="0">
                <a:solidFill>
                  <a:srgbClr val="374151"/>
                </a:solidFill>
                <a:effectLst/>
                <a:highlight>
                  <a:srgbClr val="F9FBFC"/>
                </a:highlight>
                <a:latin typeface="ui-sans-serif"/>
              </a:rPr>
              <a:t>쿼리와 같은 네트워크 데이터를 캡처하고 분석하는 데 사용됩니다</a:t>
            </a:r>
            <a:r>
              <a:rPr lang="en-US" altLang="ko-KR" sz="1300" b="0" i="0" dirty="0">
                <a:solidFill>
                  <a:srgbClr val="374151"/>
                </a:solidFill>
                <a:effectLst/>
                <a:highlight>
                  <a:srgbClr val="F9FBFC"/>
                </a:highlight>
                <a:latin typeface="ui-sans-serif"/>
              </a:rPr>
              <a:t>.</a:t>
            </a:r>
            <a:endParaRPr lang="ko-KR" altLang="en-US" sz="1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34B78E-66FF-C89C-A28F-9805FF3ED4D2}"/>
              </a:ext>
            </a:extLst>
          </p:cNvPr>
          <p:cNvSpPr txBox="1"/>
          <p:nvPr/>
        </p:nvSpPr>
        <p:spPr>
          <a:xfrm>
            <a:off x="789707" y="178960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0" i="0" dirty="0" err="1">
                <a:solidFill>
                  <a:srgbClr val="374151"/>
                </a:solidFill>
                <a:effectLst/>
                <a:highlight>
                  <a:srgbClr val="F9FBFC"/>
                </a:highlight>
                <a:latin typeface="ui-sans-serif"/>
              </a:rPr>
              <a:t>Auditbeat</a:t>
            </a:r>
            <a:r>
              <a:rPr lang="en" altLang="ko-KR" b="0" i="0" dirty="0">
                <a:solidFill>
                  <a:srgbClr val="374151"/>
                </a:solidFill>
                <a:effectLst/>
                <a:highlight>
                  <a:srgbClr val="F9FBFC"/>
                </a:highlight>
                <a:latin typeface="ui-sans-serif"/>
              </a:rPr>
              <a:t>: Linux </a:t>
            </a:r>
            <a:r>
              <a:rPr lang="ko-KR" altLang="en-US" b="0" i="0" dirty="0">
                <a:solidFill>
                  <a:srgbClr val="374151"/>
                </a:solidFill>
                <a:effectLst/>
                <a:highlight>
                  <a:srgbClr val="F9FBFC"/>
                </a:highlight>
                <a:latin typeface="ui-sans-serif"/>
              </a:rPr>
              <a:t>시스템에서 프로세스 및 파일 시스템 활동과 같은 감사 데이터를 수집하는 데 사용됩니다</a:t>
            </a:r>
            <a:r>
              <a:rPr lang="en-US" altLang="ko-KR" b="0" i="0" dirty="0">
                <a:solidFill>
                  <a:srgbClr val="374151"/>
                </a:solidFill>
                <a:effectLst/>
                <a:highlight>
                  <a:srgbClr val="F9FBFC"/>
                </a:highlight>
                <a:latin typeface="ui-sans-serif"/>
              </a:rPr>
              <a:t>.</a:t>
            </a:r>
          </a:p>
          <a:p>
            <a:endParaRPr lang="en-US" altLang="ko-KR" dirty="0">
              <a:solidFill>
                <a:srgbClr val="374151"/>
              </a:solidFill>
              <a:highlight>
                <a:srgbClr val="F9FBFC"/>
              </a:highlight>
              <a:latin typeface="ui-sans-serif"/>
            </a:endParaRPr>
          </a:p>
          <a:p>
            <a:endParaRPr lang="en-US" altLang="ko-KR" dirty="0">
              <a:solidFill>
                <a:srgbClr val="374151"/>
              </a:solidFill>
              <a:highlight>
                <a:srgbClr val="F9FBFC"/>
              </a:highlight>
              <a:latin typeface="ui-sans-serif"/>
            </a:endParaRPr>
          </a:p>
          <a:p>
            <a:endParaRPr lang="en-US" altLang="ko-KR" dirty="0">
              <a:solidFill>
                <a:srgbClr val="374151"/>
              </a:solidFill>
              <a:highlight>
                <a:srgbClr val="F9FBFC"/>
              </a:highlight>
              <a:latin typeface="ui-sans-serif"/>
            </a:endParaRPr>
          </a:p>
          <a:p>
            <a:r>
              <a:rPr lang="en-US" altLang="ko-KR" dirty="0" err="1">
                <a:solidFill>
                  <a:srgbClr val="374151"/>
                </a:solidFill>
                <a:highlight>
                  <a:srgbClr val="F9FBFC"/>
                </a:highlight>
                <a:latin typeface="ui-sans-serif"/>
              </a:rPr>
              <a:t>Opensearch</a:t>
            </a:r>
            <a:r>
              <a:rPr lang="en-US" altLang="ko-KR">
                <a:solidFill>
                  <a:srgbClr val="374151"/>
                </a:solidFill>
                <a:highlight>
                  <a:srgbClr val="F9FBFC"/>
                </a:highlight>
                <a:latin typeface="ui-sans-serif"/>
              </a:rPr>
              <a:t> – fluent-bit / reader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1700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C6FFD0-E6FC-789D-6F73-445D9360B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설치 메뉴얼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76A705-0E31-9501-DA91-E8725DE95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72897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5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DC79A8-D902-469B-3369-1827A631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73" y="196926"/>
            <a:ext cx="4157900" cy="9602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kumimoji="1" lang="ko-KR" altLang="en-US" sz="4800" dirty="0">
                <a:solidFill>
                  <a:srgbClr val="FFFFFF"/>
                </a:solidFill>
              </a:rPr>
              <a:t>사전 설치</a:t>
            </a:r>
            <a:endParaRPr kumimoji="1" lang="en-US" altLang="ko-KR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76755E-A386-9190-5031-3023C7F38451}"/>
              </a:ext>
            </a:extLst>
          </p:cNvPr>
          <p:cNvSpPr txBox="1"/>
          <p:nvPr/>
        </p:nvSpPr>
        <p:spPr>
          <a:xfrm>
            <a:off x="516411" y="1165099"/>
            <a:ext cx="111500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Host IP / Hostname 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등록이 필요함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샘플 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: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CentOS : /</a:t>
            </a:r>
            <a:r>
              <a:rPr kumimoji="1" lang="en-US" altLang="ko-KR" sz="1400" dirty="0" err="1">
                <a:solidFill>
                  <a:schemeClr val="bg1">
                    <a:lumMod val="85000"/>
                  </a:schemeClr>
                </a:solidFill>
              </a:rPr>
              <a:t>etc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/hosts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에 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Master / Hostname 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이름을 등록한다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endParaRPr kumimoji="1" lang="en-US" altLang="ko-KR" sz="1400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>
              <a:buAutoNum type="arabicPeriod"/>
            </a:pPr>
            <a:endParaRPr kumimoji="1" lang="en-US" altLang="ko-KR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42" name="모서리가 둥근 직사각형 541">
            <a:extLst>
              <a:ext uri="{FF2B5EF4-FFF2-40B4-BE49-F238E27FC236}">
                <a16:creationId xmlns:a16="http://schemas.microsoft.com/office/drawing/2014/main" id="{9BA2B171-2EFE-E830-A687-7C27C19D64E0}"/>
              </a:ext>
            </a:extLst>
          </p:cNvPr>
          <p:cNvSpPr/>
          <p:nvPr/>
        </p:nvSpPr>
        <p:spPr>
          <a:xfrm>
            <a:off x="524570" y="1811982"/>
            <a:ext cx="4757650" cy="2929045"/>
          </a:xfrm>
          <a:prstGeom prst="roundRect">
            <a:avLst>
              <a:gd name="adj" fmla="val 22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IP </a:t>
            </a:r>
            <a:r>
              <a:rPr lang="ko-KR" altLang="en-US" sz="16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확인</a:t>
            </a:r>
            <a:endParaRPr lang="en-US" altLang="ko-KR" sz="1600" dirty="0">
              <a:solidFill>
                <a:schemeClr val="accent2"/>
              </a:solidFill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r>
              <a:rPr lang="en-US" altLang="ko-KR" sz="13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ifconfig</a:t>
            </a:r>
            <a:endParaRPr lang="en" altLang="ko-KR" sz="13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endParaRPr lang="en-US" altLang="ko-KR" dirty="0">
              <a:solidFill>
                <a:schemeClr val="accent2"/>
              </a:solidFill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r>
              <a:rPr lang="en-US" altLang="ko-KR" sz="16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Hostname </a:t>
            </a:r>
            <a:r>
              <a:rPr lang="ko-KR" altLang="en-US" sz="16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확인</a:t>
            </a:r>
            <a:endParaRPr lang="en-US" altLang="ko-KR" sz="1600" dirty="0">
              <a:solidFill>
                <a:schemeClr val="accent2"/>
              </a:solidFill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r>
              <a:rPr lang="en-US" altLang="ko-KR" sz="13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Hostname</a:t>
            </a: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 또는 </a:t>
            </a:r>
            <a:r>
              <a:rPr lang="en-US" altLang="ko-KR" sz="130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uname</a:t>
            </a:r>
            <a:r>
              <a:rPr lang="en-US" altLang="ko-KR" sz="13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 -n</a:t>
            </a:r>
            <a:endParaRPr lang="en" altLang="ko-KR" sz="13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effectLst/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endParaRPr lang="en-US" altLang="ko-KR" dirty="0">
              <a:solidFill>
                <a:schemeClr val="accent2"/>
              </a:solidFill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r>
              <a:rPr lang="en-US" altLang="ko-KR" sz="16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Hostname </a:t>
            </a:r>
            <a:r>
              <a:rPr lang="ko-KR" altLang="en-US" sz="16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영구 변경</a:t>
            </a:r>
            <a:endParaRPr lang="en" altLang="ko-KR" sz="1600" b="0" i="0" u="none" strike="noStrike" dirty="0">
              <a:solidFill>
                <a:schemeClr val="accent2"/>
              </a:solidFill>
              <a:effectLst/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r>
              <a:rPr lang="en" altLang="ko-KR" sz="1300" b="0" i="0" u="none" strike="noStrike" dirty="0" err="1">
                <a:solidFill>
                  <a:srgbClr val="50A14F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sudo</a:t>
            </a:r>
            <a:r>
              <a:rPr lang="en" altLang="ko-KR" sz="13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 vi /</a:t>
            </a:r>
            <a:r>
              <a:rPr lang="en" altLang="ko-KR" sz="1300" b="0" i="0" u="none" strike="noStrike" dirty="0" err="1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etc</a:t>
            </a:r>
            <a:r>
              <a:rPr lang="en" altLang="ko-KR" sz="13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/</a:t>
            </a:r>
            <a:r>
              <a:rPr lang="en" altLang="ko-KR" sz="1300" b="0" i="0" u="none" strike="noStrike" dirty="0" err="1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sysconfig</a:t>
            </a:r>
            <a:r>
              <a:rPr lang="en" altLang="ko-KR" sz="13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/network</a:t>
            </a:r>
          </a:p>
          <a:p>
            <a:endParaRPr lang="en-US" altLang="ko-KR" dirty="0">
              <a:solidFill>
                <a:srgbClr val="50A14F"/>
              </a:solidFill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r>
              <a:rPr lang="ko-KR" altLang="en-US" sz="16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반영</a:t>
            </a:r>
            <a:endParaRPr lang="en" altLang="ko-KR" sz="1600" b="0" i="0" u="none" strike="noStrike" dirty="0">
              <a:solidFill>
                <a:schemeClr val="accent2"/>
              </a:solidFill>
              <a:effectLst/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r>
              <a:rPr lang="en" altLang="ko-KR" sz="1300" b="0" i="0" u="none" strike="noStrike" dirty="0" err="1">
                <a:solidFill>
                  <a:srgbClr val="50A14F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sudo</a:t>
            </a:r>
            <a:r>
              <a:rPr lang="en" altLang="ko-KR" sz="13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 </a:t>
            </a:r>
            <a:r>
              <a:rPr lang="en-US" altLang="ko-KR" sz="13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/</a:t>
            </a:r>
            <a:r>
              <a:rPr lang="en-US" altLang="ko-KR" sz="1300" dirty="0" err="1">
                <a:solidFill>
                  <a:srgbClr val="383A4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etc</a:t>
            </a:r>
            <a:r>
              <a:rPr lang="en-US" altLang="ko-KR" sz="1300" dirty="0">
                <a:solidFill>
                  <a:srgbClr val="383A4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/</a:t>
            </a:r>
            <a:r>
              <a:rPr lang="en-US" altLang="ko-KR" sz="1300" dirty="0" err="1">
                <a:solidFill>
                  <a:srgbClr val="383A4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rc.d</a:t>
            </a:r>
            <a:r>
              <a:rPr lang="en-US" altLang="ko-KR" sz="1300" dirty="0">
                <a:solidFill>
                  <a:srgbClr val="383A4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/</a:t>
            </a:r>
            <a:r>
              <a:rPr lang="en-US" altLang="ko-KR" sz="1300" dirty="0" err="1">
                <a:solidFill>
                  <a:srgbClr val="383A4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init.d</a:t>
            </a:r>
            <a:r>
              <a:rPr lang="en-US" altLang="ko-KR" sz="1300" dirty="0">
                <a:solidFill>
                  <a:srgbClr val="383A4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/network restart</a:t>
            </a:r>
            <a:endParaRPr lang="en" altLang="ko-KR" sz="1300" dirty="0">
              <a:solidFill>
                <a:srgbClr val="383A42"/>
              </a:solidFill>
              <a:highlight>
                <a:srgbClr val="FAFAFA"/>
              </a:highlight>
              <a:latin typeface="Courier New" panose="02070309020205020404" pitchFamily="49" charset="0"/>
            </a:endParaRPr>
          </a:p>
        </p:txBody>
      </p:sp>
      <p:sp>
        <p:nvSpPr>
          <p:cNvPr id="552" name="모서리가 둥근 직사각형 551">
            <a:extLst>
              <a:ext uri="{FF2B5EF4-FFF2-40B4-BE49-F238E27FC236}">
                <a16:creationId xmlns:a16="http://schemas.microsoft.com/office/drawing/2014/main" id="{117C4FB2-20E2-AEE5-FF53-131146B2BCB2}"/>
              </a:ext>
            </a:extLst>
          </p:cNvPr>
          <p:cNvSpPr/>
          <p:nvPr/>
        </p:nvSpPr>
        <p:spPr>
          <a:xfrm>
            <a:off x="5443305" y="1811982"/>
            <a:ext cx="4757650" cy="2929045"/>
          </a:xfrm>
          <a:prstGeom prst="roundRect">
            <a:avLst>
              <a:gd name="adj" fmla="val 22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accent2"/>
              </a:solidFill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r>
              <a:rPr lang="ko-KR" altLang="en-US" sz="16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접근 필요한 </a:t>
            </a:r>
            <a:r>
              <a:rPr lang="en-US" altLang="ko-KR" sz="16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Host </a:t>
            </a:r>
            <a:r>
              <a:rPr lang="ko-KR" altLang="en-US" sz="16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정보 수정</a:t>
            </a:r>
            <a:endParaRPr lang="en" altLang="ko-KR" sz="1600" b="0" i="0" u="none" strike="noStrike" dirty="0">
              <a:solidFill>
                <a:schemeClr val="accent2"/>
              </a:solidFill>
              <a:effectLst/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r>
              <a:rPr lang="en" altLang="ko-KR" sz="1300" b="0" i="0" u="none" strike="noStrike" dirty="0" err="1">
                <a:solidFill>
                  <a:srgbClr val="50A14F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sudo</a:t>
            </a:r>
            <a:r>
              <a:rPr lang="en" altLang="ko-KR" sz="13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 vi /</a:t>
            </a:r>
            <a:r>
              <a:rPr lang="en" altLang="ko-KR" sz="1300" b="0" i="0" u="none" strike="noStrike" dirty="0" err="1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etc</a:t>
            </a:r>
            <a:r>
              <a:rPr lang="en" altLang="ko-KR" sz="13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/hosts</a:t>
            </a:r>
          </a:p>
          <a:p>
            <a:endParaRPr lang="en-US" altLang="ko-KR" dirty="0">
              <a:solidFill>
                <a:srgbClr val="50A14F"/>
              </a:solidFill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r>
              <a:rPr lang="ko-KR" altLang="en-US" sz="16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반영</a:t>
            </a:r>
            <a:endParaRPr lang="en" altLang="ko-KR" sz="1600" b="0" i="0" u="none" strike="noStrike" dirty="0">
              <a:solidFill>
                <a:schemeClr val="accent2"/>
              </a:solidFill>
              <a:effectLst/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r>
              <a:rPr lang="en" altLang="ko-KR" sz="1300" b="0" i="0" u="none" strike="noStrike" dirty="0" err="1">
                <a:solidFill>
                  <a:srgbClr val="50A14F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sudo</a:t>
            </a:r>
            <a:r>
              <a:rPr lang="en" altLang="ko-KR" sz="13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 </a:t>
            </a:r>
            <a:r>
              <a:rPr lang="en" altLang="ko-KR" sz="1300" b="0" i="0" u="none" strike="noStrike" dirty="0" err="1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systemctl</a:t>
            </a:r>
            <a:r>
              <a:rPr lang="en" altLang="ko-KR" sz="13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 restart networking</a:t>
            </a:r>
            <a:endParaRPr lang="en" altLang="ko-KR" sz="1300" dirty="0">
              <a:solidFill>
                <a:srgbClr val="383A42"/>
              </a:solidFill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r>
              <a:rPr lang="en" altLang="ko-KR" sz="1300" b="0" i="0" u="none" strike="noStrike" dirty="0" err="1">
                <a:solidFill>
                  <a:srgbClr val="50A14F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sudo</a:t>
            </a:r>
            <a:r>
              <a:rPr lang="en" altLang="ko-KR" sz="13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 service network-manager restart</a:t>
            </a:r>
            <a:endParaRPr lang="en" altLang="ko-KR" sz="1300" b="0" i="0" u="none" strike="noStrike" dirty="0">
              <a:solidFill>
                <a:schemeClr val="bg1">
                  <a:lumMod val="95000"/>
                </a:schemeClr>
              </a:solidFill>
              <a:effectLst/>
              <a:highlight>
                <a:srgbClr val="C0C0C0"/>
              </a:highlight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652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6FFD08-6100-6748-3A06-59D708078213}"/>
              </a:ext>
            </a:extLst>
          </p:cNvPr>
          <p:cNvSpPr txBox="1"/>
          <p:nvPr/>
        </p:nvSpPr>
        <p:spPr>
          <a:xfrm>
            <a:off x="516411" y="1157161"/>
            <a:ext cx="1115003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SSH</a:t>
            </a:r>
          </a:p>
          <a:p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호스트 상태 확인 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/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 관리를 위한 통신을 위해 모니터링을 위한 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HOST 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전부 전용으로 생성된 계정의 접속을 위해 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SSH</a:t>
            </a:r>
            <a:r>
              <a:rPr kumimoji="1" lang="ko-KR" altLang="en-US" sz="1400" dirty="0" err="1">
                <a:solidFill>
                  <a:schemeClr val="bg1">
                    <a:lumMod val="85000"/>
                  </a:schemeClr>
                </a:solidFill>
              </a:rPr>
              <a:t>를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 설정하여야 한다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필수 정보 </a:t>
            </a:r>
            <a:endParaRPr kumimoji="1" lang="en-US" altLang="ko-KR" sz="1400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WAS Control 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가능한 계정</a:t>
            </a:r>
            <a:endParaRPr kumimoji="1" lang="en-US" altLang="ko-KR" sz="1400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>
              <a:buAutoNum type="arabicPeriod"/>
            </a:pPr>
            <a:endParaRPr kumimoji="1" lang="en-US" altLang="ko-KR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F5279540-B3F9-1E28-D632-E80D77573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73" y="196926"/>
            <a:ext cx="4157900" cy="9602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kumimoji="1" lang="ko-KR" altLang="en-US" sz="4800" dirty="0">
                <a:solidFill>
                  <a:srgbClr val="FFFFFF"/>
                </a:solidFill>
              </a:rPr>
              <a:t>사전 설치</a:t>
            </a:r>
            <a:endParaRPr kumimoji="1" lang="en-US" altLang="ko-KR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4E0DEDED-B7B2-D0C2-F6DA-3D5E168E9F4F}"/>
              </a:ext>
            </a:extLst>
          </p:cNvPr>
          <p:cNvSpPr/>
          <p:nvPr/>
        </p:nvSpPr>
        <p:spPr>
          <a:xfrm>
            <a:off x="515178" y="2289049"/>
            <a:ext cx="3620806" cy="4226898"/>
          </a:xfrm>
          <a:prstGeom prst="roundRect">
            <a:avLst>
              <a:gd name="adj" fmla="val 586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400" dirty="0" err="1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sshd</a:t>
            </a:r>
            <a:r>
              <a:rPr lang="en-US" altLang="ko-KR" sz="14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 </a:t>
            </a:r>
            <a:r>
              <a:rPr lang="ko-KR" altLang="en-US" sz="14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설치 확인</a:t>
            </a:r>
            <a:endParaRPr lang="en" altLang="ko-KR" sz="1400" b="0" i="0" u="none" strike="noStrike" dirty="0">
              <a:solidFill>
                <a:schemeClr val="accent2"/>
              </a:solidFill>
              <a:effectLst/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r>
              <a:rPr lang="en-US" altLang="ko-KR" sz="1200" dirty="0">
                <a:solidFill>
                  <a:srgbClr val="50A14F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which</a:t>
            </a:r>
            <a:r>
              <a:rPr lang="en" altLang="ko-KR" sz="12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 </a:t>
            </a:r>
            <a:r>
              <a:rPr lang="en-US" altLang="ko-KR" sz="1200" b="0" i="0" u="none" strike="noStrike" dirty="0" err="1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sshd</a:t>
            </a:r>
            <a:endParaRPr lang="en-US" altLang="ko-KR" sz="1200" b="0" i="0" u="none" strike="noStrike" dirty="0">
              <a:solidFill>
                <a:srgbClr val="383A42"/>
              </a:solidFill>
              <a:effectLst/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endParaRPr lang="en-US" altLang="ko-KR" sz="1200" dirty="0">
              <a:solidFill>
                <a:srgbClr val="383A42"/>
              </a:solidFill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r>
              <a:rPr lang="en-US" altLang="ko-KR" sz="1400" dirty="0" err="1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sshd</a:t>
            </a:r>
            <a:r>
              <a:rPr lang="en-US" altLang="ko-KR" sz="14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 </a:t>
            </a:r>
            <a:r>
              <a:rPr lang="ko-KR" altLang="en-US" sz="14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설치</a:t>
            </a:r>
            <a:endParaRPr lang="en" altLang="ko-KR" sz="1400" b="0" i="0" u="none" strike="noStrike" dirty="0">
              <a:solidFill>
                <a:schemeClr val="accent2"/>
              </a:solidFill>
              <a:effectLst/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r>
              <a:rPr lang="en-US" altLang="ko-KR" sz="1200" dirty="0">
                <a:solidFill>
                  <a:srgbClr val="50A14F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yum</a:t>
            </a:r>
            <a:r>
              <a:rPr lang="en" altLang="ko-KR" sz="12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 install opens-server</a:t>
            </a:r>
            <a:endParaRPr lang="en-US" altLang="ko-KR" sz="1200" dirty="0">
              <a:solidFill>
                <a:srgbClr val="383A42"/>
              </a:solidFill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r>
              <a:rPr lang="en-US" altLang="ko-KR" sz="1200" dirty="0">
                <a:solidFill>
                  <a:srgbClr val="50A14F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vi </a:t>
            </a:r>
            <a:r>
              <a:rPr lang="en" altLang="ko-KR" sz="12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/</a:t>
            </a:r>
            <a:r>
              <a:rPr lang="en" altLang="ko-KR" sz="1200" b="0" i="0" u="none" strike="noStrike" dirty="0" err="1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etc</a:t>
            </a:r>
            <a:r>
              <a:rPr lang="en" altLang="ko-KR" sz="12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/</a:t>
            </a:r>
            <a:r>
              <a:rPr lang="en" altLang="ko-KR" sz="1200" b="0" i="0" u="none" strike="noStrike" dirty="0" err="1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ssh</a:t>
            </a:r>
            <a:r>
              <a:rPr lang="en" altLang="ko-KR" sz="12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/</a:t>
            </a:r>
            <a:r>
              <a:rPr lang="en" altLang="ko-KR" sz="1200" b="0" i="0" u="none" strike="noStrike" dirty="0" err="1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sshd_config</a:t>
            </a:r>
            <a:endParaRPr lang="en-US" altLang="ko-KR" sz="1200" dirty="0">
              <a:latin typeface="Helvetica" pitchFamily="2" charset="0"/>
            </a:endParaRPr>
          </a:p>
          <a:p>
            <a:r>
              <a:rPr lang="en" altLang="ko-KR" sz="1000" dirty="0">
                <a:effectLst/>
                <a:latin typeface="Helvetica" pitchFamily="2" charset="0"/>
              </a:rPr>
              <a:t>:port </a:t>
            </a:r>
            <a:r>
              <a:rPr lang="ko-KR" altLang="en-US" sz="1000" dirty="0">
                <a:effectLst/>
                <a:latin typeface="Helvetica" pitchFamily="2" charset="0"/>
              </a:rPr>
              <a:t>설정</a:t>
            </a:r>
            <a:br>
              <a:rPr lang="en" altLang="ko-KR" sz="1200" dirty="0">
                <a:effectLst/>
                <a:latin typeface="Helvetica" pitchFamily="2" charset="0"/>
              </a:rPr>
            </a:br>
            <a:endParaRPr lang="en" altLang="ko-KR" sz="1200" dirty="0">
              <a:effectLst/>
              <a:latin typeface="Helvetica" pitchFamily="2" charset="0"/>
            </a:endParaRPr>
          </a:p>
          <a:p>
            <a:r>
              <a:rPr lang="en-US" altLang="ko-KR" sz="12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port </a:t>
            </a:r>
            <a:r>
              <a:rPr lang="ko-KR" altLang="en-US" sz="12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설정 및 </a:t>
            </a:r>
            <a:r>
              <a:rPr lang="en-US" altLang="ko-KR" sz="1200" dirty="0" err="1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ssh</a:t>
            </a:r>
            <a:r>
              <a:rPr lang="en-US" altLang="ko-KR" sz="12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 </a:t>
            </a:r>
            <a:r>
              <a:rPr lang="ko-KR" altLang="en-US" sz="12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서비스 확인</a:t>
            </a:r>
            <a:endParaRPr lang="en" altLang="ko-KR" sz="1200" dirty="0">
              <a:effectLst/>
              <a:latin typeface="Helvetica" pitchFamily="2" charset="0"/>
            </a:endParaRPr>
          </a:p>
          <a:p>
            <a:r>
              <a:rPr lang="en-US" altLang="ko-KR" sz="1200" dirty="0">
                <a:solidFill>
                  <a:srgbClr val="50A14F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cat </a:t>
            </a:r>
            <a:r>
              <a:rPr lang="en" altLang="ko-KR" sz="12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/</a:t>
            </a:r>
            <a:r>
              <a:rPr lang="en" altLang="ko-KR" sz="1200" b="0" i="0" u="none" strike="noStrike" dirty="0" err="1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etc</a:t>
            </a:r>
            <a:r>
              <a:rPr lang="en" altLang="ko-KR" sz="12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/services</a:t>
            </a:r>
            <a:br>
              <a:rPr lang="ko-KR" altLang="en-US" sz="1200" dirty="0">
                <a:effectLst/>
                <a:latin typeface="Helvetica" pitchFamily="2" charset="0"/>
              </a:rPr>
            </a:br>
            <a:endParaRPr lang="en-US" altLang="ko-KR" sz="1200" dirty="0">
              <a:effectLst/>
              <a:latin typeface="Helvetica" pitchFamily="2" charset="0"/>
            </a:endParaRPr>
          </a:p>
          <a:p>
            <a:r>
              <a:rPr lang="en-US" altLang="ko-KR" sz="1200" dirty="0" err="1">
                <a:solidFill>
                  <a:schemeClr val="accent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sshd</a:t>
            </a:r>
            <a:r>
              <a:rPr lang="en-US" altLang="ko-KR" sz="1200" dirty="0">
                <a:solidFill>
                  <a:schemeClr val="accent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 </a:t>
            </a:r>
            <a:r>
              <a:rPr lang="ko-KR" altLang="en-US" sz="12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서비스 반영을 위한 재시작</a:t>
            </a:r>
            <a:endParaRPr lang="ko-KR" altLang="en-US" sz="1200" dirty="0">
              <a:effectLst/>
              <a:latin typeface="Helvetica" pitchFamily="2" charset="0"/>
            </a:endParaRPr>
          </a:p>
          <a:p>
            <a:r>
              <a:rPr lang="en-US" altLang="ko-KR" sz="1200" dirty="0" err="1">
                <a:solidFill>
                  <a:srgbClr val="50A14F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systemctl</a:t>
            </a:r>
            <a:r>
              <a:rPr lang="en-US" altLang="ko-KR" sz="1200" dirty="0">
                <a:solidFill>
                  <a:srgbClr val="50A14F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 </a:t>
            </a:r>
            <a:r>
              <a:rPr lang="en" altLang="ko-KR" sz="12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restart </a:t>
            </a:r>
            <a:r>
              <a:rPr lang="en" altLang="ko-KR" sz="1200" b="0" i="0" u="none" strike="noStrike" dirty="0" err="1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sshd.service</a:t>
            </a:r>
            <a:endParaRPr lang="en" altLang="ko-KR" sz="1200" dirty="0">
              <a:effectLst/>
              <a:latin typeface="Helvetica" pitchFamily="2" charset="0"/>
            </a:endParaRPr>
          </a:p>
          <a:p>
            <a:br>
              <a:rPr lang="en" altLang="ko-KR" sz="1200" dirty="0">
                <a:effectLst/>
                <a:latin typeface="Helvetica" pitchFamily="2" charset="0"/>
              </a:rPr>
            </a:br>
            <a:endParaRPr lang="en" altLang="ko-KR" sz="1200" dirty="0">
              <a:effectLst/>
              <a:latin typeface="Helvetica" pitchFamily="2" charset="0"/>
            </a:endParaRPr>
          </a:p>
          <a:p>
            <a:r>
              <a:rPr lang="ko-KR" altLang="en-US" sz="12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동작 확인</a:t>
            </a:r>
            <a:endParaRPr lang="ko-KR" altLang="en-US" sz="1200" dirty="0">
              <a:effectLst/>
              <a:latin typeface="Helvetica" pitchFamily="2" charset="0"/>
            </a:endParaRPr>
          </a:p>
          <a:p>
            <a:r>
              <a:rPr lang="en-US" altLang="ko-KR" sz="1200" dirty="0" err="1">
                <a:solidFill>
                  <a:srgbClr val="50A14F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semanage</a:t>
            </a:r>
            <a:r>
              <a:rPr lang="en-US" altLang="ko-KR" sz="1200" dirty="0">
                <a:solidFill>
                  <a:srgbClr val="50A14F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 </a:t>
            </a:r>
            <a:r>
              <a:rPr lang="en-US" altLang="ko-KR" sz="1200" dirty="0">
                <a:solidFill>
                  <a:srgbClr val="383A4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port –l | grep </a:t>
            </a:r>
            <a:r>
              <a:rPr lang="en-US" altLang="ko-KR" sz="1200" dirty="0" err="1">
                <a:solidFill>
                  <a:srgbClr val="383A4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ssh</a:t>
            </a:r>
            <a:endParaRPr lang="en" altLang="ko-KR" sz="1200" dirty="0">
              <a:effectLst/>
              <a:latin typeface="Helvetica" pitchFamily="2" charset="0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B8781C8C-6E8A-A4E7-1CEE-11BDB2F35D3E}"/>
              </a:ext>
            </a:extLst>
          </p:cNvPr>
          <p:cNvSpPr/>
          <p:nvPr/>
        </p:nvSpPr>
        <p:spPr>
          <a:xfrm>
            <a:off x="4316972" y="2289049"/>
            <a:ext cx="3620806" cy="4226898"/>
          </a:xfrm>
          <a:prstGeom prst="roundRect">
            <a:avLst>
              <a:gd name="adj" fmla="val 586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ko-KR" altLang="en-US" sz="12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방화벽 설정</a:t>
            </a:r>
            <a:endParaRPr lang="ko-KR" altLang="en-US" sz="1200" dirty="0">
              <a:effectLst/>
              <a:latin typeface="Helvetica" pitchFamily="2" charset="0"/>
            </a:endParaRPr>
          </a:p>
          <a:p>
            <a:r>
              <a:rPr lang="en-US" altLang="ko-KR" sz="1200" dirty="0">
                <a:solidFill>
                  <a:srgbClr val="50A14F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yum </a:t>
            </a:r>
            <a:r>
              <a:rPr lang="en" altLang="ko-KR" sz="12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firewall-</a:t>
            </a:r>
            <a:r>
              <a:rPr lang="en" altLang="ko-KR" sz="1200" b="0" i="0" u="none" strike="noStrike" dirty="0" err="1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cmd</a:t>
            </a:r>
            <a:r>
              <a:rPr lang="en" altLang="ko-KR" sz="12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 -–permanent -–zone=public -–add-port=</a:t>
            </a:r>
            <a:r>
              <a:rPr lang="ko-KR" altLang="en-US" sz="12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변경된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port/</a:t>
            </a:r>
            <a:r>
              <a:rPr lang="en-US" altLang="ko-KR" sz="1200" b="0" i="0" u="none" strike="noStrike" dirty="0" err="1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tcp</a:t>
            </a:r>
            <a:endParaRPr lang="en" altLang="ko-KR" sz="1200" dirty="0">
              <a:effectLst/>
              <a:latin typeface="Helvetica" pitchFamily="2" charset="0"/>
            </a:endParaRPr>
          </a:p>
          <a:p>
            <a:br>
              <a:rPr lang="en" altLang="ko-KR" sz="1200" dirty="0">
                <a:effectLst/>
                <a:latin typeface="Helvetica" pitchFamily="2" charset="0"/>
              </a:rPr>
            </a:br>
            <a:endParaRPr lang="en" altLang="ko-KR" sz="1200" dirty="0">
              <a:effectLst/>
              <a:latin typeface="Helvetica" pitchFamily="2" charset="0"/>
            </a:endParaRPr>
          </a:p>
          <a:p>
            <a:r>
              <a:rPr lang="ko-KR" altLang="en-US" sz="12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방화벽 재가동</a:t>
            </a:r>
            <a:endParaRPr lang="ko-KR" altLang="en-US" sz="1200" dirty="0">
              <a:effectLst/>
              <a:latin typeface="Helvetica" pitchFamily="2" charset="0"/>
            </a:endParaRPr>
          </a:p>
          <a:p>
            <a:r>
              <a:rPr lang="en-US" altLang="ko-KR" sz="1200" dirty="0">
                <a:solidFill>
                  <a:srgbClr val="50A14F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yum </a:t>
            </a:r>
            <a:r>
              <a:rPr lang="en" altLang="ko-KR" sz="12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firewall-</a:t>
            </a:r>
            <a:r>
              <a:rPr lang="en" altLang="ko-KR" sz="1200" b="0" i="0" u="none" strike="noStrike" dirty="0" err="1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cmd</a:t>
            </a:r>
            <a:r>
              <a:rPr lang="en" altLang="ko-KR" sz="12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 --reload</a:t>
            </a:r>
            <a:endParaRPr lang="en" altLang="ko-KR" sz="1200" dirty="0">
              <a:effectLst/>
              <a:latin typeface="Helvetica" pitchFamily="2" charset="0"/>
            </a:endParaRPr>
          </a:p>
          <a:p>
            <a:br>
              <a:rPr lang="en" altLang="ko-KR" sz="1200" dirty="0">
                <a:effectLst/>
                <a:latin typeface="Helvetica" pitchFamily="2" charset="0"/>
              </a:rPr>
            </a:br>
            <a:r>
              <a:rPr lang="en-US" altLang="ko-KR" sz="1200" dirty="0" err="1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sshd</a:t>
            </a:r>
            <a:r>
              <a:rPr lang="en-US" altLang="ko-KR" sz="12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 </a:t>
            </a:r>
            <a:r>
              <a:rPr lang="ko-KR" altLang="en-US" sz="12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서비스 재시작</a:t>
            </a:r>
            <a:endParaRPr lang="en" altLang="ko-KR" sz="1200" dirty="0">
              <a:effectLst/>
              <a:latin typeface="Helvetica" pitchFamily="2" charset="0"/>
            </a:endParaRPr>
          </a:p>
          <a:p>
            <a:r>
              <a:rPr lang="en-US" altLang="ko-KR" sz="1200" dirty="0" err="1">
                <a:solidFill>
                  <a:srgbClr val="50A14F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systemctl</a:t>
            </a:r>
            <a:r>
              <a:rPr lang="en" altLang="ko-KR" sz="1200" dirty="0">
                <a:effectLst/>
                <a:latin typeface="Helvetica" pitchFamily="2" charset="0"/>
              </a:rPr>
              <a:t> </a:t>
            </a:r>
            <a:r>
              <a:rPr lang="en" altLang="ko-KR" sz="12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restart </a:t>
            </a:r>
            <a:r>
              <a:rPr lang="en" altLang="ko-KR" sz="1200" b="0" i="0" u="none" strike="noStrike" dirty="0" err="1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sshd.service</a:t>
            </a:r>
            <a:endParaRPr lang="en" altLang="ko-KR" sz="1200" b="0" i="0" u="none" strike="noStrike" dirty="0">
              <a:solidFill>
                <a:srgbClr val="383A42"/>
              </a:solidFill>
              <a:effectLst/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endParaRPr lang="en" altLang="ko-KR" sz="1200" dirty="0">
              <a:solidFill>
                <a:srgbClr val="383A42"/>
              </a:solidFill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r>
              <a:rPr lang="en-US" altLang="ko-KR" sz="12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port </a:t>
            </a:r>
            <a:r>
              <a:rPr lang="ko-KR" altLang="en-US" sz="12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확인</a:t>
            </a:r>
            <a:endParaRPr lang="en-US" altLang="ko-KR" sz="1200" dirty="0">
              <a:solidFill>
                <a:schemeClr val="accent2"/>
              </a:solidFill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r>
              <a:rPr lang="en-US" altLang="ko-KR" sz="1200" dirty="0" err="1">
                <a:solidFill>
                  <a:srgbClr val="50A14F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snetstat</a:t>
            </a:r>
            <a:r>
              <a:rPr lang="en-US" altLang="ko-KR" sz="1200" dirty="0">
                <a:solidFill>
                  <a:srgbClr val="50A14F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 </a:t>
            </a:r>
            <a:r>
              <a:rPr lang="en" altLang="ko-KR" sz="12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-</a:t>
            </a:r>
            <a:r>
              <a:rPr lang="en" altLang="ko-KR" sz="1200" b="0" i="0" u="none" strike="noStrike" dirty="0" err="1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tulpn</a:t>
            </a:r>
            <a:r>
              <a:rPr lang="en" altLang="ko-KR" sz="12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 | grep LISTEN</a:t>
            </a:r>
            <a:endParaRPr lang="en" altLang="ko-KR" sz="1200" dirty="0">
              <a:effectLst/>
              <a:latin typeface="Helvetica" pitchFamily="2" charset="0"/>
            </a:endParaRPr>
          </a:p>
          <a:p>
            <a:r>
              <a:rPr lang="en-US" altLang="ko-KR" sz="1200" dirty="0" err="1">
                <a:solidFill>
                  <a:srgbClr val="50A14F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semanage</a:t>
            </a:r>
            <a:r>
              <a:rPr lang="en" altLang="ko-KR" sz="1200" dirty="0">
                <a:effectLst/>
                <a:latin typeface="Helvetica" pitchFamily="2" charset="0"/>
              </a:rPr>
              <a:t> </a:t>
            </a:r>
            <a:r>
              <a:rPr lang="en" altLang="ko-KR" sz="12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–port –l | grep </a:t>
            </a:r>
            <a:r>
              <a:rPr lang="en" altLang="ko-KR" sz="1200" b="0" i="0" u="none" strike="noStrike" dirty="0" err="1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ssh</a:t>
            </a:r>
            <a:endParaRPr lang="en" altLang="ko-KR" sz="1200" dirty="0">
              <a:effectLst/>
              <a:latin typeface="Helvetica" pitchFamily="2" charset="0"/>
            </a:endParaRPr>
          </a:p>
          <a:p>
            <a:r>
              <a:rPr lang="en-US" altLang="ko-KR" sz="1200" dirty="0" err="1">
                <a:solidFill>
                  <a:srgbClr val="50A14F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Yfirewall-cmd</a:t>
            </a:r>
            <a:r>
              <a:rPr lang="en-US" altLang="ko-KR" sz="1200" dirty="0">
                <a:solidFill>
                  <a:srgbClr val="50A14F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 </a:t>
            </a:r>
            <a:r>
              <a:rPr lang="en" altLang="ko-KR" sz="12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--list-all</a:t>
            </a:r>
            <a:endParaRPr lang="en" altLang="ko-KR" sz="1200" dirty="0">
              <a:effectLst/>
              <a:latin typeface="Helvetica" pitchFamily="2" charset="0"/>
            </a:endParaRPr>
          </a:p>
          <a:p>
            <a:br>
              <a:rPr lang="en" altLang="ko-KR" sz="1200" dirty="0">
                <a:effectLst/>
                <a:latin typeface="Helvetica" pitchFamily="2" charset="0"/>
              </a:rPr>
            </a:br>
            <a:endParaRPr lang="en" altLang="ko-KR" sz="1200" dirty="0">
              <a:effectLst/>
              <a:latin typeface="Helvetica" pitchFamily="2" charset="0"/>
            </a:endParaRPr>
          </a:p>
          <a:p>
            <a:r>
              <a:rPr lang="ko-KR" altLang="en-US" sz="12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설치확인</a:t>
            </a:r>
            <a:endParaRPr lang="en-US" altLang="ko-KR" sz="1200" dirty="0">
              <a:solidFill>
                <a:schemeClr val="accent2"/>
              </a:solidFill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r>
              <a:rPr lang="en-US" altLang="ko-KR" sz="1000" dirty="0" err="1">
                <a:solidFill>
                  <a:srgbClr val="50A14F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ssh</a:t>
            </a:r>
            <a:r>
              <a:rPr lang="en" altLang="ko-KR" sz="1000" dirty="0">
                <a:effectLst/>
                <a:latin typeface="Helvetica" pitchFamily="2" charset="0"/>
              </a:rPr>
              <a:t> </a:t>
            </a:r>
            <a:r>
              <a:rPr lang="en" altLang="ko-KR" sz="1000" dirty="0" err="1">
                <a:effectLst/>
                <a:latin typeface="Helvetica" pitchFamily="2" charset="0"/>
              </a:rPr>
              <a:t>userid@host</a:t>
            </a:r>
            <a:r>
              <a:rPr lang="ko-KR" altLang="en-US" sz="1000" dirty="0">
                <a:effectLst/>
                <a:latin typeface="Helvetica" pitchFamily="2" charset="0"/>
              </a:rPr>
              <a:t>정보 </a:t>
            </a:r>
            <a:r>
              <a:rPr lang="en-US" altLang="ko-KR" sz="1000" dirty="0">
                <a:effectLst/>
                <a:latin typeface="Helvetica" pitchFamily="2" charset="0"/>
              </a:rPr>
              <a:t>-</a:t>
            </a:r>
            <a:r>
              <a:rPr lang="en" altLang="ko-KR" sz="1000" dirty="0">
                <a:effectLst/>
                <a:latin typeface="Helvetica" pitchFamily="2" charset="0"/>
              </a:rPr>
              <a:t>p </a:t>
            </a:r>
            <a:r>
              <a:rPr lang="ko-KR" altLang="en-US" sz="1000" dirty="0">
                <a:effectLst/>
                <a:latin typeface="Helvetica" pitchFamily="2" charset="0"/>
              </a:rPr>
              <a:t>지정포트</a:t>
            </a:r>
          </a:p>
          <a:p>
            <a:endParaRPr lang="en" altLang="ko-KR" sz="1200" dirty="0">
              <a:effectLst/>
              <a:latin typeface="Helvetica" pitchFamily="2" charset="0"/>
            </a:endParaRPr>
          </a:p>
          <a:p>
            <a:br>
              <a:rPr lang="en" altLang="ko-KR" sz="1200" dirty="0">
                <a:effectLst/>
                <a:latin typeface="Helvetica" pitchFamily="2" charset="0"/>
              </a:rPr>
            </a:br>
            <a:endParaRPr lang="en" altLang="ko-KR" sz="1200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208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642976A7-146A-44DB-AE06-47A062F6FDB9}"/>
              </a:ext>
            </a:extLst>
          </p:cNvPr>
          <p:cNvSpPr/>
          <p:nvPr/>
        </p:nvSpPr>
        <p:spPr>
          <a:xfrm>
            <a:off x="515177" y="252663"/>
            <a:ext cx="11179517" cy="6263284"/>
          </a:xfrm>
          <a:prstGeom prst="roundRect">
            <a:avLst>
              <a:gd name="adj" fmla="val 231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원격 설치를 위한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ssh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설정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ssh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접속에 사용하는 사용자 계정 확인 원격지에 사용할 계정이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생성되어있어야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 함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.</a:t>
            </a:r>
            <a:b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b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master : ~/.</a:t>
            </a: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ssh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/</a:t>
            </a: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id_rsa.pub</a:t>
            </a:r>
            <a:b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   : </a:t>
            </a: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ssh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-keygen -t </a:t>
            </a: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rsa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-b 4096</a:t>
            </a:r>
          </a:p>
          <a:p>
            <a:endParaRPr lang="en" altLang="ko-KR" sz="14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id_rsa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: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개인키</a:t>
            </a:r>
            <a:endParaRPr lang="en" altLang="ko-KR" sz="14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id_rsa.pub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: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공개키</a:t>
            </a:r>
            <a:b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b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대상 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host :  ~/.</a:t>
            </a: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ssh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/</a:t>
            </a: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authorized_keys</a:t>
            </a:r>
            <a:b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1. master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에서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:</a:t>
            </a:r>
            <a:b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ssh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키 페어를 생성합니다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(</a:t>
            </a: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ssh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-keygen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을 사용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).</a:t>
            </a:r>
            <a:b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생성된 공개 키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(~/.</a:t>
            </a: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ssh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/</a:t>
            </a: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id_rsa.pub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)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를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 복사합니다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.</a:t>
            </a:r>
            <a:b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2.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각 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host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에서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:</a:t>
            </a:r>
            <a:b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~/.</a:t>
            </a: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ssh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/</a:t>
            </a: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authorized_keys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파일을 열고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, 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master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의 공개 키를 이 파일에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붙여넣습니다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.</a:t>
            </a:r>
            <a:b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이렇게 하면 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master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서버의 개인 키를 가진 사용자가 해당 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host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에 접근할 수 있게 됩니다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.</a:t>
            </a:r>
            <a:b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b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ssh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키의 권한 설정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: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개인 키 파일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(~/.</a:t>
            </a: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ssh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/</a:t>
            </a: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id_rsa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)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은 다른 사용자에게 읽기 권한이 없어야 합니다 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Menlo-Regular" panose="020B0609030804020204" pitchFamily="49" charset="0"/>
            </a:endParaRPr>
          </a:p>
          <a:p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Menlo-Regular" panose="020B0609030804020204" pitchFamily="49" charset="0"/>
              </a:rPr>
              <a:t> 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Menlo-Regular" panose="020B0609030804020204" pitchFamily="49" charset="0"/>
              </a:rPr>
              <a:t>: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Menlo-Regular" panose="020B0609030804020204" pitchFamily="49" charset="0"/>
              </a:rPr>
              <a:t> </a:t>
            </a: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chmod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600 ~/.</a:t>
            </a: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ssh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/</a:t>
            </a: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id_rsa</a:t>
            </a:r>
            <a:b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b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sudo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vi /</a:t>
            </a: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etc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/</a:t>
            </a: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ssh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/</a:t>
            </a: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sshd_config</a:t>
            </a:r>
            <a:b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PubkeyAuthentication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yes</a:t>
            </a:r>
            <a:b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sudo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systemctl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restart </a:t>
            </a: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sshd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또는 </a:t>
            </a: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sudo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service </a:t>
            </a: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sshd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restart</a:t>
            </a:r>
            <a:b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b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SSH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설정 파일 확인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: /</a:t>
            </a: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etc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/</a:t>
            </a: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ssh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/</a:t>
            </a: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sshd_config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파일 설정을 확인하여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키 기반 인증이 활성화되어 있고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패스워드 기반 인증이 비활성화되었는지 확인합니다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.</a:t>
            </a:r>
            <a:b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서버의 호스트 키가 변경되지 않았는지 확인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: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만약 서버의 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IP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주소나 호스트 키가 변경되었다면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이는 클라이언트의 </a:t>
            </a:r>
            <a:r>
              <a:rPr lang="en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known_hosts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-Regular" panose="020B0609030804020204" pitchFamily="49" charset="0"/>
              </a:rPr>
              <a:t>파일에 문제 발생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24479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7">
            <a:extLst>
              <a:ext uri="{FF2B5EF4-FFF2-40B4-BE49-F238E27FC236}">
                <a16:creationId xmlns:a16="http://schemas.microsoft.com/office/drawing/2014/main" id="{A4AD3C67-A2AB-E4C6-5313-28416C9C6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FB838294-7B03-905A-915D-7138B100E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32479F52-253B-5257-8BB0-A2182E815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43A2D49-A901-3C5F-9E5E-CE459131F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032AB234-2276-7E50-F8DD-569C97829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FBB2C519-F7B6-6339-4BE8-6DC8822C2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19">
            <a:extLst>
              <a:ext uri="{FF2B5EF4-FFF2-40B4-BE49-F238E27FC236}">
                <a16:creationId xmlns:a16="http://schemas.microsoft.com/office/drawing/2014/main" id="{9CC1999E-53A7-0DFA-77C9-0F3A67BDF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5AE95B-400B-4EEA-570D-D8D8D0FC014F}"/>
              </a:ext>
            </a:extLst>
          </p:cNvPr>
          <p:cNvSpPr txBox="1"/>
          <p:nvPr/>
        </p:nvSpPr>
        <p:spPr>
          <a:xfrm>
            <a:off x="516411" y="1157161"/>
            <a:ext cx="111500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400" dirty="0" err="1">
                <a:solidFill>
                  <a:schemeClr val="bg1">
                    <a:lumMod val="85000"/>
                  </a:schemeClr>
                </a:solidFill>
              </a:rPr>
              <a:t>Opensearch</a:t>
            </a:r>
            <a:endParaRPr kumimoji="1" lang="en-US" altLang="ko-KR" sz="1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모니터링 및 분석에 필수적인 분석 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/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 검색 엔진을 설치해 최적화된 인덱싱 및 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API 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제공을 목표로 한다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pPr marL="342900" indent="-342900">
              <a:buAutoNum type="arabicPeriod"/>
            </a:pPr>
            <a:endParaRPr kumimoji="1" lang="en-US" altLang="ko-KR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8A3A312E-5179-07A3-4BF6-AEB99B93E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73" y="196926"/>
            <a:ext cx="4157900" cy="9602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kumimoji="1" lang="ko-KR" altLang="en-US" sz="4800" dirty="0">
                <a:solidFill>
                  <a:srgbClr val="FFFFFF"/>
                </a:solidFill>
              </a:rPr>
              <a:t>사전 설치</a:t>
            </a:r>
            <a:endParaRPr kumimoji="1" lang="en-US" altLang="ko-KR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93415E8F-7733-949D-06A4-C199CAB199F0}"/>
              </a:ext>
            </a:extLst>
          </p:cNvPr>
          <p:cNvSpPr/>
          <p:nvPr/>
        </p:nvSpPr>
        <p:spPr>
          <a:xfrm>
            <a:off x="515177" y="2289049"/>
            <a:ext cx="11047169" cy="4226898"/>
          </a:xfrm>
          <a:prstGeom prst="roundRect">
            <a:avLst>
              <a:gd name="adj" fmla="val 216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" altLang="ko-KR" sz="1200" dirty="0">
              <a:effectLst/>
              <a:latin typeface="Helvetica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E97860-C34A-4965-C8D6-2C79156BE48E}"/>
              </a:ext>
            </a:extLst>
          </p:cNvPr>
          <p:cNvSpPr txBox="1"/>
          <p:nvPr/>
        </p:nvSpPr>
        <p:spPr>
          <a:xfrm>
            <a:off x="569995" y="2310273"/>
            <a:ext cx="1094422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Linux</a:t>
            </a:r>
            <a:r>
              <a:rPr lang="ko-KR" altLang="en-US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용 </a:t>
            </a:r>
            <a:r>
              <a:rPr lang="en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OpenSearch </a:t>
            </a:r>
            <a:r>
              <a:rPr lang="ko-KR" altLang="en-US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배포판은 디렉터리에 호환되는 </a:t>
            </a:r>
            <a:r>
              <a:rPr lang="en" altLang="ko-KR" sz="1000" b="0" i="0" u="none" strike="noStrike" dirty="0">
                <a:solidFill>
                  <a:srgbClr val="0055A6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  <a:hlinkClick r:id="rId2"/>
              </a:rPr>
              <a:t>Adoptium JDK</a:t>
            </a:r>
            <a:r>
              <a:rPr lang="en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 </a:t>
            </a:r>
            <a:r>
              <a:rPr lang="ko-KR" altLang="en-US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버전의 </a:t>
            </a:r>
            <a:r>
              <a:rPr lang="en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Java</a:t>
            </a:r>
            <a:r>
              <a:rPr lang="ko-KR" altLang="en-US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와 함께 제공됩니다</a:t>
            </a:r>
            <a:r>
              <a:rPr lang="en-US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. </a:t>
            </a:r>
            <a:r>
              <a:rPr lang="en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JDK </a:t>
            </a:r>
            <a:r>
              <a:rPr lang="ko-KR" altLang="en-US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버전을 찾으려면 </a:t>
            </a:r>
            <a:r>
              <a:rPr lang="ko-KR" altLang="en-US" sz="1000" b="0" i="0" dirty="0" err="1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를</a:t>
            </a:r>
            <a:r>
              <a:rPr lang="ko-KR" altLang="en-US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 실행합니다</a:t>
            </a:r>
            <a:r>
              <a:rPr lang="en-US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. </a:t>
            </a:r>
            <a:r>
              <a:rPr lang="ko-KR" altLang="en-US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예를 들어 </a:t>
            </a:r>
            <a:r>
              <a:rPr lang="en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OpenSearch 1.0.0 </a:t>
            </a:r>
            <a:r>
              <a:rPr lang="en" altLang="ko-KR" sz="1000" b="0" i="0" dirty="0" err="1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tarball</a:t>
            </a:r>
            <a:r>
              <a:rPr lang="ko-KR" altLang="en-US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은 </a:t>
            </a:r>
            <a:r>
              <a:rPr lang="en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Java 15.0.1+9(</a:t>
            </a:r>
            <a:r>
              <a:rPr lang="ko-KR" altLang="en-US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비 </a:t>
            </a:r>
            <a:r>
              <a:rPr lang="en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LTS)</a:t>
            </a:r>
            <a:r>
              <a:rPr lang="ko-KR" altLang="en-US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와 함께 제공되고</a:t>
            </a:r>
            <a:r>
              <a:rPr lang="en-US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, </a:t>
            </a:r>
            <a:r>
              <a:rPr lang="en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OpenSearch 1.3.0</a:t>
            </a:r>
            <a:r>
              <a:rPr lang="ko-KR" altLang="en-US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은 </a:t>
            </a:r>
            <a:r>
              <a:rPr lang="en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Java 11.0.14.1+1(LTS)</a:t>
            </a:r>
            <a:r>
              <a:rPr lang="ko-KR" altLang="en-US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과 함께 제공되며</a:t>
            </a:r>
            <a:r>
              <a:rPr lang="en-US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, </a:t>
            </a:r>
            <a:r>
              <a:rPr lang="en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OpenSearch 2.0.0</a:t>
            </a:r>
            <a:r>
              <a:rPr lang="ko-KR" altLang="en-US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은 </a:t>
            </a:r>
            <a:r>
              <a:rPr lang="en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Java 17.0.2+8(LTS)</a:t>
            </a:r>
            <a:r>
              <a:rPr lang="ko-KR" altLang="en-US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과 함께 제공됩니다</a:t>
            </a:r>
            <a:r>
              <a:rPr lang="en-US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. </a:t>
            </a:r>
            <a:r>
              <a:rPr lang="en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OpenSearch</a:t>
            </a:r>
            <a:r>
              <a:rPr lang="ko-KR" altLang="en-US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는 호환되는 모든 </a:t>
            </a:r>
            <a:r>
              <a:rPr lang="en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Java </a:t>
            </a:r>
            <a:r>
              <a:rPr lang="ko-KR" altLang="en-US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버전에서 테스트되었습니다</a:t>
            </a:r>
            <a:r>
              <a:rPr lang="en-US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.</a:t>
            </a:r>
            <a:endParaRPr lang="ko-KR" altLang="en-US" sz="1000" dirty="0"/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F927DB0-4C37-2665-E1B0-B944EA55D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582661"/>
              </p:ext>
            </p:extLst>
          </p:nvPr>
        </p:nvGraphicFramePr>
        <p:xfrm>
          <a:off x="5106080" y="3242206"/>
          <a:ext cx="6098207" cy="114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4898">
                  <a:extLst>
                    <a:ext uri="{9D8B030D-6E8A-4147-A177-3AD203B41FA5}">
                      <a16:colId xmlns:a16="http://schemas.microsoft.com/office/drawing/2014/main" val="2267466410"/>
                    </a:ext>
                  </a:extLst>
                </a:gridCol>
                <a:gridCol w="2261936">
                  <a:extLst>
                    <a:ext uri="{9D8B030D-6E8A-4147-A177-3AD203B41FA5}">
                      <a16:colId xmlns:a16="http://schemas.microsoft.com/office/drawing/2014/main" val="1558494746"/>
                    </a:ext>
                  </a:extLst>
                </a:gridCol>
                <a:gridCol w="2051373">
                  <a:extLst>
                    <a:ext uri="{9D8B030D-6E8A-4147-A177-3AD203B41FA5}">
                      <a16:colId xmlns:a16="http://schemas.microsoft.com/office/drawing/2014/main" val="42755660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" sz="1100" u="none" strike="noStrike" dirty="0">
                          <a:effectLst/>
                        </a:rPr>
                        <a:t>OpenSearch Version</a:t>
                      </a:r>
                      <a:endParaRPr lang="en" sz="11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100" u="none" strike="noStrike" dirty="0">
                          <a:effectLst/>
                        </a:rPr>
                        <a:t>Compatible Java Versions</a:t>
                      </a:r>
                      <a:endParaRPr lang="en" sz="11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100" u="none" strike="noStrike" dirty="0">
                          <a:effectLst/>
                        </a:rPr>
                        <a:t>Bundled Java Version</a:t>
                      </a:r>
                      <a:endParaRPr lang="en" sz="11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5907946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" sz="1100" u="none" strike="noStrike">
                          <a:effectLst/>
                        </a:rPr>
                        <a:t>1.0–1.2.x</a:t>
                      </a:r>
                      <a:endParaRPr lang="en" sz="11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11, 15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15.0.1+9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641847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" sz="1100" u="none" strike="noStrike">
                          <a:effectLst/>
                        </a:rPr>
                        <a:t>1.3.x</a:t>
                      </a:r>
                      <a:endParaRPr lang="en" sz="11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8, 11, 14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11.0.22+7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143161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" sz="1100" u="none" strike="noStrike">
                          <a:effectLst/>
                        </a:rPr>
                        <a:t>2.0.0–2.11.x</a:t>
                      </a:r>
                      <a:endParaRPr lang="en" sz="11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11, 17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17.0.2+8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6847798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2.12.0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</a:rPr>
                        <a:t>11, 17, 21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</a:rPr>
                        <a:t>21.0.2+13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78305268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121833D0-2A26-25A4-EAF4-C1E3DBC4D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926806"/>
              </p:ext>
            </p:extLst>
          </p:nvPr>
        </p:nvGraphicFramePr>
        <p:xfrm>
          <a:off x="884321" y="3237065"/>
          <a:ext cx="4127500" cy="1600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7103">
                  <a:extLst>
                    <a:ext uri="{9D8B030D-6E8A-4147-A177-3AD203B41FA5}">
                      <a16:colId xmlns:a16="http://schemas.microsoft.com/office/drawing/2014/main" val="1809690412"/>
                    </a:ext>
                  </a:extLst>
                </a:gridCol>
                <a:gridCol w="1740397">
                  <a:extLst>
                    <a:ext uri="{9D8B030D-6E8A-4147-A177-3AD203B41FA5}">
                      <a16:colId xmlns:a16="http://schemas.microsoft.com/office/drawing/2014/main" val="16079404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" sz="1100" u="none" strike="noStrike" dirty="0">
                          <a:effectLst/>
                        </a:rPr>
                        <a:t>OS</a:t>
                      </a:r>
                      <a:endParaRPr lang="en" sz="1100" b="1" i="0" u="none" strike="noStrike" dirty="0">
                        <a:solidFill>
                          <a:srgbClr val="002A3A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100" u="none" strike="noStrike">
                          <a:effectLst/>
                        </a:rPr>
                        <a:t>Version</a:t>
                      </a:r>
                      <a:endParaRPr lang="en" sz="1100" b="1" i="0" u="none" strike="noStrike">
                        <a:solidFill>
                          <a:srgbClr val="002A3A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6546828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" sz="1100" u="none" strike="noStrike">
                          <a:effectLst/>
                        </a:rPr>
                        <a:t>CentOS</a:t>
                      </a:r>
                      <a:endParaRPr lang="en" sz="1100" b="0" i="0" u="none" strike="noStrike">
                        <a:solidFill>
                          <a:srgbClr val="002A3A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7</a:t>
                      </a:r>
                      <a:endParaRPr lang="en-US" altLang="ko-KR" sz="1100" b="0" i="0" u="none" strike="noStrike">
                        <a:solidFill>
                          <a:srgbClr val="002A3A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8742347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" sz="1100" u="none" strike="noStrike">
                          <a:effectLst/>
                        </a:rPr>
                        <a:t>Rocky Linux</a:t>
                      </a:r>
                      <a:endParaRPr lang="en" sz="1100" b="0" i="0" u="none" strike="noStrike">
                        <a:solidFill>
                          <a:srgbClr val="002A3A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8</a:t>
                      </a:r>
                      <a:endParaRPr lang="en-US" altLang="ko-KR" sz="1100" b="0" i="0" u="none" strike="noStrike">
                        <a:solidFill>
                          <a:srgbClr val="002A3A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0672564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" sz="1100" u="none" strike="noStrike">
                          <a:effectLst/>
                        </a:rPr>
                        <a:t>Alma Linux</a:t>
                      </a:r>
                      <a:endParaRPr lang="en" sz="1100" b="0" i="0" u="none" strike="noStrike">
                        <a:solidFill>
                          <a:srgbClr val="002A3A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8</a:t>
                      </a:r>
                      <a:endParaRPr lang="en-US" altLang="ko-KR" sz="1100" b="0" i="0" u="none" strike="noStrike">
                        <a:solidFill>
                          <a:srgbClr val="002A3A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886796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" sz="1100" u="none" strike="noStrike">
                          <a:effectLst/>
                        </a:rPr>
                        <a:t>Amazon Linux</a:t>
                      </a:r>
                      <a:endParaRPr lang="en" sz="1100" b="0" i="0" u="none" strike="noStrike">
                        <a:solidFill>
                          <a:srgbClr val="002A3A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</a:rPr>
                        <a:t>2/2023</a:t>
                      </a:r>
                      <a:endParaRPr lang="en-US" altLang="ko-KR" sz="1100" b="0" i="0" u="none" strike="noStrike">
                        <a:solidFill>
                          <a:srgbClr val="002A3A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4677988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" sz="1100" u="none" strike="noStrike">
                          <a:effectLst/>
                        </a:rPr>
                        <a:t>Ubuntu</a:t>
                      </a:r>
                      <a:endParaRPr lang="en" sz="1100" b="0" i="0" u="none" strike="noStrike">
                        <a:solidFill>
                          <a:srgbClr val="002A3A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20.04</a:t>
                      </a:r>
                      <a:endParaRPr lang="en-US" altLang="ko-KR" sz="1100" b="0" i="0" u="none" strike="noStrike">
                        <a:solidFill>
                          <a:srgbClr val="002A3A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3163772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" sz="1100" u="none" strike="noStrike">
                          <a:effectLst/>
                        </a:rPr>
                        <a:t>Windows Server</a:t>
                      </a:r>
                      <a:endParaRPr lang="en" sz="1100" b="0" i="0" u="none" strike="noStrike">
                        <a:solidFill>
                          <a:srgbClr val="002A3A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2019</a:t>
                      </a:r>
                      <a:endParaRPr lang="en-US" altLang="ko-KR" sz="1100" b="0" i="0" u="none" strike="noStrike" dirty="0">
                        <a:solidFill>
                          <a:srgbClr val="002A3A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25365537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722E6544-3CC5-23F3-795B-69A45C2429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63703"/>
              </p:ext>
            </p:extLst>
          </p:nvPr>
        </p:nvGraphicFramePr>
        <p:xfrm>
          <a:off x="5106080" y="4713330"/>
          <a:ext cx="6089074" cy="16596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5034">
                  <a:extLst>
                    <a:ext uri="{9D8B030D-6E8A-4147-A177-3AD203B41FA5}">
                      <a16:colId xmlns:a16="http://schemas.microsoft.com/office/drawing/2014/main" val="3185620556"/>
                    </a:ext>
                  </a:extLst>
                </a:gridCol>
                <a:gridCol w="5014040">
                  <a:extLst>
                    <a:ext uri="{9D8B030D-6E8A-4147-A177-3AD203B41FA5}">
                      <a16:colId xmlns:a16="http://schemas.microsoft.com/office/drawing/2014/main" val="752824500"/>
                    </a:ext>
                  </a:extLst>
                </a:gridCol>
              </a:tblGrid>
              <a:tr h="249928">
                <a:tc>
                  <a:txBody>
                    <a:bodyPr/>
                    <a:lstStyle/>
                    <a:p>
                      <a:pPr algn="l" fontAlgn="ctr"/>
                      <a:r>
                        <a:rPr lang="en" sz="1000" u="none" strike="noStrike" dirty="0">
                          <a:effectLst/>
                        </a:rPr>
                        <a:t>Port number</a:t>
                      </a:r>
                      <a:endParaRPr lang="en" sz="10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000" u="none" strike="noStrike" dirty="0">
                          <a:effectLst/>
                        </a:rPr>
                        <a:t>OpenSearch component</a:t>
                      </a:r>
                      <a:endParaRPr lang="en" sz="10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10375180"/>
                  </a:ext>
                </a:extLst>
              </a:tr>
              <a:tr h="24809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443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000" u="none" strike="noStrike" dirty="0">
                          <a:effectLst/>
                        </a:rPr>
                        <a:t>OpenSearch Dashboards in AWS OpenSearch Service with encryption in transit (TLS)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203958"/>
                  </a:ext>
                </a:extLst>
              </a:tr>
              <a:tr h="24992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>
                          <a:effectLst/>
                        </a:rPr>
                        <a:t>5601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000" u="none" strike="noStrike" dirty="0">
                          <a:effectLst/>
                        </a:rPr>
                        <a:t>OpenSearch Dashboards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408931"/>
                  </a:ext>
                </a:extLst>
              </a:tr>
              <a:tr h="24992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>
                          <a:effectLst/>
                        </a:rPr>
                        <a:t>9200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000" u="none" strike="noStrike" dirty="0">
                          <a:effectLst/>
                        </a:rPr>
                        <a:t>OpenSearch REST API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65002802"/>
                  </a:ext>
                </a:extLst>
              </a:tr>
              <a:tr h="13096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>
                          <a:effectLst/>
                        </a:rPr>
                        <a:t>9250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000" u="none" strike="noStrike" dirty="0">
                          <a:effectLst/>
                        </a:rPr>
                        <a:t>Cross-cluster search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00808219"/>
                  </a:ext>
                </a:extLst>
              </a:tr>
              <a:tr h="24992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>
                          <a:effectLst/>
                        </a:rPr>
                        <a:t>9300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000" u="none" strike="noStrike" dirty="0">
                          <a:effectLst/>
                        </a:rPr>
                        <a:t>Node communication and transport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95605363"/>
                  </a:ext>
                </a:extLst>
              </a:tr>
              <a:tr h="24992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>
                          <a:effectLst/>
                        </a:rPr>
                        <a:t>9600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000" u="none" strike="noStrike" dirty="0">
                          <a:effectLst/>
                        </a:rPr>
                        <a:t>Performance Analyzer 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4120674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EF77F008-24A7-6FA4-B2DC-98A3AF99EFCC}"/>
              </a:ext>
            </a:extLst>
          </p:cNvPr>
          <p:cNvSpPr txBox="1"/>
          <p:nvPr/>
        </p:nvSpPr>
        <p:spPr>
          <a:xfrm>
            <a:off x="822658" y="2901870"/>
            <a:ext cx="4127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OS compatibility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4B6FD8-5F59-3505-79F0-EBB9D9100CAC}"/>
              </a:ext>
            </a:extLst>
          </p:cNvPr>
          <p:cNvSpPr txBox="1"/>
          <p:nvPr/>
        </p:nvSpPr>
        <p:spPr>
          <a:xfrm>
            <a:off x="5059759" y="2914082"/>
            <a:ext cx="4127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J</a:t>
            </a:r>
            <a:r>
              <a:rPr lang="en-US" altLang="ko-KR" sz="18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ava compatibility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0E7D94-E467-AFCD-830C-BF51483FE9CD}"/>
              </a:ext>
            </a:extLst>
          </p:cNvPr>
          <p:cNvSpPr txBox="1"/>
          <p:nvPr/>
        </p:nvSpPr>
        <p:spPr>
          <a:xfrm>
            <a:off x="5059759" y="4397751"/>
            <a:ext cx="4127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N</a:t>
            </a:r>
            <a:r>
              <a:rPr lang="en-US" altLang="ko-KR" sz="18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etwork requirements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0633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6E7D4DC9-2E0F-B123-A343-443832BA7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26645D00-8FBD-70FB-FB3C-A0B66AD7C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1">
            <a:extLst>
              <a:ext uri="{FF2B5EF4-FFF2-40B4-BE49-F238E27FC236}">
                <a16:creationId xmlns:a16="http://schemas.microsoft.com/office/drawing/2014/main" id="{F27CB3A3-F7D3-92EC-2CC6-FDF19203F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3">
            <a:extLst>
              <a:ext uri="{FF2B5EF4-FFF2-40B4-BE49-F238E27FC236}">
                <a16:creationId xmlns:a16="http://schemas.microsoft.com/office/drawing/2014/main" id="{C30BEB38-F3BC-2E77-F0E8-E51CB4976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EE95E036-F4FB-8174-7F0E-883778A97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17">
            <a:extLst>
              <a:ext uri="{FF2B5EF4-FFF2-40B4-BE49-F238E27FC236}">
                <a16:creationId xmlns:a16="http://schemas.microsoft.com/office/drawing/2014/main" id="{89B284C0-9D5E-F23F-718F-0E7EBD408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19">
            <a:extLst>
              <a:ext uri="{FF2B5EF4-FFF2-40B4-BE49-F238E27FC236}">
                <a16:creationId xmlns:a16="http://schemas.microsoft.com/office/drawing/2014/main" id="{C9BE0B9E-8ED1-2748-8B1C-65DBEE017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A2DE84C-E99A-4505-DDBF-9F56D0E8FA40}"/>
              </a:ext>
            </a:extLst>
          </p:cNvPr>
          <p:cNvSpPr txBox="1"/>
          <p:nvPr/>
        </p:nvSpPr>
        <p:spPr>
          <a:xfrm>
            <a:off x="516411" y="1157161"/>
            <a:ext cx="111500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400" dirty="0" err="1">
                <a:solidFill>
                  <a:schemeClr val="bg1">
                    <a:lumMod val="85000"/>
                  </a:schemeClr>
                </a:solidFill>
              </a:rPr>
              <a:t>Opensearch</a:t>
            </a:r>
            <a:endParaRPr kumimoji="1" lang="en-US" altLang="ko-KR" sz="1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모니터링 및 분석에 필수적인 분석 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/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 검색 엔진을 설치해 최적화된 인덱싱 및 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API 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제공을 목표로 한다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pPr marL="342900" indent="-342900">
              <a:buAutoNum type="arabicPeriod"/>
            </a:pPr>
            <a:endParaRPr kumimoji="1" lang="en-US" altLang="ko-KR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2" name="제목 1">
            <a:extLst>
              <a:ext uri="{FF2B5EF4-FFF2-40B4-BE49-F238E27FC236}">
                <a16:creationId xmlns:a16="http://schemas.microsoft.com/office/drawing/2014/main" id="{14413027-68E6-BDB2-9FD2-12FA5C792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73" y="196926"/>
            <a:ext cx="4157900" cy="9602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kumimoji="1" lang="ko-KR" altLang="en-US" sz="4800" dirty="0">
                <a:solidFill>
                  <a:srgbClr val="FFFFFF"/>
                </a:solidFill>
              </a:rPr>
              <a:t>사전 설치</a:t>
            </a:r>
            <a:endParaRPr kumimoji="1" lang="en-US" altLang="ko-KR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EDE087DD-800E-17C3-7F15-C0E3EB6F24B5}"/>
              </a:ext>
            </a:extLst>
          </p:cNvPr>
          <p:cNvSpPr/>
          <p:nvPr/>
        </p:nvSpPr>
        <p:spPr>
          <a:xfrm>
            <a:off x="515177" y="2289049"/>
            <a:ext cx="11047169" cy="4226898"/>
          </a:xfrm>
          <a:prstGeom prst="roundRect">
            <a:avLst>
              <a:gd name="adj" fmla="val 216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" altLang="ko-KR" sz="1200" dirty="0">
              <a:effectLst/>
              <a:latin typeface="Helvetica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0CD573-2A80-41CF-5167-E58736F4AA4F}"/>
              </a:ext>
            </a:extLst>
          </p:cNvPr>
          <p:cNvSpPr txBox="1"/>
          <p:nvPr/>
        </p:nvSpPr>
        <p:spPr>
          <a:xfrm>
            <a:off x="569995" y="2310273"/>
            <a:ext cx="10944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OpenSearch</a:t>
            </a:r>
            <a:r>
              <a:rPr lang="ko-KR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는 대규모 데이터를 처리하고 검색하기 위해 메모리 </a:t>
            </a:r>
            <a:r>
              <a:rPr lang="ko-KR" altLang="en-US" sz="10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맵을</a:t>
            </a:r>
            <a:r>
              <a:rPr lang="ko-KR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 사용합니다</a:t>
            </a:r>
            <a:r>
              <a:rPr lang="en-US" altLang="ko-KR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. </a:t>
            </a:r>
            <a:r>
              <a:rPr lang="ko-KR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많은 수의 메모리 </a:t>
            </a:r>
            <a:r>
              <a:rPr lang="ko-KR" altLang="en-US" sz="10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맵을</a:t>
            </a:r>
            <a:r>
              <a:rPr lang="ko-KR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 생성해야 할 수 있으며</a:t>
            </a:r>
            <a:r>
              <a:rPr lang="en-US" altLang="ko-KR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, </a:t>
            </a:r>
            <a:r>
              <a:rPr lang="ko-KR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이를 위해서는 운영 체제에서 프로세스당 가질 수 있는 메모리 </a:t>
            </a:r>
            <a:r>
              <a:rPr lang="ko-KR" altLang="en-US" sz="10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맵의</a:t>
            </a:r>
            <a:r>
              <a:rPr lang="ko-KR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 최대 개수를 적절하게 설정</a:t>
            </a:r>
            <a:endParaRPr lang="ko-KR" alt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DFEE403-AED1-C9C6-AA02-E2966E4ADBF5}"/>
              </a:ext>
            </a:extLst>
          </p:cNvPr>
          <p:cNvSpPr txBox="1"/>
          <p:nvPr/>
        </p:nvSpPr>
        <p:spPr>
          <a:xfrm>
            <a:off x="822658" y="2901870"/>
            <a:ext cx="10444916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Linux</a:t>
            </a:r>
          </a:p>
          <a:p>
            <a:r>
              <a:rPr lang="en-US" altLang="ko-KR" sz="1300" dirty="0">
                <a:solidFill>
                  <a:srgbClr val="50A14F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vi </a:t>
            </a:r>
            <a:r>
              <a:rPr lang="en" altLang="ko-KR" sz="13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/</a:t>
            </a:r>
            <a:r>
              <a:rPr lang="en" altLang="ko-KR" sz="1300" b="0" i="0" u="none" strike="noStrike" dirty="0" err="1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etc</a:t>
            </a:r>
            <a:r>
              <a:rPr lang="en" altLang="ko-KR" sz="1300" b="0" i="0" u="none" strike="noStrike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Courier New" panose="02070309020205020404" pitchFamily="49" charset="0"/>
              </a:rPr>
              <a:t>/</a:t>
            </a:r>
            <a:r>
              <a:rPr lang="en-US" altLang="ko-KR" sz="1300" dirty="0" err="1">
                <a:solidFill>
                  <a:srgbClr val="383A4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sysctl.conf</a:t>
            </a:r>
            <a:r>
              <a:rPr lang="en" altLang="ko-KR" sz="1300" dirty="0"/>
              <a:t> </a:t>
            </a:r>
            <a:r>
              <a:rPr lang="en" altLang="ko-KR" sz="1300" dirty="0" err="1"/>
              <a:t>vm.max_map_count</a:t>
            </a:r>
            <a:r>
              <a:rPr lang="en" altLang="ko-KR" sz="1300" dirty="0"/>
              <a:t>=262144</a:t>
            </a:r>
          </a:p>
          <a:p>
            <a:endParaRPr lang="en" altLang="ko-KR" sz="1300" dirty="0"/>
          </a:p>
          <a:p>
            <a:r>
              <a:rPr lang="en-US" altLang="ko-KR" sz="14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Windows</a:t>
            </a:r>
          </a:p>
          <a:p>
            <a:r>
              <a:rPr lang="en" altLang="ko-KR" sz="1300" dirty="0" err="1"/>
              <a:t>wsl</a:t>
            </a:r>
            <a:r>
              <a:rPr lang="en" altLang="ko-KR" sz="1300" dirty="0"/>
              <a:t> </a:t>
            </a:r>
            <a:r>
              <a:rPr lang="en" altLang="ko-KR" sz="1300" dirty="0">
                <a:solidFill>
                  <a:srgbClr val="268BD2"/>
                </a:solidFill>
                <a:effectLst/>
              </a:rPr>
              <a:t>-d</a:t>
            </a:r>
            <a:r>
              <a:rPr lang="en" altLang="ko-KR" sz="1300" dirty="0"/>
              <a:t> docker-desktop </a:t>
            </a:r>
            <a:r>
              <a:rPr lang="en" altLang="ko-KR" sz="1300" dirty="0" err="1"/>
              <a:t>sysctl</a:t>
            </a:r>
            <a:r>
              <a:rPr lang="en" altLang="ko-KR" sz="1300" dirty="0"/>
              <a:t> </a:t>
            </a:r>
            <a:r>
              <a:rPr lang="en" altLang="ko-KR" sz="1300" dirty="0">
                <a:solidFill>
                  <a:srgbClr val="268BD2"/>
                </a:solidFill>
                <a:effectLst/>
              </a:rPr>
              <a:t>-w</a:t>
            </a:r>
            <a:r>
              <a:rPr lang="en" altLang="ko-KR" sz="1300" dirty="0"/>
              <a:t> </a:t>
            </a:r>
            <a:r>
              <a:rPr lang="en" altLang="ko-KR" sz="1300" dirty="0" err="1"/>
              <a:t>vm.max_map_count</a:t>
            </a:r>
            <a:r>
              <a:rPr lang="en" altLang="ko-KR" sz="1300" dirty="0">
                <a:solidFill>
                  <a:srgbClr val="8736AA"/>
                </a:solidFill>
                <a:effectLst/>
              </a:rPr>
              <a:t>=</a:t>
            </a:r>
            <a:r>
              <a:rPr lang="en" altLang="ko-KR" sz="1300" dirty="0"/>
              <a:t>262144</a:t>
            </a:r>
          </a:p>
          <a:p>
            <a:endParaRPr lang="en" altLang="ko-KR" sz="1300" dirty="0"/>
          </a:p>
          <a:p>
            <a:r>
              <a:rPr lang="en-US" altLang="ko-KR" sz="12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. </a:t>
            </a:r>
          </a:p>
          <a:p>
            <a:endParaRPr lang="en" altLang="ko-KR" sz="1200" dirty="0"/>
          </a:p>
          <a:p>
            <a:endParaRPr lang="en" altLang="ko-KR" sz="1200" dirty="0"/>
          </a:p>
          <a:p>
            <a:r>
              <a:rPr lang="en" altLang="ko-KR" sz="1200" dirty="0"/>
              <a:t>OPENSEARCH_JAVA_OPTS=-Xms3g -Xmx3g</a:t>
            </a:r>
            <a:r>
              <a:rPr lang="ko-KR" altLang="en-US" sz="1200" dirty="0"/>
              <a:t> </a:t>
            </a:r>
            <a:r>
              <a:rPr lang="en" altLang="ko-KR" sz="1200" dirty="0"/>
              <a:t>config/</a:t>
            </a:r>
            <a:r>
              <a:rPr lang="en" altLang="ko-KR" sz="1200" dirty="0" err="1"/>
              <a:t>jvm.options</a:t>
            </a:r>
            <a:endParaRPr lang="en" altLang="ko-KR" sz="1200" dirty="0"/>
          </a:p>
          <a:p>
            <a:endParaRPr lang="en-US" altLang="ko-KR" sz="1200" dirty="0">
              <a:solidFill>
                <a:schemeClr val="accent2"/>
              </a:solidFill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r>
              <a:rPr lang="ko-KR" altLang="en-US" sz="12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환경 변수로 </a:t>
            </a:r>
            <a:r>
              <a:rPr lang="en-US" altLang="ko-KR" sz="1200" dirty="0" err="1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jvm</a:t>
            </a:r>
            <a:r>
              <a:rPr lang="en-US" altLang="ko-KR" sz="12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 </a:t>
            </a:r>
            <a:r>
              <a:rPr lang="ko-KR" altLang="en-US" sz="12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옵션을 </a:t>
            </a:r>
            <a:r>
              <a:rPr lang="ko-KR" altLang="en-US" sz="1200" dirty="0" err="1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설정시</a:t>
            </a:r>
            <a:r>
              <a:rPr lang="ko-KR" altLang="en-US" sz="12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 </a:t>
            </a:r>
            <a:r>
              <a:rPr lang="en" altLang="ko-KR" sz="1200" dirty="0"/>
              <a:t>config/</a:t>
            </a:r>
            <a:r>
              <a:rPr lang="en" altLang="ko-KR" sz="1200" dirty="0" err="1"/>
              <a:t>jvm.options</a:t>
            </a:r>
            <a:r>
              <a:rPr lang="en" altLang="ko-KR" sz="1200" dirty="0"/>
              <a:t> </a:t>
            </a:r>
            <a:r>
              <a:rPr lang="ko-KR" altLang="en-US" sz="12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파일에서</a:t>
            </a:r>
            <a:r>
              <a:rPr lang="en-US" altLang="ko-KR" sz="12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 </a:t>
            </a:r>
            <a:r>
              <a:rPr lang="ko-KR" altLang="en-US" sz="12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해당 옵션을 주석 처리하거나 삭제</a:t>
            </a:r>
            <a:endParaRPr lang="en-US" altLang="ko-KR" sz="1200" dirty="0">
              <a:solidFill>
                <a:schemeClr val="accent2"/>
              </a:solidFill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ko-KR" sz="12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OPENSEARCH_JAVA_OPTS=-Xms512m -Xmx512m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ko-KR" sz="12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Java </a:t>
            </a:r>
            <a:r>
              <a:rPr lang="ko-KR" altLang="en-US" sz="1200" b="0" i="0" dirty="0" err="1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힙의</a:t>
            </a:r>
            <a:r>
              <a:rPr lang="ko-KR" altLang="en-US" sz="12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 크기를 설정합니다</a:t>
            </a:r>
            <a:r>
              <a:rPr lang="en-US" altLang="ko-KR" sz="12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(</a:t>
            </a:r>
            <a:r>
              <a:rPr lang="ko-KR" altLang="en-US" sz="12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시스템 </a:t>
            </a:r>
            <a:r>
              <a:rPr lang="en" altLang="ko-KR" sz="12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RAM</a:t>
            </a:r>
            <a:r>
              <a:rPr lang="ko-KR" altLang="en-US" sz="12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의 절반 권장</a:t>
            </a:r>
            <a:r>
              <a:rPr lang="en-US" altLang="ko-KR" sz="12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ko-KR" sz="1200" b="0" i="0" dirty="0" err="1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nofile</a:t>
            </a:r>
            <a:r>
              <a:rPr lang="en" altLang="ko-KR" sz="12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 65536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ko-KR" sz="12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OpenSearch </a:t>
            </a:r>
            <a:r>
              <a:rPr lang="ko-KR" altLang="en-US" sz="12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사용자에 대해 열려 있는 파일 수를 </a:t>
            </a:r>
            <a:r>
              <a:rPr lang="en-US" altLang="ko-KR" sz="12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65536</a:t>
            </a:r>
            <a:r>
              <a:rPr lang="ko-KR" altLang="en-US" sz="12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개로 제한합니다</a:t>
            </a:r>
            <a:r>
              <a:rPr lang="en-US" altLang="ko-KR" sz="12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.</a:t>
            </a:r>
          </a:p>
          <a:p>
            <a:endParaRPr lang="ko-KR" altLang="en-US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B643CB5-B4F9-0B83-314A-3CAEBFFB8F92}"/>
              </a:ext>
            </a:extLst>
          </p:cNvPr>
          <p:cNvSpPr txBox="1"/>
          <p:nvPr/>
        </p:nvSpPr>
        <p:spPr>
          <a:xfrm>
            <a:off x="573003" y="4187149"/>
            <a:ext cx="109442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예기치 않은 동작이 발생하거나 </a:t>
            </a:r>
            <a:r>
              <a:rPr lang="en" altLang="ko-KR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OpenSearch </a:t>
            </a:r>
            <a:r>
              <a:rPr lang="ko-KR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서비스가 시작되지 않을 수 있으므로 여러 위치에서 동일한 </a:t>
            </a:r>
            <a:r>
              <a:rPr lang="en" altLang="ko-KR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JVM </a:t>
            </a:r>
            <a:r>
              <a:rPr lang="ko-KR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옵션을 선언하지 마십시오</a:t>
            </a:r>
            <a:endParaRPr lang="ko-KR" alt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0490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7">
            <a:extLst>
              <a:ext uri="{FF2B5EF4-FFF2-40B4-BE49-F238E27FC236}">
                <a16:creationId xmlns:a16="http://schemas.microsoft.com/office/drawing/2014/main" id="{938EBD46-CDE6-4833-2F30-E9017D586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43B21B65-36BD-8F58-DBC3-2F8E1EBAE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4C907131-653E-CC8E-056D-FDB667580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C251C95D-23EC-4C7E-511E-41BF36D321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C33DB108-48FF-FF49-E946-A0C88B58D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ECFACBDD-0AE9-22EF-A570-B6A368B11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19">
            <a:extLst>
              <a:ext uri="{FF2B5EF4-FFF2-40B4-BE49-F238E27FC236}">
                <a16:creationId xmlns:a16="http://schemas.microsoft.com/office/drawing/2014/main" id="{624B1540-9D95-31B6-D6F9-1930FD4C3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C3CDF0-D40F-1273-628D-BB0D8A8E5372}"/>
              </a:ext>
            </a:extLst>
          </p:cNvPr>
          <p:cNvSpPr txBox="1"/>
          <p:nvPr/>
        </p:nvSpPr>
        <p:spPr>
          <a:xfrm>
            <a:off x="516411" y="1157161"/>
            <a:ext cx="111500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400" dirty="0" err="1">
                <a:solidFill>
                  <a:schemeClr val="bg1">
                    <a:lumMod val="85000"/>
                  </a:schemeClr>
                </a:solidFill>
              </a:rPr>
              <a:t>Opensearch</a:t>
            </a:r>
            <a:endParaRPr kumimoji="1" lang="en-US" altLang="ko-KR" sz="1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모니터링 및 분석에 필수적인 분석 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/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 검색 엔진을 설치해 최적화된 인덱싱 및 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API 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제공을 목표로 한다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pPr marL="342900" indent="-342900">
              <a:buAutoNum type="arabicPeriod"/>
            </a:pPr>
            <a:endParaRPr kumimoji="1" lang="en-US" altLang="ko-KR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B88B1392-91B9-A450-6461-EF8E7B5E1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73" y="196926"/>
            <a:ext cx="4157900" cy="9602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kumimoji="1" lang="ko-KR" altLang="en-US" sz="4800" dirty="0">
                <a:solidFill>
                  <a:srgbClr val="FFFFFF"/>
                </a:solidFill>
              </a:rPr>
              <a:t>사전 설치</a:t>
            </a:r>
            <a:endParaRPr kumimoji="1" lang="en-US" altLang="ko-KR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918E7422-5916-44B7-BE85-BED814FFF9D1}"/>
              </a:ext>
            </a:extLst>
          </p:cNvPr>
          <p:cNvSpPr/>
          <p:nvPr/>
        </p:nvSpPr>
        <p:spPr>
          <a:xfrm>
            <a:off x="515177" y="2289049"/>
            <a:ext cx="11047169" cy="4226898"/>
          </a:xfrm>
          <a:prstGeom prst="roundRect">
            <a:avLst>
              <a:gd name="adj" fmla="val 216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" altLang="ko-KR" sz="1200" dirty="0">
              <a:effectLst/>
              <a:latin typeface="Helvetica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651124-06F6-E002-CA3E-2D271E720A03}"/>
              </a:ext>
            </a:extLst>
          </p:cNvPr>
          <p:cNvSpPr txBox="1"/>
          <p:nvPr/>
        </p:nvSpPr>
        <p:spPr>
          <a:xfrm>
            <a:off x="569995" y="2310273"/>
            <a:ext cx="109442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öhne"/>
              </a:rPr>
              <a:t>Linux </a:t>
            </a:r>
            <a:r>
              <a:rPr lang="ko-KR" altLang="en-US" sz="1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öhne"/>
              </a:rPr>
              <a:t>시스템에서 사용자 또는 프로세스가 열 수 있는 파일의 최대 개수를 제한</a:t>
            </a:r>
            <a:endParaRPr lang="ko-KR" alt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03664D-83E6-8D0F-0672-16FC4ADDCF8A}"/>
              </a:ext>
            </a:extLst>
          </p:cNvPr>
          <p:cNvSpPr txBox="1"/>
          <p:nvPr/>
        </p:nvSpPr>
        <p:spPr>
          <a:xfrm>
            <a:off x="822658" y="2901870"/>
            <a:ext cx="10444916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altLang="ko-KR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/</a:t>
            </a:r>
            <a:r>
              <a:rPr lang="en" altLang="ko-KR" sz="12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etc</a:t>
            </a:r>
            <a:r>
              <a:rPr lang="en" altLang="ko-KR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/security/</a:t>
            </a:r>
            <a:r>
              <a:rPr lang="en" altLang="ko-KR" sz="12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limits.conf</a:t>
            </a:r>
            <a:r>
              <a:rPr lang="en" altLang="ko-KR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 </a:t>
            </a:r>
            <a:r>
              <a:rPr lang="ko-KR" altLang="en-US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파일에서 설정하기</a:t>
            </a:r>
          </a:p>
          <a:p>
            <a:pPr algn="l"/>
            <a:r>
              <a:rPr lang="en" altLang="ko-KR" sz="12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limits.conf</a:t>
            </a:r>
            <a:r>
              <a:rPr lang="en" altLang="ko-KR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 </a:t>
            </a:r>
            <a:r>
              <a:rPr lang="ko-KR" altLang="en-US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파일 편집</a:t>
            </a:r>
            <a:r>
              <a:rPr lang="en-US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: </a:t>
            </a:r>
            <a:r>
              <a:rPr lang="en" altLang="ko-K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sudo</a:t>
            </a:r>
            <a:r>
              <a:rPr lang="en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 nano /</a:t>
            </a:r>
            <a:r>
              <a:rPr lang="en" altLang="ko-K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etc</a:t>
            </a:r>
            <a:r>
              <a:rPr lang="en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/security/</a:t>
            </a:r>
            <a:r>
              <a:rPr lang="en" altLang="ko-K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limits.conf</a:t>
            </a:r>
            <a:r>
              <a:rPr lang="ko-KR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을 실행하여 파일을 열고 편집합니다</a:t>
            </a:r>
            <a:r>
              <a:rPr lang="en-US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" altLang="ko-KR" sz="12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nofile</a:t>
            </a:r>
            <a:r>
              <a:rPr lang="en" altLang="ko-KR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 </a:t>
            </a:r>
            <a:r>
              <a:rPr lang="ko-KR" altLang="en-US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설정 추가</a:t>
            </a:r>
            <a:r>
              <a:rPr lang="en-US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: </a:t>
            </a:r>
            <a:r>
              <a:rPr lang="en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OpenSearch</a:t>
            </a:r>
            <a:r>
              <a:rPr lang="ko-KR" altLang="en-US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를</a:t>
            </a:r>
            <a:r>
              <a:rPr lang="ko-KR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 실행하는 사용자에 대해 다음과 같은 라인을 추가합니다</a:t>
            </a:r>
            <a:r>
              <a:rPr lang="en-US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:</a:t>
            </a:r>
          </a:p>
          <a:p>
            <a:pPr algn="l">
              <a:buFont typeface="+mj-lt"/>
              <a:buAutoNum type="arabicPeriod"/>
            </a:pP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Söhne"/>
            </a:endParaRPr>
          </a:p>
          <a:p>
            <a:pPr algn="l"/>
            <a:r>
              <a:rPr lang="en-US" altLang="ko-K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opensearch</a:t>
            </a:r>
            <a:r>
              <a:rPr lang="en-US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 soft </a:t>
            </a:r>
            <a:r>
              <a:rPr lang="en-US" altLang="ko-K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nofile</a:t>
            </a:r>
            <a:r>
              <a:rPr lang="en-US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 65536</a:t>
            </a:r>
          </a:p>
          <a:p>
            <a:pPr algn="l"/>
            <a:r>
              <a:rPr lang="en-US" altLang="ko-K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opensearch</a:t>
            </a:r>
            <a:r>
              <a:rPr lang="en-US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 hard </a:t>
            </a:r>
            <a:r>
              <a:rPr lang="en-US" altLang="ko-K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nofile</a:t>
            </a:r>
            <a:r>
              <a:rPr lang="en-US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 65536</a:t>
            </a:r>
          </a:p>
          <a:p>
            <a:pPr algn="l">
              <a:buFont typeface="+mj-lt"/>
              <a:buAutoNum type="arabicPeriod"/>
            </a:pPr>
            <a:endParaRPr lang="en-US" altLang="ko-KR" sz="12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öhne"/>
            </a:endParaRPr>
          </a:p>
          <a:p>
            <a:pPr algn="l"/>
            <a:r>
              <a:rPr lang="ko-KR" altLang="en-US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서비스 파일 찾기 또는 생성</a:t>
            </a:r>
            <a:r>
              <a:rPr lang="en-US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: </a:t>
            </a:r>
            <a:r>
              <a:rPr lang="en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OpenSearch </a:t>
            </a:r>
            <a:r>
              <a:rPr lang="ko-KR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서비스 파일</a:t>
            </a:r>
            <a:r>
              <a:rPr lang="en-US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(</a:t>
            </a:r>
            <a:r>
              <a:rPr lang="en" altLang="ko-K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opensearch.service</a:t>
            </a:r>
            <a:r>
              <a:rPr lang="en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)</a:t>
            </a:r>
            <a:r>
              <a:rPr lang="ko-KR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을 </a:t>
            </a:r>
            <a:r>
              <a:rPr lang="en-US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/</a:t>
            </a:r>
            <a:r>
              <a:rPr lang="en" altLang="ko-K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etc</a:t>
            </a:r>
            <a:r>
              <a:rPr lang="en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/</a:t>
            </a:r>
            <a:r>
              <a:rPr lang="en" altLang="ko-K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systemd</a:t>
            </a:r>
            <a:r>
              <a:rPr lang="en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/system/ </a:t>
            </a:r>
            <a:r>
              <a:rPr lang="ko-KR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디렉터리에서 찾거나 새로 작성합니다</a:t>
            </a:r>
            <a:r>
              <a:rPr lang="en-US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" altLang="ko-KR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Service </a:t>
            </a:r>
            <a:r>
              <a:rPr lang="ko-KR" altLang="en-US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섹션에 설정 추가</a:t>
            </a:r>
            <a:r>
              <a:rPr lang="en-US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: </a:t>
            </a:r>
            <a:r>
              <a:rPr lang="ko-KR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서비스 파일을 편집하여 다음과 같이 </a:t>
            </a:r>
            <a:r>
              <a:rPr lang="en" altLang="ko-K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LimitNOFILE</a:t>
            </a:r>
            <a:r>
              <a:rPr lang="en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 </a:t>
            </a:r>
            <a:r>
              <a:rPr lang="ko-KR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값을 추가합니다</a:t>
            </a:r>
            <a:r>
              <a:rPr lang="en-US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:</a:t>
            </a:r>
          </a:p>
          <a:p>
            <a:pPr algn="l"/>
            <a:endParaRPr lang="en-US" altLang="ko-KR" sz="12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öhne"/>
            </a:endParaRPr>
          </a:p>
          <a:p>
            <a:pPr algn="l"/>
            <a:r>
              <a:rPr lang="en-US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[Service]</a:t>
            </a:r>
          </a:p>
          <a:p>
            <a:pPr algn="l"/>
            <a:r>
              <a:rPr lang="en-US" altLang="ko-K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LimitNOFILE</a:t>
            </a:r>
            <a:r>
              <a:rPr lang="en-US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öhne"/>
              </a:rPr>
              <a:t>=65536</a:t>
            </a:r>
          </a:p>
          <a:p>
            <a:pPr marL="342900" indent="-342900" algn="l">
              <a:buFont typeface="+mj-lt"/>
              <a:buAutoNum type="arabicPeriod"/>
            </a:pPr>
            <a:endParaRPr lang="en-US" altLang="ko-KR" sz="14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881004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7">
            <a:extLst>
              <a:ext uri="{FF2B5EF4-FFF2-40B4-BE49-F238E27FC236}">
                <a16:creationId xmlns:a16="http://schemas.microsoft.com/office/drawing/2014/main" id="{82DB05DF-BA4F-0906-B4E8-6ED60F84B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AF3FBED1-42BD-CA1A-5581-14B7EDCCC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AB0575FA-F9AD-502F-18FF-4A0B93EA1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C8B7534-3E1D-B083-8701-EC9C0B339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BE3A9CAF-3108-50EA-B988-CB9B497A2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A44A40E4-B974-451E-A8B4-FAC51BCB4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19">
            <a:extLst>
              <a:ext uri="{FF2B5EF4-FFF2-40B4-BE49-F238E27FC236}">
                <a16:creationId xmlns:a16="http://schemas.microsoft.com/office/drawing/2014/main" id="{D1821D14-C236-4470-34FE-F933EBB82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53A923-8FF7-866F-9C3E-D60B93DEDF6B}"/>
              </a:ext>
            </a:extLst>
          </p:cNvPr>
          <p:cNvSpPr txBox="1"/>
          <p:nvPr/>
        </p:nvSpPr>
        <p:spPr>
          <a:xfrm>
            <a:off x="516411" y="1157161"/>
            <a:ext cx="111500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400" dirty="0" err="1">
                <a:solidFill>
                  <a:schemeClr val="bg1">
                    <a:lumMod val="85000"/>
                  </a:schemeClr>
                </a:solidFill>
              </a:rPr>
              <a:t>Opensearch</a:t>
            </a:r>
            <a:endParaRPr kumimoji="1" lang="en-US" altLang="ko-KR" sz="1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모니터링 및 분석에 필수적인 분석 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/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 검색 엔진을 설치해 최적화된 인덱싱 및 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API 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제공을 목표로 한다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pPr marL="342900" indent="-342900">
              <a:buAutoNum type="arabicPeriod"/>
            </a:pPr>
            <a:endParaRPr kumimoji="1" lang="en-US" altLang="ko-KR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B4DB2280-CC7A-29F7-8687-B7E0D208A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72" y="196926"/>
            <a:ext cx="8072753" cy="96023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latinLnBrk="0"/>
            <a:r>
              <a:rPr kumimoji="1" lang="ko-KR" altLang="en-US" sz="4800" dirty="0">
                <a:solidFill>
                  <a:srgbClr val="FFFFFF"/>
                </a:solidFill>
              </a:rPr>
              <a:t>설치 </a:t>
            </a:r>
            <a:r>
              <a:rPr kumimoji="1" lang="en-US" altLang="ko-KR" sz="2200" dirty="0">
                <a:solidFill>
                  <a:schemeClr val="accent2">
                    <a:lumMod val="75000"/>
                  </a:schemeClr>
                </a:solidFill>
              </a:rPr>
              <a:t>YUM repository</a:t>
            </a:r>
            <a:r>
              <a:rPr kumimoji="1" lang="ko-KR" altLang="en-US" sz="2200" dirty="0">
                <a:solidFill>
                  <a:schemeClr val="accent2">
                    <a:lumMod val="75000"/>
                  </a:schemeClr>
                </a:solidFill>
              </a:rPr>
              <a:t>는</a:t>
            </a:r>
            <a:r>
              <a:rPr kumimoji="1" lang="en-US" altLang="ko-KR" sz="2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kumimoji="1" lang="ko-KR" altLang="en-US" sz="2200" dirty="0">
                <a:solidFill>
                  <a:schemeClr val="accent2">
                    <a:lumMod val="75000"/>
                  </a:schemeClr>
                </a:solidFill>
              </a:rPr>
              <a:t>개방형 네트워크 경우 이용 가능</a:t>
            </a:r>
            <a:br>
              <a:rPr kumimoji="1" lang="en-US" altLang="ko-KR" sz="22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kumimoji="1" lang="en-US" altLang="ko-KR" sz="2200" dirty="0">
                <a:solidFill>
                  <a:schemeClr val="accent2">
                    <a:lumMod val="75000"/>
                  </a:schemeClr>
                </a:solidFill>
              </a:rPr>
              <a:t>(/docs/latest/install-and-configure/install-</a:t>
            </a:r>
            <a:r>
              <a:rPr kumimoji="1" lang="en-US" altLang="ko-KR" sz="2200" dirty="0" err="1">
                <a:solidFill>
                  <a:schemeClr val="accent2">
                    <a:lumMod val="75000"/>
                  </a:schemeClr>
                </a:solidFill>
              </a:rPr>
              <a:t>opensearch</a:t>
            </a:r>
            <a:r>
              <a:rPr kumimoji="1" lang="en-US" altLang="ko-KR" sz="2200" dirty="0">
                <a:solidFill>
                  <a:schemeClr val="accent2">
                    <a:lumMod val="75000"/>
                  </a:schemeClr>
                </a:solidFill>
              </a:rPr>
              <a:t>/rpm/)</a:t>
            </a:r>
            <a:endParaRPr kumimoji="1" lang="en-US" altLang="ko-KR" sz="2200" kern="1200" dirty="0">
              <a:solidFill>
                <a:schemeClr val="accent2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585CA6DD-F113-F384-645C-CFEB9C5A3F92}"/>
              </a:ext>
            </a:extLst>
          </p:cNvPr>
          <p:cNvSpPr/>
          <p:nvPr/>
        </p:nvSpPr>
        <p:spPr>
          <a:xfrm>
            <a:off x="515177" y="2289049"/>
            <a:ext cx="11047169" cy="4226898"/>
          </a:xfrm>
          <a:prstGeom prst="roundRect">
            <a:avLst>
              <a:gd name="adj" fmla="val 216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" altLang="ko-KR" sz="1200" dirty="0">
              <a:effectLst/>
              <a:latin typeface="Helvetica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ED0CFE-8BD3-ACF9-E116-6CEDDBD90EB1}"/>
              </a:ext>
            </a:extLst>
          </p:cNvPr>
          <p:cNvSpPr txBox="1"/>
          <p:nvPr/>
        </p:nvSpPr>
        <p:spPr>
          <a:xfrm>
            <a:off x="569995" y="2310273"/>
            <a:ext cx="109442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사용자 지정 관리자 암호를 설정하려면 다음 명령 중 하나를 사용합니다</a:t>
            </a:r>
            <a:r>
              <a:rPr lang="en-US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.  </a:t>
            </a:r>
            <a:r>
              <a:rPr lang="en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OpenSearch 2.12 </a:t>
            </a:r>
            <a:r>
              <a:rPr lang="ko-KR" altLang="en-US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이상에서는 보안 데모 구성을 설정하려면 사용자 지정 관리자 암호가 필요합니다</a:t>
            </a:r>
            <a:r>
              <a:rPr lang="en-US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. </a:t>
            </a:r>
            <a:endParaRPr lang="ko-KR" alt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D45015-CE2A-642E-0886-76E85550D7E6}"/>
              </a:ext>
            </a:extLst>
          </p:cNvPr>
          <p:cNvSpPr txBox="1"/>
          <p:nvPr/>
        </p:nvSpPr>
        <p:spPr>
          <a:xfrm>
            <a:off x="822658" y="2901870"/>
            <a:ext cx="104449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hlinkClick r:id="rId2"/>
              </a:rPr>
              <a:t>Opensearch Download</a:t>
            </a:r>
            <a:r>
              <a:rPr lang="ko-KR" altLang="en-US" sz="1200" dirty="0"/>
              <a:t> 다운로드</a:t>
            </a:r>
            <a:endParaRPr lang="en-US" altLang="ko-KR" sz="14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öhne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4B3D5F-6701-2F0B-8C83-BD76F47AB8CC}"/>
              </a:ext>
            </a:extLst>
          </p:cNvPr>
          <p:cNvSpPr txBox="1"/>
          <p:nvPr/>
        </p:nvSpPr>
        <p:spPr>
          <a:xfrm>
            <a:off x="822658" y="3301928"/>
            <a:ext cx="10444916" cy="2147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OpenSearch 2.12 </a:t>
            </a:r>
            <a:r>
              <a:rPr lang="ko-KR" altLang="en-US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이상에서는 보안 데모 구성을 설정하려면 사용자 지정 관리자 암호가 필요합니다</a:t>
            </a:r>
            <a:r>
              <a:rPr lang="en-US" altLang="ko-KR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. </a:t>
            </a:r>
            <a:r>
              <a:rPr lang="ko-KR" altLang="en-US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사용자 지정 관리자 암호를 설정하려면 다음 명령 중 하나를 사용합니다</a:t>
            </a:r>
            <a:r>
              <a:rPr lang="en-US" altLang="ko-KR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900" b="0" i="0" dirty="0">
              <a:solidFill>
                <a:srgbClr val="002A3A"/>
              </a:solidFill>
              <a:effectLst/>
              <a:highlight>
                <a:srgbClr val="FFFFFF"/>
              </a:highlight>
              <a:latin typeface="Open Sans" panose="020B0606030504020204" pitchFamily="34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b="0" i="0" dirty="0">
                <a:solidFill>
                  <a:srgbClr val="47738D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# </a:t>
            </a:r>
            <a:r>
              <a:rPr lang="en" altLang="ko-KR" sz="900" b="0" i="0" dirty="0">
                <a:solidFill>
                  <a:srgbClr val="47738D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Install the x64 package using yum.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lang="en" altLang="ko-KR" sz="900" b="0" i="0" dirty="0" err="1">
                <a:solidFill>
                  <a:srgbClr val="B58900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sudo</a:t>
            </a:r>
            <a:r>
              <a:rPr lang="en" altLang="ko-KR" sz="900" b="0" i="0" dirty="0">
                <a:solidFill>
                  <a:srgbClr val="B58900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 env </a:t>
            </a:r>
            <a:r>
              <a:rPr lang="en" altLang="ko-KR" sz="900" b="0" i="0" dirty="0">
                <a:solidFill>
                  <a:srgbClr val="268BD2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OPENSEARCH_INITIAL_ADMIN_PASSWORD</a:t>
            </a:r>
            <a:r>
              <a:rPr lang="en" altLang="ko-KR" sz="900" b="0" i="0" dirty="0">
                <a:solidFill>
                  <a:srgbClr val="8736A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=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&lt;custom-admin-password&gt; yum </a:t>
            </a:r>
            <a:r>
              <a:rPr lang="en" altLang="ko-KR" sz="900" b="0" i="0" dirty="0">
                <a:solidFill>
                  <a:srgbClr val="B58900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install 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opensearch-2.13.0-linux-x64.rpm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900" b="0" i="0" dirty="0">
                <a:solidFill>
                  <a:srgbClr val="47738D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# Install the x64 package using rpm.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lang="en" altLang="ko-KR" sz="900" b="0" i="0" dirty="0" err="1">
                <a:solidFill>
                  <a:srgbClr val="B58900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sudo</a:t>
            </a:r>
            <a:r>
              <a:rPr lang="en" altLang="ko-KR" sz="900" b="0" i="0" dirty="0">
                <a:solidFill>
                  <a:srgbClr val="B58900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 env </a:t>
            </a:r>
            <a:r>
              <a:rPr lang="en" altLang="ko-KR" sz="900" b="0" i="0" dirty="0">
                <a:solidFill>
                  <a:srgbClr val="268BD2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OPENSEARCH_INITIAL_ADMIN_PASSWORD</a:t>
            </a:r>
            <a:r>
              <a:rPr lang="en" altLang="ko-KR" sz="900" b="0" i="0" dirty="0">
                <a:solidFill>
                  <a:srgbClr val="8736A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=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&lt;custom-admin-password&gt; rpm </a:t>
            </a:r>
            <a:r>
              <a:rPr lang="en" altLang="ko-KR" sz="900" b="0" i="0" dirty="0">
                <a:solidFill>
                  <a:srgbClr val="268BD2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-</a:t>
            </a:r>
            <a:r>
              <a:rPr lang="en" altLang="ko-KR" sz="900" b="0" i="0" dirty="0" err="1">
                <a:solidFill>
                  <a:srgbClr val="268BD2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ivh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 opensearch-2.13.0-linux-x64.rpm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900" b="0" i="0" dirty="0">
                <a:solidFill>
                  <a:srgbClr val="47738D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# Install the arm64 package using yum.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lang="en" altLang="ko-KR" sz="900" b="0" i="0" dirty="0" err="1">
                <a:solidFill>
                  <a:srgbClr val="B58900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sudo</a:t>
            </a:r>
            <a:r>
              <a:rPr lang="en" altLang="ko-KR" sz="900" b="0" i="0" dirty="0">
                <a:solidFill>
                  <a:srgbClr val="B58900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 env </a:t>
            </a:r>
            <a:r>
              <a:rPr lang="en" altLang="ko-KR" sz="900" b="0" i="0" dirty="0">
                <a:solidFill>
                  <a:srgbClr val="268BD2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OPENSEARCH_INITIAL_ADMIN_PASSWORD</a:t>
            </a:r>
            <a:r>
              <a:rPr lang="en" altLang="ko-KR" sz="900" b="0" i="0" dirty="0">
                <a:solidFill>
                  <a:srgbClr val="8736A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=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&lt;custom-admin-password&gt; yum </a:t>
            </a:r>
            <a:r>
              <a:rPr lang="en" altLang="ko-KR" sz="900" b="0" i="0" dirty="0">
                <a:solidFill>
                  <a:srgbClr val="B58900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install 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opensearch-2.13.0-linux-x64.rpm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900" b="0" i="0" dirty="0">
                <a:solidFill>
                  <a:srgbClr val="47738D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# Install the arm64 package using rpm.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lang="en" altLang="ko-KR" sz="900" b="0" i="0" dirty="0" err="1">
                <a:solidFill>
                  <a:srgbClr val="B58900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sudo</a:t>
            </a:r>
            <a:r>
              <a:rPr lang="en" altLang="ko-KR" sz="900" b="0" i="0" dirty="0">
                <a:solidFill>
                  <a:srgbClr val="B58900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 env </a:t>
            </a:r>
            <a:r>
              <a:rPr lang="en" altLang="ko-KR" sz="900" b="0" i="0" dirty="0">
                <a:solidFill>
                  <a:srgbClr val="268BD2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OPENSEARCH_INITIAL_ADMIN_PASSWORD</a:t>
            </a:r>
            <a:r>
              <a:rPr lang="en" altLang="ko-KR" sz="900" b="0" i="0" dirty="0">
                <a:solidFill>
                  <a:srgbClr val="8736A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=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&lt;custom-admin-password&gt; rpm </a:t>
            </a:r>
            <a:r>
              <a:rPr lang="en" altLang="ko-KR" sz="900" b="0" i="0" dirty="0">
                <a:solidFill>
                  <a:srgbClr val="268BD2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-</a:t>
            </a:r>
            <a:r>
              <a:rPr lang="en" altLang="ko-KR" sz="900" b="0" i="0" dirty="0" err="1">
                <a:solidFill>
                  <a:srgbClr val="268BD2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ivh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 opensearch-2.13.0-linux-x64.rpm</a:t>
            </a:r>
          </a:p>
        </p:txBody>
      </p:sp>
    </p:spTree>
    <p:extLst>
      <p:ext uri="{BB962C8B-B14F-4D97-AF65-F5344CB8AC3E}">
        <p14:creationId xmlns:p14="http://schemas.microsoft.com/office/powerpoint/2010/main" val="1275445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7">
            <a:extLst>
              <a:ext uri="{FF2B5EF4-FFF2-40B4-BE49-F238E27FC236}">
                <a16:creationId xmlns:a16="http://schemas.microsoft.com/office/drawing/2014/main" id="{E624E954-D769-6DFC-D3F0-8B6149B14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30C9EBC3-BAED-FA6A-66C1-2E033D3B6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CC7FEFB0-98EE-F6B7-0D72-DDC70DF0F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F402AA5-37DF-426D-9FE3-5E00747DB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6C2013E6-D847-D290-B6BE-7011F2C46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08624C77-49B1-FD48-A51A-592AA7C9F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19">
            <a:extLst>
              <a:ext uri="{FF2B5EF4-FFF2-40B4-BE49-F238E27FC236}">
                <a16:creationId xmlns:a16="http://schemas.microsoft.com/office/drawing/2014/main" id="{2B282A5A-E8E2-E64C-A49F-29ED19582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91201A-DB1E-505A-F5FA-950F77F5F74A}"/>
              </a:ext>
            </a:extLst>
          </p:cNvPr>
          <p:cNvSpPr txBox="1"/>
          <p:nvPr/>
        </p:nvSpPr>
        <p:spPr>
          <a:xfrm>
            <a:off x="516411" y="1157161"/>
            <a:ext cx="111500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400" dirty="0" err="1">
                <a:solidFill>
                  <a:schemeClr val="bg1">
                    <a:lumMod val="85000"/>
                  </a:schemeClr>
                </a:solidFill>
              </a:rPr>
              <a:t>Opensearch</a:t>
            </a:r>
            <a:endParaRPr kumimoji="1" lang="en-US" altLang="ko-KR" sz="1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모니터링 및 분석에 필수적인 분석 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/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 검색 엔진을 설치해 최적화된 인덱싱 및 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API 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제공을 목표로 한다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pPr marL="342900" indent="-342900">
              <a:buAutoNum type="arabicPeriod"/>
            </a:pPr>
            <a:endParaRPr kumimoji="1" lang="en-US" altLang="ko-KR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FDB325DE-98B7-E349-5DC5-FC2CCAB5A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73" y="196926"/>
            <a:ext cx="4157900" cy="9602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kumimoji="1" lang="ko-KR" altLang="en-US" sz="4800" dirty="0">
                <a:solidFill>
                  <a:srgbClr val="FFFFFF"/>
                </a:solidFill>
              </a:rPr>
              <a:t>설치</a:t>
            </a:r>
            <a:endParaRPr kumimoji="1" lang="en-US" altLang="ko-KR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EC280C48-4E49-D427-7EA8-97841E9E47A0}"/>
              </a:ext>
            </a:extLst>
          </p:cNvPr>
          <p:cNvSpPr/>
          <p:nvPr/>
        </p:nvSpPr>
        <p:spPr>
          <a:xfrm>
            <a:off x="515177" y="2289049"/>
            <a:ext cx="11047169" cy="4226898"/>
          </a:xfrm>
          <a:prstGeom prst="roundRect">
            <a:avLst>
              <a:gd name="adj" fmla="val 216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" altLang="ko-KR" sz="1200" dirty="0">
              <a:effectLst/>
              <a:latin typeface="Helvetica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2B84B8-26E6-4DDA-3AE0-5181863A19EC}"/>
              </a:ext>
            </a:extLst>
          </p:cNvPr>
          <p:cNvSpPr txBox="1"/>
          <p:nvPr/>
        </p:nvSpPr>
        <p:spPr>
          <a:xfrm>
            <a:off x="569995" y="2310273"/>
            <a:ext cx="109442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CLI</a:t>
            </a:r>
            <a:r>
              <a:rPr lang="ko-KR" altLang="en-US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에서 또는 </a:t>
            </a:r>
            <a:r>
              <a:rPr lang="ko-KR" altLang="en-US" sz="1000" b="0" i="0" dirty="0" err="1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를</a:t>
            </a:r>
            <a:r>
              <a:rPr lang="ko-KR" altLang="en-US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 사용하여 패키지를 설치할 수 있습니다</a:t>
            </a:r>
            <a:r>
              <a:rPr lang="en-US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.</a:t>
            </a:r>
            <a:r>
              <a:rPr lang="en" altLang="ko-KR" sz="1000" dirty="0" err="1"/>
              <a:t>rpmyum</a:t>
            </a:r>
            <a:endParaRPr lang="ko-KR" alt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CD91DF-CBBD-C5C8-B535-B03B73FC7F69}"/>
              </a:ext>
            </a:extLst>
          </p:cNvPr>
          <p:cNvSpPr txBox="1"/>
          <p:nvPr/>
        </p:nvSpPr>
        <p:spPr>
          <a:xfrm>
            <a:off x="822658" y="2901870"/>
            <a:ext cx="104449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hlinkClick r:id="rId2"/>
              </a:rPr>
              <a:t>Opensearch Download</a:t>
            </a:r>
            <a:r>
              <a:rPr lang="ko-KR" altLang="en-US" sz="1200" dirty="0"/>
              <a:t> 다운로드</a:t>
            </a:r>
            <a:endParaRPr lang="en-US" altLang="ko-KR" sz="14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öhne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760E88-CCCF-AA00-D54D-E27AAC3DA9B5}"/>
              </a:ext>
            </a:extLst>
          </p:cNvPr>
          <p:cNvSpPr txBox="1"/>
          <p:nvPr/>
        </p:nvSpPr>
        <p:spPr>
          <a:xfrm>
            <a:off x="822658" y="3301928"/>
            <a:ext cx="10444916" cy="214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OpenSearch 2.12 </a:t>
            </a:r>
            <a:r>
              <a:rPr lang="ko-KR" altLang="en-US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이상에서는 보안 데모 구성을 설정하려면 사용자 지정 관리자 암호가 필요합니다</a:t>
            </a:r>
            <a:r>
              <a:rPr lang="en-US" altLang="ko-KR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. </a:t>
            </a:r>
            <a:r>
              <a:rPr lang="ko-KR" altLang="en-US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사용자 지정 관리자 암호를 설정하려면 다음 명령 중 하나를 사용합니다</a:t>
            </a:r>
            <a:r>
              <a:rPr lang="en-US" altLang="ko-KR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900" b="0" i="0" dirty="0">
              <a:solidFill>
                <a:srgbClr val="002A3A"/>
              </a:solidFill>
              <a:effectLst/>
              <a:highlight>
                <a:srgbClr val="FFFFFF"/>
              </a:highlight>
              <a:latin typeface="Open Sans" panose="020B0606030504020204" pitchFamily="34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900" dirty="0">
                <a:solidFill>
                  <a:srgbClr val="47738D"/>
                </a:solidFill>
                <a:effectLst/>
              </a:rPr>
              <a:t># Install the x64 package using yum.</a:t>
            </a:r>
            <a:r>
              <a:rPr lang="en" altLang="ko-KR" sz="900" dirty="0"/>
              <a:t> </a:t>
            </a:r>
          </a:p>
          <a:p>
            <a:pPr algn="l">
              <a:lnSpc>
                <a:spcPct val="150000"/>
              </a:lnSpc>
            </a:pPr>
            <a:r>
              <a:rPr lang="en" altLang="ko-KR" sz="900" dirty="0" err="1">
                <a:solidFill>
                  <a:srgbClr val="B58900"/>
                </a:solidFill>
                <a:effectLst/>
              </a:rPr>
              <a:t>sudo</a:t>
            </a:r>
            <a:r>
              <a:rPr lang="en" altLang="ko-KR" sz="900" dirty="0">
                <a:solidFill>
                  <a:srgbClr val="B58900"/>
                </a:solidFill>
                <a:effectLst/>
              </a:rPr>
              <a:t> </a:t>
            </a:r>
            <a:r>
              <a:rPr lang="en" altLang="ko-KR" sz="900" dirty="0"/>
              <a:t>yum </a:t>
            </a:r>
            <a:r>
              <a:rPr lang="en" altLang="ko-KR" sz="900" dirty="0">
                <a:solidFill>
                  <a:srgbClr val="B58900"/>
                </a:solidFill>
                <a:effectLst/>
              </a:rPr>
              <a:t>install </a:t>
            </a:r>
            <a:r>
              <a:rPr lang="en" altLang="ko-KR" sz="900" dirty="0"/>
              <a:t>opensearch-2.13.0-linux-x64.rpm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900" dirty="0">
                <a:solidFill>
                  <a:srgbClr val="47738D"/>
                </a:solidFill>
                <a:effectLst/>
              </a:rPr>
              <a:t># Install the x64 package using rpm.</a:t>
            </a:r>
            <a:r>
              <a:rPr lang="en" altLang="ko-KR" sz="900" dirty="0"/>
              <a:t> </a:t>
            </a:r>
          </a:p>
          <a:p>
            <a:pPr algn="l">
              <a:lnSpc>
                <a:spcPct val="150000"/>
              </a:lnSpc>
            </a:pPr>
            <a:r>
              <a:rPr lang="en" altLang="ko-KR" sz="900" dirty="0" err="1">
                <a:solidFill>
                  <a:srgbClr val="B58900"/>
                </a:solidFill>
                <a:effectLst/>
              </a:rPr>
              <a:t>sudo</a:t>
            </a:r>
            <a:r>
              <a:rPr lang="en" altLang="ko-KR" sz="900" dirty="0">
                <a:solidFill>
                  <a:srgbClr val="B58900"/>
                </a:solidFill>
                <a:effectLst/>
              </a:rPr>
              <a:t> </a:t>
            </a:r>
            <a:r>
              <a:rPr lang="en" altLang="ko-KR" sz="900" dirty="0"/>
              <a:t>rpm </a:t>
            </a:r>
            <a:r>
              <a:rPr lang="en" altLang="ko-KR" sz="900" dirty="0">
                <a:solidFill>
                  <a:srgbClr val="268BD2"/>
                </a:solidFill>
                <a:effectLst/>
              </a:rPr>
              <a:t>-</a:t>
            </a:r>
            <a:r>
              <a:rPr lang="en" altLang="ko-KR" sz="900" dirty="0" err="1">
                <a:solidFill>
                  <a:srgbClr val="268BD2"/>
                </a:solidFill>
                <a:effectLst/>
              </a:rPr>
              <a:t>ivh</a:t>
            </a:r>
            <a:r>
              <a:rPr lang="en" altLang="ko-KR" sz="900" dirty="0"/>
              <a:t> opensearch-2.13.0-linux-x64.rpm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900" dirty="0">
                <a:solidFill>
                  <a:srgbClr val="47738D"/>
                </a:solidFill>
                <a:effectLst/>
              </a:rPr>
              <a:t># Install the arm64 package using yum.</a:t>
            </a:r>
            <a:r>
              <a:rPr lang="en" altLang="ko-KR" sz="900" dirty="0"/>
              <a:t> </a:t>
            </a:r>
          </a:p>
          <a:p>
            <a:pPr algn="l">
              <a:lnSpc>
                <a:spcPct val="150000"/>
              </a:lnSpc>
            </a:pPr>
            <a:r>
              <a:rPr lang="en" altLang="ko-KR" sz="900" dirty="0" err="1">
                <a:solidFill>
                  <a:srgbClr val="B58900"/>
                </a:solidFill>
                <a:effectLst/>
              </a:rPr>
              <a:t>sudo</a:t>
            </a:r>
            <a:r>
              <a:rPr lang="en" altLang="ko-KR" sz="900" dirty="0">
                <a:solidFill>
                  <a:srgbClr val="B58900"/>
                </a:solidFill>
                <a:effectLst/>
              </a:rPr>
              <a:t> </a:t>
            </a:r>
            <a:r>
              <a:rPr lang="en" altLang="ko-KR" sz="900" dirty="0"/>
              <a:t>yum </a:t>
            </a:r>
            <a:r>
              <a:rPr lang="en" altLang="ko-KR" sz="900" dirty="0">
                <a:solidFill>
                  <a:srgbClr val="B58900"/>
                </a:solidFill>
                <a:effectLst/>
              </a:rPr>
              <a:t>install </a:t>
            </a:r>
            <a:r>
              <a:rPr lang="en" altLang="ko-KR" sz="900" dirty="0"/>
              <a:t>opensearch-2.13.0-linux-x64.rpm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900" dirty="0">
                <a:solidFill>
                  <a:srgbClr val="47738D"/>
                </a:solidFill>
                <a:effectLst/>
              </a:rPr>
              <a:t># Install the arm64 package using rpm.</a:t>
            </a:r>
            <a:r>
              <a:rPr lang="en" altLang="ko-KR" sz="900" dirty="0"/>
              <a:t> </a:t>
            </a:r>
          </a:p>
          <a:p>
            <a:pPr algn="l">
              <a:lnSpc>
                <a:spcPct val="150000"/>
              </a:lnSpc>
            </a:pPr>
            <a:r>
              <a:rPr lang="en" altLang="ko-KR" sz="900" dirty="0" err="1">
                <a:solidFill>
                  <a:srgbClr val="B58900"/>
                </a:solidFill>
                <a:effectLst/>
              </a:rPr>
              <a:t>sudo</a:t>
            </a:r>
            <a:r>
              <a:rPr lang="en" altLang="ko-KR" sz="900" dirty="0">
                <a:solidFill>
                  <a:srgbClr val="B58900"/>
                </a:solidFill>
                <a:effectLst/>
              </a:rPr>
              <a:t> </a:t>
            </a:r>
            <a:r>
              <a:rPr lang="en" altLang="ko-KR" sz="900" dirty="0"/>
              <a:t>rpm </a:t>
            </a:r>
            <a:r>
              <a:rPr lang="en" altLang="ko-KR" sz="900" dirty="0">
                <a:solidFill>
                  <a:srgbClr val="268BD2"/>
                </a:solidFill>
                <a:effectLst/>
              </a:rPr>
              <a:t>-</a:t>
            </a:r>
            <a:r>
              <a:rPr lang="en" altLang="ko-KR" sz="900" dirty="0" err="1">
                <a:solidFill>
                  <a:srgbClr val="268BD2"/>
                </a:solidFill>
                <a:effectLst/>
              </a:rPr>
              <a:t>ivh</a:t>
            </a:r>
            <a:r>
              <a:rPr lang="en" altLang="ko-KR" sz="900" dirty="0"/>
              <a:t> opensearch-2.13.0-linux-x64.rpm</a:t>
            </a:r>
            <a:endParaRPr lang="en-US" altLang="ko-KR" sz="900" b="0" i="0" dirty="0">
              <a:solidFill>
                <a:srgbClr val="002A3A"/>
              </a:solidFill>
              <a:effectLst/>
              <a:highlight>
                <a:srgbClr val="FFFFFF"/>
              </a:highlight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943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7">
            <a:extLst>
              <a:ext uri="{FF2B5EF4-FFF2-40B4-BE49-F238E27FC236}">
                <a16:creationId xmlns:a16="http://schemas.microsoft.com/office/drawing/2014/main" id="{CB7D3C88-E978-1845-FDA1-EA81A917D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81569C18-40BD-5BDE-6925-EB156C315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FB2EF0B8-CAC0-C0FD-62EA-BFA759811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EDC124B-D7B3-926D-A04E-BEDFB9C5F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4E022095-E52B-594F-037D-DD453114B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25083DD0-B28B-0345-A1BC-8D240CEB8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19">
            <a:extLst>
              <a:ext uri="{FF2B5EF4-FFF2-40B4-BE49-F238E27FC236}">
                <a16:creationId xmlns:a16="http://schemas.microsoft.com/office/drawing/2014/main" id="{BC954C8C-6264-3F7A-6FCC-310D662E5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8F1559-FEB5-697D-B949-10220D6711CB}"/>
              </a:ext>
            </a:extLst>
          </p:cNvPr>
          <p:cNvSpPr txBox="1"/>
          <p:nvPr/>
        </p:nvSpPr>
        <p:spPr>
          <a:xfrm>
            <a:off x="516411" y="1157161"/>
            <a:ext cx="111500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400" dirty="0" err="1">
                <a:solidFill>
                  <a:schemeClr val="bg1">
                    <a:lumMod val="85000"/>
                  </a:schemeClr>
                </a:solidFill>
              </a:rPr>
              <a:t>Opensearch</a:t>
            </a:r>
            <a:endParaRPr kumimoji="1" lang="en-US" altLang="ko-KR" sz="1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모니터링 및 분석에 필수적인 분석 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/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 검색 엔진을 설치해 최적화된 인덱싱 및 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API 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제공을 목표로 한다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pPr marL="342900" indent="-342900">
              <a:buAutoNum type="arabicPeriod"/>
            </a:pPr>
            <a:endParaRPr kumimoji="1" lang="en-US" altLang="ko-KR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588F4213-58CB-D7EB-F094-3C754752B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73" y="196926"/>
            <a:ext cx="4157900" cy="9602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kumimoji="1" lang="ko-KR" altLang="en-US" sz="4800" dirty="0">
                <a:solidFill>
                  <a:srgbClr val="FFFFFF"/>
                </a:solidFill>
              </a:rPr>
              <a:t>설치</a:t>
            </a:r>
            <a:endParaRPr kumimoji="1" lang="en-US" altLang="ko-KR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2F3FCF3C-E30A-3E3A-B4C8-DA81D50E6C9F}"/>
              </a:ext>
            </a:extLst>
          </p:cNvPr>
          <p:cNvSpPr/>
          <p:nvPr/>
        </p:nvSpPr>
        <p:spPr>
          <a:xfrm>
            <a:off x="515177" y="2289049"/>
            <a:ext cx="11047169" cy="4226898"/>
          </a:xfrm>
          <a:prstGeom prst="roundRect">
            <a:avLst>
              <a:gd name="adj" fmla="val 216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" altLang="ko-KR" sz="1200" dirty="0">
              <a:effectLst/>
              <a:latin typeface="Helvetica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5458D3-AC1C-7A3E-4E7C-9CAA23959B35}"/>
              </a:ext>
            </a:extLst>
          </p:cNvPr>
          <p:cNvSpPr txBox="1"/>
          <p:nvPr/>
        </p:nvSpPr>
        <p:spPr>
          <a:xfrm>
            <a:off x="569995" y="2310273"/>
            <a:ext cx="109442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 err="1">
                <a:solidFill>
                  <a:srgbClr val="002A3A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Opensearch</a:t>
            </a:r>
            <a:r>
              <a:rPr lang="en-US" altLang="ko-KR" sz="1000" dirty="0">
                <a:solidFill>
                  <a:srgbClr val="002A3A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 </a:t>
            </a:r>
            <a:r>
              <a:rPr lang="ko-KR" altLang="en-US" sz="1000" dirty="0">
                <a:solidFill>
                  <a:srgbClr val="002A3A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실행</a:t>
            </a:r>
            <a:endParaRPr lang="ko-KR" alt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6D4307-4167-E1EC-49E1-999D0671BBCB}"/>
              </a:ext>
            </a:extLst>
          </p:cNvPr>
          <p:cNvSpPr txBox="1"/>
          <p:nvPr/>
        </p:nvSpPr>
        <p:spPr>
          <a:xfrm>
            <a:off x="822658" y="2901870"/>
            <a:ext cx="1044491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설치가 성공하면 </a:t>
            </a:r>
            <a:r>
              <a:rPr lang="en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OpenSearch</a:t>
            </a:r>
            <a:r>
              <a:rPr lang="ko-KR" altLang="en-US" sz="1000" b="0" i="0" dirty="0" err="1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를</a:t>
            </a:r>
            <a:r>
              <a:rPr lang="ko-KR" altLang="en-US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 서비스로 사용하도록 설정합니다</a:t>
            </a:r>
            <a:r>
              <a:rPr lang="en-US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.</a:t>
            </a:r>
          </a:p>
          <a:p>
            <a:pPr algn="l"/>
            <a:r>
              <a:rPr lang="en" altLang="ko-KR" sz="1000" b="0" i="0" dirty="0" err="1">
                <a:solidFill>
                  <a:srgbClr val="B58900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sudo</a:t>
            </a:r>
            <a:r>
              <a:rPr lang="en" altLang="ko-KR" sz="1000" b="0" i="0" dirty="0">
                <a:solidFill>
                  <a:srgbClr val="B58900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 </a:t>
            </a:r>
            <a:r>
              <a:rPr lang="en" altLang="ko-KR" sz="1000" b="0" i="0" dirty="0" err="1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systemctl</a:t>
            </a:r>
            <a:r>
              <a:rPr lang="en" altLang="ko-KR" sz="10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 </a:t>
            </a:r>
            <a:r>
              <a:rPr lang="en" altLang="ko-KR" sz="1000" b="0" i="0" dirty="0">
                <a:solidFill>
                  <a:srgbClr val="B58900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enable </a:t>
            </a:r>
            <a:r>
              <a:rPr lang="en" altLang="ko-KR" sz="1000" b="0" i="0" dirty="0" err="1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opensearch</a:t>
            </a:r>
            <a:r>
              <a:rPr lang="en" altLang="ko-KR" sz="10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 </a:t>
            </a:r>
          </a:p>
          <a:p>
            <a:pPr algn="l"/>
            <a:endParaRPr lang="ko-KR" altLang="en-US" sz="1000" b="0" i="0" dirty="0">
              <a:solidFill>
                <a:srgbClr val="002A3A"/>
              </a:solidFill>
              <a:effectLst/>
              <a:highlight>
                <a:srgbClr val="F5F7F7"/>
              </a:highlight>
              <a:latin typeface="Open Sans" panose="020B0606030504020204" pitchFamily="34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OpenSearch</a:t>
            </a:r>
            <a:r>
              <a:rPr lang="ko-KR" altLang="en-US" sz="1000" b="0" i="0" dirty="0" err="1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를</a:t>
            </a:r>
            <a:r>
              <a:rPr lang="ko-KR" altLang="en-US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 시작합니다</a:t>
            </a:r>
            <a:r>
              <a:rPr lang="en-US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.</a:t>
            </a:r>
          </a:p>
          <a:p>
            <a:pPr algn="l"/>
            <a:r>
              <a:rPr lang="en" altLang="ko-KR" sz="1000" b="0" i="0" dirty="0" err="1">
                <a:solidFill>
                  <a:srgbClr val="B58900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sudo</a:t>
            </a:r>
            <a:r>
              <a:rPr lang="en" altLang="ko-KR" sz="1000" b="0" i="0" dirty="0">
                <a:solidFill>
                  <a:srgbClr val="B58900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 </a:t>
            </a:r>
            <a:r>
              <a:rPr lang="en" altLang="ko-KR" sz="1000" b="0" i="0" dirty="0" err="1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systemctl</a:t>
            </a:r>
            <a:r>
              <a:rPr lang="en" altLang="ko-KR" sz="10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 start </a:t>
            </a:r>
            <a:r>
              <a:rPr lang="en" altLang="ko-KR" sz="1000" b="0" i="0" dirty="0" err="1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opensearch</a:t>
            </a:r>
            <a:r>
              <a:rPr lang="en" altLang="ko-KR" sz="10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 </a:t>
            </a:r>
          </a:p>
          <a:p>
            <a:pPr algn="l"/>
            <a:endParaRPr lang="ko-KR" altLang="en-US" sz="1000" b="0" i="0" dirty="0">
              <a:solidFill>
                <a:srgbClr val="002A3A"/>
              </a:solidFill>
              <a:effectLst/>
              <a:highlight>
                <a:srgbClr val="F5F7F7"/>
              </a:highlight>
              <a:latin typeface="Open Sans" panose="020B0606030504020204" pitchFamily="34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OpenSearch</a:t>
            </a:r>
            <a:r>
              <a:rPr lang="ko-KR" altLang="en-US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가 올바르게 시작되었는지 확인합니다</a:t>
            </a:r>
            <a:r>
              <a:rPr lang="en-US" altLang="ko-KR" sz="10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.</a:t>
            </a:r>
          </a:p>
          <a:p>
            <a:pPr algn="l"/>
            <a:r>
              <a:rPr lang="en" altLang="ko-KR" sz="1000" b="0" i="0" dirty="0" err="1">
                <a:solidFill>
                  <a:srgbClr val="B58900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sudo</a:t>
            </a:r>
            <a:r>
              <a:rPr lang="en" altLang="ko-KR" sz="1000" b="0" i="0" dirty="0">
                <a:solidFill>
                  <a:srgbClr val="B58900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 </a:t>
            </a:r>
            <a:r>
              <a:rPr lang="en" altLang="ko-KR" sz="1000" b="0" i="0" dirty="0" err="1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systemctl</a:t>
            </a:r>
            <a:r>
              <a:rPr lang="en" altLang="ko-KR" sz="10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 status </a:t>
            </a:r>
            <a:r>
              <a:rPr lang="en" altLang="ko-KR" sz="1000" b="0" i="0" dirty="0" err="1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opensearch</a:t>
            </a:r>
            <a:endParaRPr lang="en" altLang="ko-KR" sz="1000" b="0" i="0" dirty="0">
              <a:solidFill>
                <a:srgbClr val="002A3A"/>
              </a:solidFill>
              <a:effectLst/>
              <a:highlight>
                <a:srgbClr val="F5F7F7"/>
              </a:highlight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724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7">
            <a:extLst>
              <a:ext uri="{FF2B5EF4-FFF2-40B4-BE49-F238E27FC236}">
                <a16:creationId xmlns:a16="http://schemas.microsoft.com/office/drawing/2014/main" id="{4E75C906-0F8E-A2CE-A651-6DA764C7F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89F61AE5-0227-5ECC-9055-06D620740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ADFB015E-A38C-FD43-1990-3940797B3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FFC0D39-C30F-8865-4B45-E20C7ED94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29E33698-BD58-1DFF-99DF-8CCC9183E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B687263F-0FE3-88C6-647A-154DA16A3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19">
            <a:extLst>
              <a:ext uri="{FF2B5EF4-FFF2-40B4-BE49-F238E27FC236}">
                <a16:creationId xmlns:a16="http://schemas.microsoft.com/office/drawing/2014/main" id="{0F73F580-E24E-CD94-1D6E-2E56BDA67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94047F-9E40-9DC4-2D27-195F4A4696B1}"/>
              </a:ext>
            </a:extLst>
          </p:cNvPr>
          <p:cNvSpPr txBox="1"/>
          <p:nvPr/>
        </p:nvSpPr>
        <p:spPr>
          <a:xfrm>
            <a:off x="516411" y="1157161"/>
            <a:ext cx="111500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400" dirty="0" err="1">
                <a:solidFill>
                  <a:schemeClr val="bg1">
                    <a:lumMod val="85000"/>
                  </a:schemeClr>
                </a:solidFill>
              </a:rPr>
              <a:t>Opensearch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-dashboard</a:t>
            </a:r>
          </a:p>
          <a:p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수집된 데이터를 모니터링에 필요한 데이터셋으로 가공하기 위한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 UI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 인터페이스 제공</a:t>
            </a:r>
            <a:endParaRPr kumimoji="1" lang="en-US" altLang="ko-KR" sz="1400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>
              <a:buAutoNum type="arabicPeriod"/>
            </a:pPr>
            <a:endParaRPr kumimoji="1" lang="en-US" altLang="ko-KR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868A73F2-9653-53B1-11D0-B8BEA6BB3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73" y="196926"/>
            <a:ext cx="4157900" cy="9602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kumimoji="1" lang="ko-KR" altLang="en-US" sz="4800" dirty="0">
                <a:solidFill>
                  <a:srgbClr val="FFFFFF"/>
                </a:solidFill>
              </a:rPr>
              <a:t>사전 설치</a:t>
            </a:r>
            <a:endParaRPr kumimoji="1" lang="en-US" altLang="ko-KR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03F56C02-FDAC-4414-D86F-F8BFE3FCBB44}"/>
              </a:ext>
            </a:extLst>
          </p:cNvPr>
          <p:cNvSpPr/>
          <p:nvPr/>
        </p:nvSpPr>
        <p:spPr>
          <a:xfrm>
            <a:off x="515177" y="2289049"/>
            <a:ext cx="11047169" cy="4226898"/>
          </a:xfrm>
          <a:prstGeom prst="roundRect">
            <a:avLst>
              <a:gd name="adj" fmla="val 216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" altLang="ko-KR" sz="1200" dirty="0">
              <a:effectLst/>
              <a:latin typeface="Helvetica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29706C-1877-B114-F553-114F119DBFDF}"/>
              </a:ext>
            </a:extLst>
          </p:cNvPr>
          <p:cNvSpPr txBox="1"/>
          <p:nvPr/>
        </p:nvSpPr>
        <p:spPr>
          <a:xfrm>
            <a:off x="569995" y="2310273"/>
            <a:ext cx="109442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 err="1">
                <a:solidFill>
                  <a:srgbClr val="002A3A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Opensearch</a:t>
            </a:r>
            <a:r>
              <a:rPr lang="en-US" altLang="ko-KR" sz="1000" dirty="0">
                <a:solidFill>
                  <a:srgbClr val="002A3A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-dashboards </a:t>
            </a:r>
            <a:r>
              <a:rPr lang="ko-KR" altLang="en-US" sz="1000" dirty="0">
                <a:solidFill>
                  <a:srgbClr val="002A3A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설치</a:t>
            </a:r>
            <a:endParaRPr lang="ko-KR" alt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21F534-E214-C3CE-EED7-308A58896C3E}"/>
              </a:ext>
            </a:extLst>
          </p:cNvPr>
          <p:cNvSpPr txBox="1"/>
          <p:nvPr/>
        </p:nvSpPr>
        <p:spPr>
          <a:xfrm>
            <a:off x="816303" y="2675044"/>
            <a:ext cx="10444916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ko-KR" sz="900" dirty="0">
                <a:effectLst/>
              </a:rPr>
              <a:t>OpenSearch Dashboards 2.8.0 </a:t>
            </a:r>
            <a:r>
              <a:rPr lang="ko-KR" altLang="en-US" sz="900" dirty="0">
                <a:effectLst/>
              </a:rPr>
              <a:t>이상은 </a:t>
            </a:r>
            <a:r>
              <a:rPr lang="en" altLang="ko-KR" sz="900" dirty="0">
                <a:effectLst/>
              </a:rPr>
              <a:t>Node.js </a:t>
            </a:r>
            <a:r>
              <a:rPr lang="ko-KR" altLang="en-US" sz="900" dirty="0">
                <a:effectLst/>
              </a:rPr>
              <a:t>버전 </a:t>
            </a:r>
            <a:r>
              <a:rPr lang="en-US" altLang="ko-KR" sz="900" dirty="0">
                <a:effectLst/>
              </a:rPr>
              <a:t>14, 16 </a:t>
            </a:r>
            <a:r>
              <a:rPr lang="ko-KR" altLang="en-US" sz="900" dirty="0">
                <a:effectLst/>
              </a:rPr>
              <a:t>및 </a:t>
            </a:r>
            <a:r>
              <a:rPr lang="en-US" altLang="ko-KR" sz="900" dirty="0">
                <a:effectLst/>
              </a:rPr>
              <a:t>18</a:t>
            </a:r>
            <a:r>
              <a:rPr lang="ko-KR" altLang="en-US" sz="900" dirty="0">
                <a:effectLst/>
              </a:rPr>
              <a:t>을 사용할 수 있습니다</a:t>
            </a:r>
            <a:r>
              <a:rPr lang="en-US" altLang="ko-KR" sz="900" dirty="0">
                <a:effectLst/>
              </a:rPr>
              <a:t>. </a:t>
            </a:r>
            <a:r>
              <a:rPr lang="en" altLang="ko-KR" sz="900" dirty="0">
                <a:effectLst/>
              </a:rPr>
              <a:t>OpenSearch Dashboards 2.10.0 </a:t>
            </a:r>
            <a:r>
              <a:rPr lang="ko-KR" altLang="en-US" sz="900" dirty="0">
                <a:effectLst/>
              </a:rPr>
              <a:t>이상용 배포 패키지에는 </a:t>
            </a:r>
            <a:r>
              <a:rPr lang="en" altLang="ko-KR" sz="900" dirty="0">
                <a:effectLst/>
              </a:rPr>
              <a:t>Node.js 18 </a:t>
            </a:r>
            <a:r>
              <a:rPr lang="ko-KR" altLang="en-US" sz="900" dirty="0">
                <a:effectLst/>
              </a:rPr>
              <a:t>및 </a:t>
            </a:r>
            <a:r>
              <a:rPr lang="en-US" altLang="ko-KR" sz="900" dirty="0">
                <a:effectLst/>
              </a:rPr>
              <a:t>14(</a:t>
            </a:r>
            <a:r>
              <a:rPr lang="ko-KR" altLang="en-US" sz="900" dirty="0">
                <a:effectLst/>
              </a:rPr>
              <a:t>이전 버전과의 호환성을 위해</a:t>
            </a:r>
            <a:r>
              <a:rPr lang="en-US" altLang="ko-KR" sz="900" dirty="0">
                <a:effectLst/>
              </a:rPr>
              <a:t>)</a:t>
            </a:r>
            <a:r>
              <a:rPr lang="ko-KR" altLang="en-US" sz="900" dirty="0">
                <a:effectLst/>
              </a:rPr>
              <a:t>가 포함되어 있습니다</a:t>
            </a:r>
            <a:r>
              <a:rPr lang="en-US" altLang="ko-KR" sz="900" dirty="0">
                <a:effectLst/>
              </a:rPr>
              <a:t>.</a:t>
            </a:r>
            <a:r>
              <a:rPr lang="ko-KR" altLang="en-US" sz="900" dirty="0">
                <a:effectLst/>
              </a:rPr>
              <a:t> 배포 패키지에 포함된 것 이외의 </a:t>
            </a:r>
            <a:r>
              <a:rPr lang="en" altLang="ko-KR" sz="900" dirty="0">
                <a:effectLst/>
              </a:rPr>
              <a:t>Node.js </a:t>
            </a:r>
            <a:r>
              <a:rPr lang="ko-KR" altLang="en-US" sz="900" dirty="0">
                <a:effectLst/>
              </a:rPr>
              <a:t>런타임 바이너리를 사용하려면 다음 단계를 수행합니다</a:t>
            </a:r>
            <a:r>
              <a:rPr lang="en-US" altLang="ko-KR" sz="900" dirty="0">
                <a:effectLst/>
              </a:rPr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" altLang="ko-KR" sz="900" u="none" strike="noStrike" dirty="0">
                <a:solidFill>
                  <a:srgbClr val="0055A6"/>
                </a:solidFill>
                <a:effectLst/>
                <a:hlinkClick r:id="rId2"/>
              </a:rPr>
              <a:t>Node.js</a:t>
            </a:r>
            <a:r>
              <a:rPr lang="en" altLang="ko-KR" sz="900" dirty="0">
                <a:effectLst/>
              </a:rPr>
              <a:t> </a:t>
            </a:r>
            <a:r>
              <a:rPr lang="ko-KR" altLang="en-US" sz="900" dirty="0">
                <a:effectLst/>
              </a:rPr>
              <a:t>다운로드하여 설치하십시오</a:t>
            </a:r>
            <a:r>
              <a:rPr lang="en-US" altLang="ko-KR" sz="900" dirty="0">
                <a:effectLst/>
              </a:rPr>
              <a:t>. </a:t>
            </a:r>
            <a:r>
              <a:rPr lang="ko-KR" altLang="en-US" sz="900" dirty="0">
                <a:effectLst/>
              </a:rPr>
              <a:t>호환되는 버전은 입니다</a:t>
            </a:r>
            <a:r>
              <a:rPr lang="en-US" altLang="ko-KR" sz="900" dirty="0">
                <a:effectLst/>
              </a:rPr>
              <a:t>.&gt;=14.20.1 &lt;19</a:t>
            </a:r>
          </a:p>
          <a:p>
            <a:pPr>
              <a:lnSpc>
                <a:spcPct val="150000"/>
              </a:lnSpc>
            </a:pPr>
            <a:endParaRPr lang="en-US" altLang="ko-KR" sz="900" dirty="0">
              <a:effectLst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또는 환경 변수에 대한 설치 경로를 설정합니다</a:t>
            </a:r>
            <a:r>
              <a:rPr lang="en-US" altLang="ko-KR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.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NODE_HOMENODE_OSD_HOME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UNIX</a:t>
            </a:r>
            <a:r>
              <a:rPr lang="ko-KR" altLang="en-US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에서 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Node.js</a:t>
            </a:r>
            <a:r>
              <a:rPr lang="ko-KR" altLang="en-US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가 설치되고 런타임 바이너리가 다음과 같은 경우</a:t>
            </a:r>
            <a:endParaRPr lang="en-US" altLang="ko-KR" sz="900" b="0" i="0" dirty="0">
              <a:solidFill>
                <a:srgbClr val="002A3A"/>
              </a:solidFill>
              <a:effectLst/>
              <a:highlight>
                <a:srgbClr val="FFFFFF"/>
              </a:highlight>
              <a:latin typeface="Open Sans" panose="020B0606030504020204" pitchFamily="34" charset="0"/>
            </a:endParaRPr>
          </a:p>
          <a:p>
            <a:pPr lvl="1" algn="l">
              <a:lnSpc>
                <a:spcPct val="150000"/>
              </a:lnSpc>
            </a:pPr>
            <a:r>
              <a:rPr lang="ko-KR" altLang="en-US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 </a:t>
            </a:r>
            <a:r>
              <a:rPr lang="en-US" altLang="ko-KR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/</a:t>
            </a:r>
            <a:r>
              <a:rPr lang="en" altLang="ko-KR" sz="900" b="0" i="0" dirty="0" err="1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usr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/local/</a:t>
            </a:r>
            <a:r>
              <a:rPr lang="en" altLang="ko-KR" sz="900" b="0" i="0" dirty="0" err="1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nodejs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/</a:t>
            </a:r>
            <a:r>
              <a:rPr lang="en" altLang="ko-KR" sz="900" b="0" i="0" dirty="0" err="1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usr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/local/</a:t>
            </a:r>
            <a:r>
              <a:rPr lang="en" altLang="ko-KR" sz="900" b="0" i="0" dirty="0" err="1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nodejs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/bin/node</a:t>
            </a:r>
          </a:p>
          <a:p>
            <a:pPr lvl="1" algn="l">
              <a:lnSpc>
                <a:spcPct val="150000"/>
              </a:lnSpc>
            </a:pPr>
            <a:r>
              <a:rPr lang="en" altLang="ko-KR" sz="900" b="0" i="0" dirty="0">
                <a:solidFill>
                  <a:srgbClr val="B58900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export </a:t>
            </a:r>
            <a:r>
              <a:rPr lang="en" altLang="ko-KR" sz="900" b="0" i="0" dirty="0">
                <a:solidFill>
                  <a:srgbClr val="268BD2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NODE_HOME</a:t>
            </a:r>
            <a:r>
              <a:rPr lang="en" altLang="ko-KR" sz="900" b="0" i="0" dirty="0">
                <a:solidFill>
                  <a:srgbClr val="8736A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=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/</a:t>
            </a:r>
            <a:r>
              <a:rPr lang="en" altLang="ko-KR" sz="900" b="0" i="0" dirty="0" err="1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usr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/local/</a:t>
            </a:r>
            <a:r>
              <a:rPr lang="en" altLang="ko-KR" sz="900" b="0" i="0" dirty="0" err="1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nodejs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NVM</a:t>
            </a:r>
            <a:r>
              <a:rPr lang="ko-KR" altLang="en-US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을 사용하여 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Node.js </a:t>
            </a:r>
            <a:r>
              <a:rPr lang="ko-KR" altLang="en-US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설치하고 런타임 바이너리가 다음과 같은 경우</a:t>
            </a:r>
            <a:endParaRPr lang="en-US" altLang="ko-KR" sz="900" b="0" i="0" dirty="0">
              <a:solidFill>
                <a:srgbClr val="002A3A"/>
              </a:solidFill>
              <a:effectLst/>
              <a:highlight>
                <a:srgbClr val="FFFFFF"/>
              </a:highlight>
              <a:latin typeface="Open Sans" panose="020B0606030504020204" pitchFamily="34" charset="0"/>
            </a:endParaRPr>
          </a:p>
          <a:p>
            <a:pPr lvl="1" algn="l">
              <a:lnSpc>
                <a:spcPct val="150000"/>
              </a:lnSpc>
            </a:pPr>
            <a:r>
              <a:rPr lang="en-US" altLang="ko-KR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 /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Users/user/.</a:t>
            </a:r>
            <a:r>
              <a:rPr lang="en" altLang="ko-KR" sz="900" b="0" i="0" dirty="0" err="1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nvm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/versions/node/v18.19.0/bin/node</a:t>
            </a:r>
          </a:p>
          <a:p>
            <a:pPr lvl="1" algn="l">
              <a:lnSpc>
                <a:spcPct val="150000"/>
              </a:lnSpc>
            </a:pPr>
            <a:r>
              <a:rPr lang="en" altLang="ko-KR" sz="900" b="0" i="0" dirty="0">
                <a:solidFill>
                  <a:srgbClr val="B58900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export </a:t>
            </a:r>
            <a:r>
              <a:rPr lang="en" altLang="ko-KR" sz="900" b="0" i="0" dirty="0">
                <a:solidFill>
                  <a:srgbClr val="268BD2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NODE_HOME</a:t>
            </a:r>
            <a:r>
              <a:rPr lang="en" altLang="ko-KR" sz="900" b="0" i="0" dirty="0">
                <a:solidFill>
                  <a:srgbClr val="8736A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=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/Users/user/.</a:t>
            </a:r>
            <a:r>
              <a:rPr lang="en" altLang="ko-KR" sz="900" b="0" i="0" dirty="0" err="1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nvm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/versions/node/v18.19.0 </a:t>
            </a:r>
          </a:p>
          <a:p>
            <a:pPr lvl="1" algn="l">
              <a:lnSpc>
                <a:spcPct val="150000"/>
              </a:lnSpc>
            </a:pPr>
            <a:r>
              <a:rPr lang="en" altLang="ko-KR" sz="900" b="0" i="0" dirty="0">
                <a:solidFill>
                  <a:srgbClr val="47738D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# </a:t>
            </a:r>
            <a:r>
              <a:rPr lang="ko-KR" altLang="en-US" sz="900" b="0" i="0" dirty="0">
                <a:solidFill>
                  <a:srgbClr val="47738D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이미 다른 목적으로 </a:t>
            </a:r>
            <a:r>
              <a:rPr lang="ko-KR" altLang="en-US" sz="900" b="0" i="0" dirty="0" err="1">
                <a:solidFill>
                  <a:srgbClr val="47738D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사용중일</a:t>
            </a:r>
            <a:r>
              <a:rPr lang="ko-KR" altLang="en-US" sz="900" b="0" i="0" dirty="0">
                <a:solidFill>
                  <a:srgbClr val="47738D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 경우 아래로 설정하세요</a:t>
            </a:r>
            <a:endParaRPr lang="en" altLang="ko-KR" sz="900" b="0" i="0" dirty="0">
              <a:solidFill>
                <a:srgbClr val="002A3A"/>
              </a:solidFill>
              <a:effectLst/>
              <a:highlight>
                <a:srgbClr val="F5F7F7"/>
              </a:highlight>
              <a:latin typeface="Open Sans" panose="020B0606030504020204" pitchFamily="34" charset="0"/>
            </a:endParaRPr>
          </a:p>
          <a:p>
            <a:pPr lvl="1" algn="l">
              <a:lnSpc>
                <a:spcPct val="150000"/>
              </a:lnSpc>
            </a:pPr>
            <a:r>
              <a:rPr lang="en" altLang="ko-KR" sz="900" b="0" i="0" dirty="0">
                <a:solidFill>
                  <a:srgbClr val="B58900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export </a:t>
            </a:r>
            <a:r>
              <a:rPr lang="en" altLang="ko-KR" sz="900" b="0" i="0" dirty="0">
                <a:solidFill>
                  <a:srgbClr val="268BD2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NODE_OSD_HOME</a:t>
            </a:r>
            <a:r>
              <a:rPr lang="en" altLang="ko-KR" sz="900" b="0" i="0" dirty="0">
                <a:solidFill>
                  <a:srgbClr val="8736A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=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/Users/user/.</a:t>
            </a:r>
            <a:r>
              <a:rPr lang="en" altLang="ko-KR" sz="900" b="0" i="0" dirty="0" err="1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nvm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/versions/node/v18.19.0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Windows</a:t>
            </a:r>
            <a:r>
              <a:rPr lang="ko-KR" altLang="en-US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에서 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Node.js</a:t>
            </a:r>
            <a:r>
              <a:rPr lang="ko-KR" altLang="en-US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가 설치되어 있고 런타임 바이너리가 다음과 같은 경우 </a:t>
            </a:r>
            <a:endParaRPr lang="en-US" altLang="ko-KR" sz="900" b="0" i="0" dirty="0">
              <a:solidFill>
                <a:srgbClr val="002A3A"/>
              </a:solidFill>
              <a:effectLst/>
              <a:highlight>
                <a:srgbClr val="FFFFFF"/>
              </a:highlight>
              <a:latin typeface="Open Sans" panose="020B0606030504020204" pitchFamily="34" charset="0"/>
            </a:endParaRPr>
          </a:p>
          <a:p>
            <a:pPr lvl="1" algn="l">
              <a:lnSpc>
                <a:spcPct val="150000"/>
              </a:lnSpc>
            </a:pP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C:\Program Files\</a:t>
            </a:r>
            <a:r>
              <a:rPr lang="en" altLang="ko-KR" sz="900" b="0" i="0" dirty="0" err="1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nodejsC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:\Program Files\</a:t>
            </a:r>
            <a:r>
              <a:rPr lang="en" altLang="ko-KR" sz="900" b="0" i="0" dirty="0" err="1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nodejs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\</a:t>
            </a:r>
            <a:r>
              <a:rPr lang="en" altLang="ko-KR" sz="900" b="0" i="0" dirty="0" err="1">
                <a:solidFill>
                  <a:srgbClr val="002A3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node.exe</a:t>
            </a:r>
            <a:r>
              <a:rPr lang="en" altLang="ko-KR" sz="900" b="0" i="0" dirty="0" err="1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set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 </a:t>
            </a:r>
            <a:r>
              <a:rPr lang="en" altLang="ko-KR" sz="900" b="0" i="0" dirty="0">
                <a:solidFill>
                  <a:srgbClr val="2AA198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"NODE_HOME=C:\Program Files\</a:t>
            </a:r>
            <a:r>
              <a:rPr lang="en" altLang="ko-KR" sz="900" b="0" i="0" dirty="0" err="1">
                <a:solidFill>
                  <a:srgbClr val="2AA198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nodejs</a:t>
            </a:r>
            <a:r>
              <a:rPr lang="en" altLang="ko-KR" sz="900" b="0" i="0" dirty="0">
                <a:solidFill>
                  <a:srgbClr val="2AA198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"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 </a:t>
            </a:r>
          </a:p>
          <a:p>
            <a:pPr lvl="1" algn="l">
              <a:lnSpc>
                <a:spcPct val="150000"/>
              </a:lnSpc>
            </a:pPr>
            <a:r>
              <a:rPr lang="en" altLang="ko-KR" sz="900" b="0" i="0" dirty="0">
                <a:solidFill>
                  <a:srgbClr val="47738D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# PowerShell</a:t>
            </a:r>
            <a:r>
              <a:rPr lang="ko-KR" altLang="en-US" sz="900" b="0" i="0" dirty="0">
                <a:solidFill>
                  <a:srgbClr val="47738D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을 사용할 경우</a:t>
            </a:r>
            <a:r>
              <a:rPr lang="en" altLang="ko-KR" sz="900" b="0" i="0" dirty="0">
                <a:solidFill>
                  <a:srgbClr val="47738D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: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 </a:t>
            </a:r>
          </a:p>
          <a:p>
            <a:pPr lvl="1" algn="l">
              <a:lnSpc>
                <a:spcPct val="150000"/>
              </a:lnSpc>
            </a:pPr>
            <a:r>
              <a:rPr lang="en" altLang="ko-KR" sz="900" b="0" i="0" dirty="0">
                <a:solidFill>
                  <a:srgbClr val="268BD2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$</a:t>
            </a:r>
            <a:r>
              <a:rPr lang="en" altLang="ko-KR" sz="900" b="0" i="0" dirty="0" err="1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Env:</a:t>
            </a:r>
            <a:r>
              <a:rPr lang="en" altLang="ko-KR" sz="900" b="0" i="0" dirty="0" err="1">
                <a:solidFill>
                  <a:srgbClr val="268BD2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NODE_HOME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 </a:t>
            </a:r>
            <a:r>
              <a:rPr lang="en" altLang="ko-KR" sz="900" b="0" i="0" dirty="0">
                <a:solidFill>
                  <a:srgbClr val="8736A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=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 </a:t>
            </a:r>
            <a:r>
              <a:rPr lang="en" altLang="ko-KR" sz="900" b="0" i="0" dirty="0">
                <a:solidFill>
                  <a:srgbClr val="2AA198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'C:\Program Files\</a:t>
            </a:r>
            <a:r>
              <a:rPr lang="en" altLang="ko-KR" sz="900" b="0" i="0" dirty="0" err="1">
                <a:solidFill>
                  <a:srgbClr val="2AA198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nodejs</a:t>
            </a:r>
            <a:r>
              <a:rPr lang="en" altLang="ko-KR" sz="900" b="0" i="0" dirty="0">
                <a:solidFill>
                  <a:srgbClr val="2AA198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'</a:t>
            </a:r>
            <a:r>
              <a:rPr lang="en" altLang="ko-KR" sz="900" b="0" i="0" dirty="0">
                <a:solidFill>
                  <a:srgbClr val="002A3A"/>
                </a:solidFill>
                <a:effectLst/>
                <a:highlight>
                  <a:srgbClr val="F5F7F7"/>
                </a:highlight>
                <a:latin typeface="Open Sans" panose="020B0606030504020204" pitchFamily="34" charset="0"/>
              </a:rPr>
              <a:t> </a:t>
            </a:r>
            <a:endParaRPr lang="en" altLang="ko-KR" sz="9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674409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9CE7E48E-88D1-0FA4-3915-AA8F5C8AA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2B9AAAB9-C7AA-AFA4-C50F-BDA8FF062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2774FAFE-A5E7-D607-7080-5688CCB1C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32D99F72-01E4-4552-7550-61E72C6DF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15">
            <a:extLst>
              <a:ext uri="{FF2B5EF4-FFF2-40B4-BE49-F238E27FC236}">
                <a16:creationId xmlns:a16="http://schemas.microsoft.com/office/drawing/2014/main" id="{D8203C73-89BA-DC10-8F5E-D07E69C6E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17">
            <a:extLst>
              <a:ext uri="{FF2B5EF4-FFF2-40B4-BE49-F238E27FC236}">
                <a16:creationId xmlns:a16="http://schemas.microsoft.com/office/drawing/2014/main" id="{8D2E9E8C-563E-DF09-E340-22144F99A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9">
            <a:extLst>
              <a:ext uri="{FF2B5EF4-FFF2-40B4-BE49-F238E27FC236}">
                <a16:creationId xmlns:a16="http://schemas.microsoft.com/office/drawing/2014/main" id="{053798F4-F493-27B7-9214-EEE1942CA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A4C4A4-2323-1C6E-A86D-E73589CD82BE}"/>
              </a:ext>
            </a:extLst>
          </p:cNvPr>
          <p:cNvSpPr txBox="1"/>
          <p:nvPr/>
        </p:nvSpPr>
        <p:spPr>
          <a:xfrm>
            <a:off x="516411" y="1157161"/>
            <a:ext cx="111500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400" dirty="0" err="1">
                <a:solidFill>
                  <a:schemeClr val="bg1">
                    <a:lumMod val="85000"/>
                  </a:schemeClr>
                </a:solidFill>
              </a:rPr>
              <a:t>Opensearch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-dashboard</a:t>
            </a:r>
          </a:p>
          <a:p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수집된 데이터를 모니터링에 필요한 데이터셋으로 가공하기 위한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 UI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 인터페이스 제공</a:t>
            </a:r>
            <a:endParaRPr kumimoji="1" lang="en-US" altLang="ko-KR" sz="1400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>
              <a:buAutoNum type="arabicPeriod"/>
            </a:pPr>
            <a:endParaRPr kumimoji="1" lang="en-US" altLang="ko-KR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657BFB30-E0BF-D9CF-12EE-87D9822D6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73" y="196926"/>
            <a:ext cx="4157900" cy="9602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kumimoji="1" lang="ko-KR" altLang="en-US" sz="4800" dirty="0">
                <a:solidFill>
                  <a:srgbClr val="FFFFFF"/>
                </a:solidFill>
              </a:rPr>
              <a:t>설치</a:t>
            </a:r>
            <a:endParaRPr kumimoji="1" lang="en-US" altLang="ko-KR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534583DE-FB7A-1101-5E46-9ED5D6DD9AF1}"/>
              </a:ext>
            </a:extLst>
          </p:cNvPr>
          <p:cNvSpPr/>
          <p:nvPr/>
        </p:nvSpPr>
        <p:spPr>
          <a:xfrm>
            <a:off x="515177" y="2289049"/>
            <a:ext cx="11047169" cy="4226898"/>
          </a:xfrm>
          <a:prstGeom prst="roundRect">
            <a:avLst>
              <a:gd name="adj" fmla="val 216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" altLang="ko-KR" sz="1200" dirty="0">
              <a:effectLst/>
              <a:latin typeface="Helvetica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6B0D65-D711-5EAC-87FC-B092187E6A9A}"/>
              </a:ext>
            </a:extLst>
          </p:cNvPr>
          <p:cNvSpPr txBox="1"/>
          <p:nvPr/>
        </p:nvSpPr>
        <p:spPr>
          <a:xfrm>
            <a:off x="569995" y="2310273"/>
            <a:ext cx="109442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 err="1">
                <a:solidFill>
                  <a:srgbClr val="002A3A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Opensearch</a:t>
            </a:r>
            <a:r>
              <a:rPr lang="en-US" altLang="ko-KR" sz="1000" dirty="0">
                <a:solidFill>
                  <a:srgbClr val="002A3A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-dashboards </a:t>
            </a:r>
            <a:r>
              <a:rPr lang="ko-KR" altLang="en-US" sz="1000" dirty="0">
                <a:solidFill>
                  <a:srgbClr val="002A3A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설치</a:t>
            </a:r>
            <a:endParaRPr lang="ko-KR" alt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201FAD-00FD-A280-9999-4049DA2E5518}"/>
              </a:ext>
            </a:extLst>
          </p:cNvPr>
          <p:cNvSpPr txBox="1"/>
          <p:nvPr/>
        </p:nvSpPr>
        <p:spPr>
          <a:xfrm>
            <a:off x="816303" y="2675044"/>
            <a:ext cx="10444916" cy="3392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ko-KR" sz="800" dirty="0">
                <a:hlinkClick r:id="rId2"/>
              </a:rPr>
              <a:t>Opensearch 2.13.0 · OpenSearch</a:t>
            </a:r>
            <a:r>
              <a:rPr lang="ko-KR" altLang="en-US" sz="800" dirty="0"/>
              <a:t> 다운로드 페이지에서 다운로드</a:t>
            </a:r>
            <a:endParaRPr lang="en-US" altLang="ko-KR" sz="800" dirty="0"/>
          </a:p>
          <a:p>
            <a:pPr>
              <a:lnSpc>
                <a:spcPct val="150000"/>
              </a:lnSpc>
            </a:pPr>
            <a:endParaRPr lang="en-US" altLang="ko-KR" sz="800" dirty="0">
              <a:effectLst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공개키확인</a:t>
            </a:r>
            <a:r>
              <a:rPr lang="ko-KR" altLang="en-US" sz="8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 </a:t>
            </a:r>
            <a:endParaRPr lang="en-US" altLang="ko-KR" sz="800" dirty="0">
              <a:solidFill>
                <a:schemeClr val="accent2"/>
              </a:solidFill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" altLang="ko-KR" sz="800" dirty="0" err="1">
                <a:solidFill>
                  <a:srgbClr val="B58900"/>
                </a:solidFill>
                <a:effectLst/>
              </a:rPr>
              <a:t>sudo</a:t>
            </a:r>
            <a:r>
              <a:rPr lang="en" altLang="ko-KR" sz="800" dirty="0">
                <a:solidFill>
                  <a:srgbClr val="B58900"/>
                </a:solidFill>
                <a:effectLst/>
              </a:rPr>
              <a:t> </a:t>
            </a:r>
            <a:r>
              <a:rPr lang="en" altLang="ko-KR" sz="800" dirty="0"/>
              <a:t>rpm </a:t>
            </a:r>
            <a:r>
              <a:rPr lang="en" altLang="ko-KR" sz="800" dirty="0">
                <a:solidFill>
                  <a:srgbClr val="268BD2"/>
                </a:solidFill>
                <a:effectLst/>
              </a:rPr>
              <a:t>--import</a:t>
            </a:r>
            <a:r>
              <a:rPr lang="en" altLang="ko-KR" sz="800" dirty="0"/>
              <a:t> </a:t>
            </a:r>
            <a:r>
              <a:rPr lang="en" altLang="ko-KR" sz="800" dirty="0">
                <a:hlinkClick r:id="rId3"/>
              </a:rPr>
              <a:t>https://artifacts.opensearch.org/publickeys/opensearch.pgp</a:t>
            </a:r>
            <a:endParaRPr lang="en-US" altLang="ko-KR" sz="800" dirty="0"/>
          </a:p>
          <a:p>
            <a:pPr>
              <a:lnSpc>
                <a:spcPct val="150000"/>
              </a:lnSpc>
            </a:pPr>
            <a:endParaRPr lang="en" altLang="ko-KR" sz="800" dirty="0">
              <a:solidFill>
                <a:srgbClr val="B5890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설치</a:t>
            </a:r>
            <a:endParaRPr lang="en-US" altLang="ko-KR" sz="800" dirty="0">
              <a:solidFill>
                <a:schemeClr val="accent2"/>
              </a:solidFill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" altLang="ko-KR" sz="800" dirty="0" err="1">
                <a:solidFill>
                  <a:srgbClr val="B58900"/>
                </a:solidFill>
                <a:effectLst/>
              </a:rPr>
              <a:t>sudo</a:t>
            </a:r>
            <a:r>
              <a:rPr lang="en" altLang="ko-KR" sz="800" dirty="0">
                <a:solidFill>
                  <a:srgbClr val="B58900"/>
                </a:solidFill>
                <a:effectLst/>
              </a:rPr>
              <a:t> </a:t>
            </a:r>
            <a:r>
              <a:rPr lang="en" altLang="ko-KR" sz="800" dirty="0"/>
              <a:t>yum </a:t>
            </a:r>
            <a:r>
              <a:rPr lang="en" altLang="ko-KR" sz="800" dirty="0">
                <a:solidFill>
                  <a:srgbClr val="B58900"/>
                </a:solidFill>
                <a:effectLst/>
              </a:rPr>
              <a:t>install </a:t>
            </a:r>
            <a:r>
              <a:rPr lang="en" altLang="ko-KR" sz="800" dirty="0"/>
              <a:t>opensearch-dashboards-2.1.0-linux-x64.rpm </a:t>
            </a:r>
          </a:p>
          <a:p>
            <a:pPr>
              <a:lnSpc>
                <a:spcPct val="150000"/>
              </a:lnSpc>
            </a:pPr>
            <a:endParaRPr lang="en" altLang="ko-KR" sz="800" dirty="0"/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활성화</a:t>
            </a:r>
            <a:endParaRPr lang="en-US" altLang="ko-KR" sz="800" dirty="0"/>
          </a:p>
          <a:p>
            <a:pPr>
              <a:lnSpc>
                <a:spcPct val="150000"/>
              </a:lnSpc>
            </a:pPr>
            <a:r>
              <a:rPr lang="en" altLang="ko-KR" sz="800" dirty="0" err="1">
                <a:solidFill>
                  <a:srgbClr val="B58900"/>
                </a:solidFill>
                <a:effectLst/>
              </a:rPr>
              <a:t>sudo</a:t>
            </a:r>
            <a:r>
              <a:rPr lang="en" altLang="ko-KR" sz="800" dirty="0">
                <a:solidFill>
                  <a:srgbClr val="B58900"/>
                </a:solidFill>
                <a:effectLst/>
              </a:rPr>
              <a:t> </a:t>
            </a:r>
            <a:r>
              <a:rPr lang="en" altLang="ko-KR" sz="800" dirty="0" err="1"/>
              <a:t>systemctl</a:t>
            </a:r>
            <a:r>
              <a:rPr lang="en" altLang="ko-KR" sz="800" dirty="0"/>
              <a:t> </a:t>
            </a:r>
            <a:r>
              <a:rPr lang="en" altLang="ko-KR" sz="800" dirty="0">
                <a:solidFill>
                  <a:srgbClr val="B58900"/>
                </a:solidFill>
                <a:effectLst/>
              </a:rPr>
              <a:t>enable </a:t>
            </a:r>
            <a:r>
              <a:rPr lang="en" altLang="ko-KR" sz="800" dirty="0" err="1"/>
              <a:t>opensearch</a:t>
            </a:r>
            <a:r>
              <a:rPr lang="en" altLang="ko-KR" sz="800" dirty="0"/>
              <a:t>-dashboards</a:t>
            </a:r>
            <a:endParaRPr lang="en-US" altLang="ko-KR" sz="800" dirty="0"/>
          </a:p>
          <a:p>
            <a:pPr>
              <a:lnSpc>
                <a:spcPct val="150000"/>
              </a:lnSpc>
            </a:pPr>
            <a:endParaRPr lang="en-US" altLang="ko-KR" sz="800" dirty="0"/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실행</a:t>
            </a:r>
            <a:endParaRPr lang="en-US" altLang="ko-KR" sz="800" dirty="0"/>
          </a:p>
          <a:p>
            <a:pPr>
              <a:lnSpc>
                <a:spcPct val="150000"/>
              </a:lnSpc>
            </a:pPr>
            <a:r>
              <a:rPr lang="en" altLang="ko-KR" sz="800" dirty="0" err="1">
                <a:solidFill>
                  <a:srgbClr val="B58900"/>
                </a:solidFill>
                <a:effectLst/>
              </a:rPr>
              <a:t>sudo</a:t>
            </a:r>
            <a:r>
              <a:rPr lang="en" altLang="ko-KR" sz="800" dirty="0">
                <a:solidFill>
                  <a:srgbClr val="B58900"/>
                </a:solidFill>
                <a:effectLst/>
              </a:rPr>
              <a:t> </a:t>
            </a:r>
            <a:r>
              <a:rPr lang="en" altLang="ko-KR" sz="800" dirty="0" err="1"/>
              <a:t>systemctl</a:t>
            </a:r>
            <a:r>
              <a:rPr lang="en" altLang="ko-KR" sz="800" dirty="0"/>
              <a:t> start </a:t>
            </a:r>
            <a:r>
              <a:rPr lang="en" altLang="ko-KR" sz="800" dirty="0" err="1"/>
              <a:t>opensearch</a:t>
            </a:r>
            <a:r>
              <a:rPr lang="en" altLang="ko-KR" sz="800" dirty="0"/>
              <a:t>-dashboards</a:t>
            </a:r>
            <a:endParaRPr lang="en-US" altLang="ko-KR" sz="800" dirty="0"/>
          </a:p>
          <a:p>
            <a:pPr>
              <a:lnSpc>
                <a:spcPct val="150000"/>
              </a:lnSpc>
            </a:pPr>
            <a:endParaRPr lang="en-US" altLang="ko-KR" sz="800" dirty="0"/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실행확인</a:t>
            </a:r>
            <a:endParaRPr lang="en-US" altLang="ko-KR" sz="800" dirty="0"/>
          </a:p>
          <a:p>
            <a:pPr>
              <a:lnSpc>
                <a:spcPct val="150000"/>
              </a:lnSpc>
            </a:pPr>
            <a:r>
              <a:rPr lang="en" altLang="ko-KR" sz="800" dirty="0" err="1">
                <a:solidFill>
                  <a:srgbClr val="B58900"/>
                </a:solidFill>
                <a:effectLst/>
              </a:rPr>
              <a:t>sudo</a:t>
            </a:r>
            <a:r>
              <a:rPr lang="en" altLang="ko-KR" sz="800" dirty="0">
                <a:solidFill>
                  <a:srgbClr val="B58900"/>
                </a:solidFill>
                <a:effectLst/>
              </a:rPr>
              <a:t> </a:t>
            </a:r>
            <a:r>
              <a:rPr lang="en" altLang="ko-KR" sz="800" dirty="0" err="1"/>
              <a:t>systemctl</a:t>
            </a:r>
            <a:r>
              <a:rPr lang="en" altLang="ko-KR" sz="800" dirty="0"/>
              <a:t> status </a:t>
            </a:r>
            <a:r>
              <a:rPr lang="en" altLang="ko-KR" sz="800" dirty="0" err="1"/>
              <a:t>opensearch</a:t>
            </a:r>
            <a:r>
              <a:rPr lang="en" altLang="ko-KR" sz="800" dirty="0"/>
              <a:t>-dashboards</a:t>
            </a:r>
          </a:p>
          <a:p>
            <a:pPr>
              <a:lnSpc>
                <a:spcPct val="150000"/>
              </a:lnSpc>
            </a:pPr>
            <a:endParaRPr lang="en" altLang="ko-KR" sz="800" dirty="0"/>
          </a:p>
          <a:p>
            <a:pPr>
              <a:lnSpc>
                <a:spcPct val="150000"/>
              </a:lnSpc>
            </a:pPr>
            <a:r>
              <a:rPr lang="en" altLang="ko-KR" sz="800" dirty="0">
                <a:hlinkClick r:id="rId4"/>
              </a:rPr>
              <a:t>http://localhost:5601</a:t>
            </a:r>
            <a:r>
              <a:rPr lang="en" altLang="ko-KR" sz="800" dirty="0"/>
              <a:t> </a:t>
            </a:r>
            <a:r>
              <a:rPr lang="ko-KR" altLang="en-US" sz="800" dirty="0"/>
              <a:t>실행 화면 확인</a:t>
            </a:r>
            <a:endParaRPr lang="en-US" altLang="ko-KR" sz="800" dirty="0"/>
          </a:p>
        </p:txBody>
      </p:sp>
    </p:spTree>
    <p:extLst>
      <p:ext uri="{BB962C8B-B14F-4D97-AF65-F5344CB8AC3E}">
        <p14:creationId xmlns:p14="http://schemas.microsoft.com/office/powerpoint/2010/main" val="21139065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7">
            <a:extLst>
              <a:ext uri="{FF2B5EF4-FFF2-40B4-BE49-F238E27FC236}">
                <a16:creationId xmlns:a16="http://schemas.microsoft.com/office/drawing/2014/main" id="{D0497A71-F2AD-6F69-6E1B-5D5D53CAE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D5DD2AB6-1B72-83B7-E657-5EAD72DCD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053EB5DA-20AB-DA7F-5BA5-9E180230A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30C39C5-44C6-D23D-FBE7-2805A0B58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D5C96602-8BE3-D8DF-2864-9C15BFCC3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BBF4E943-A6F5-816C-1D40-6CB74AB58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19">
            <a:extLst>
              <a:ext uri="{FF2B5EF4-FFF2-40B4-BE49-F238E27FC236}">
                <a16:creationId xmlns:a16="http://schemas.microsoft.com/office/drawing/2014/main" id="{482023B5-7100-E009-2DE6-B4DF7484E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10614A-E6CD-3C0A-77D0-2CB712040143}"/>
              </a:ext>
            </a:extLst>
          </p:cNvPr>
          <p:cNvSpPr txBox="1"/>
          <p:nvPr/>
        </p:nvSpPr>
        <p:spPr>
          <a:xfrm>
            <a:off x="516411" y="1157161"/>
            <a:ext cx="111500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Fluent-bit</a:t>
            </a:r>
          </a:p>
          <a:p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초경량 로그 수집기를 모니터링 대상이 되는 모든 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</a:rPr>
              <a:t>host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</a:rPr>
              <a:t>에 설치</a:t>
            </a:r>
            <a:endParaRPr kumimoji="1" lang="en-US" altLang="ko-KR" sz="1400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>
              <a:buAutoNum type="arabicPeriod"/>
            </a:pPr>
            <a:endParaRPr kumimoji="1" lang="en-US" altLang="ko-KR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FE645142-0C65-F11A-EB84-86682C5E7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73" y="196926"/>
            <a:ext cx="4157900" cy="9602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kumimoji="1" lang="ko-KR" altLang="en-US" sz="4800" dirty="0">
                <a:solidFill>
                  <a:srgbClr val="FFFFFF"/>
                </a:solidFill>
              </a:rPr>
              <a:t>설치</a:t>
            </a:r>
            <a:endParaRPr kumimoji="1" lang="en-US" altLang="ko-KR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63766912-8006-A323-F47C-3D3E17D4D78F}"/>
              </a:ext>
            </a:extLst>
          </p:cNvPr>
          <p:cNvSpPr/>
          <p:nvPr/>
        </p:nvSpPr>
        <p:spPr>
          <a:xfrm>
            <a:off x="515177" y="2289049"/>
            <a:ext cx="11047169" cy="4226898"/>
          </a:xfrm>
          <a:prstGeom prst="roundRect">
            <a:avLst>
              <a:gd name="adj" fmla="val 216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" altLang="ko-KR" sz="1200" dirty="0">
              <a:effectLst/>
              <a:latin typeface="Helvetica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5272F7-212E-F23F-71EB-2326BDBFDDF6}"/>
              </a:ext>
            </a:extLst>
          </p:cNvPr>
          <p:cNvSpPr txBox="1"/>
          <p:nvPr/>
        </p:nvSpPr>
        <p:spPr>
          <a:xfrm>
            <a:off x="569995" y="2310273"/>
            <a:ext cx="109442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 err="1">
                <a:solidFill>
                  <a:srgbClr val="002A3A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Opensearch</a:t>
            </a:r>
            <a:r>
              <a:rPr lang="en-US" altLang="ko-KR" sz="1000" dirty="0">
                <a:solidFill>
                  <a:srgbClr val="002A3A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-dashboards </a:t>
            </a:r>
            <a:r>
              <a:rPr lang="ko-KR" altLang="en-US" sz="1000" dirty="0">
                <a:solidFill>
                  <a:srgbClr val="002A3A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설치</a:t>
            </a:r>
            <a:endParaRPr lang="ko-KR" alt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513362-C2FF-F62D-3884-1CCC9FFCAF81}"/>
              </a:ext>
            </a:extLst>
          </p:cNvPr>
          <p:cNvSpPr txBox="1"/>
          <p:nvPr/>
        </p:nvSpPr>
        <p:spPr>
          <a:xfrm>
            <a:off x="816303" y="2675044"/>
            <a:ext cx="10444916" cy="3392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ko-KR" sz="800" dirty="0">
                <a:hlinkClick r:id="rId2"/>
              </a:rPr>
              <a:t>Opensearch 2.13.0 · OpenSearch</a:t>
            </a:r>
            <a:r>
              <a:rPr lang="ko-KR" altLang="en-US" sz="800" dirty="0"/>
              <a:t> 다운로드 페이지에서 다운로드</a:t>
            </a:r>
            <a:endParaRPr lang="en-US" altLang="ko-KR" sz="800" dirty="0"/>
          </a:p>
          <a:p>
            <a:pPr>
              <a:lnSpc>
                <a:spcPct val="150000"/>
              </a:lnSpc>
            </a:pPr>
            <a:endParaRPr lang="en-US" altLang="ko-KR" sz="800" dirty="0">
              <a:effectLst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공개키확인</a:t>
            </a:r>
            <a:r>
              <a:rPr lang="ko-KR" altLang="en-US" sz="8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 </a:t>
            </a:r>
            <a:endParaRPr lang="en-US" altLang="ko-KR" sz="800" dirty="0">
              <a:solidFill>
                <a:schemeClr val="accent2"/>
              </a:solidFill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" altLang="ko-KR" sz="800" dirty="0" err="1">
                <a:solidFill>
                  <a:srgbClr val="B58900"/>
                </a:solidFill>
                <a:effectLst/>
              </a:rPr>
              <a:t>sudo</a:t>
            </a:r>
            <a:r>
              <a:rPr lang="en" altLang="ko-KR" sz="800" dirty="0">
                <a:solidFill>
                  <a:srgbClr val="B58900"/>
                </a:solidFill>
                <a:effectLst/>
              </a:rPr>
              <a:t> </a:t>
            </a:r>
            <a:r>
              <a:rPr lang="en" altLang="ko-KR" sz="800" dirty="0"/>
              <a:t>rpm </a:t>
            </a:r>
            <a:r>
              <a:rPr lang="en" altLang="ko-KR" sz="800" dirty="0">
                <a:solidFill>
                  <a:srgbClr val="268BD2"/>
                </a:solidFill>
                <a:effectLst/>
              </a:rPr>
              <a:t>--import</a:t>
            </a:r>
            <a:r>
              <a:rPr lang="en" altLang="ko-KR" sz="800" dirty="0"/>
              <a:t> </a:t>
            </a:r>
            <a:r>
              <a:rPr lang="en" altLang="ko-KR" sz="800" dirty="0">
                <a:hlinkClick r:id="rId3"/>
              </a:rPr>
              <a:t>https://artifacts.opensearch.org/publickeys/opensearch.pgp</a:t>
            </a:r>
            <a:endParaRPr lang="en-US" altLang="ko-KR" sz="800" dirty="0"/>
          </a:p>
          <a:p>
            <a:pPr>
              <a:lnSpc>
                <a:spcPct val="150000"/>
              </a:lnSpc>
            </a:pPr>
            <a:endParaRPr lang="en" altLang="ko-KR" sz="800" dirty="0">
              <a:solidFill>
                <a:srgbClr val="B5890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설치</a:t>
            </a:r>
            <a:endParaRPr lang="en-US" altLang="ko-KR" sz="800" dirty="0">
              <a:solidFill>
                <a:schemeClr val="accent2"/>
              </a:solidFill>
              <a:highlight>
                <a:srgbClr val="FAFAFA"/>
              </a:highlight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" altLang="ko-KR" sz="800" dirty="0" err="1">
                <a:solidFill>
                  <a:srgbClr val="B58900"/>
                </a:solidFill>
                <a:effectLst/>
              </a:rPr>
              <a:t>sudo</a:t>
            </a:r>
            <a:r>
              <a:rPr lang="en" altLang="ko-KR" sz="800" dirty="0">
                <a:solidFill>
                  <a:srgbClr val="B58900"/>
                </a:solidFill>
                <a:effectLst/>
              </a:rPr>
              <a:t> </a:t>
            </a:r>
            <a:r>
              <a:rPr lang="en" altLang="ko-KR" sz="800" dirty="0"/>
              <a:t>yum </a:t>
            </a:r>
            <a:r>
              <a:rPr lang="en" altLang="ko-KR" sz="800" dirty="0">
                <a:solidFill>
                  <a:srgbClr val="B58900"/>
                </a:solidFill>
                <a:effectLst/>
              </a:rPr>
              <a:t>install </a:t>
            </a:r>
            <a:r>
              <a:rPr lang="en" altLang="ko-KR" sz="800" dirty="0"/>
              <a:t>opensearch-dashboards-2.1.0-linux-x64.rpm </a:t>
            </a:r>
          </a:p>
          <a:p>
            <a:pPr>
              <a:lnSpc>
                <a:spcPct val="150000"/>
              </a:lnSpc>
            </a:pPr>
            <a:endParaRPr lang="en" altLang="ko-KR" sz="800" dirty="0"/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활성화</a:t>
            </a:r>
            <a:endParaRPr lang="en-US" altLang="ko-KR" sz="800" dirty="0"/>
          </a:p>
          <a:p>
            <a:pPr>
              <a:lnSpc>
                <a:spcPct val="150000"/>
              </a:lnSpc>
            </a:pPr>
            <a:r>
              <a:rPr lang="en" altLang="ko-KR" sz="800" dirty="0" err="1">
                <a:solidFill>
                  <a:srgbClr val="B58900"/>
                </a:solidFill>
                <a:effectLst/>
              </a:rPr>
              <a:t>sudo</a:t>
            </a:r>
            <a:r>
              <a:rPr lang="en" altLang="ko-KR" sz="800" dirty="0">
                <a:solidFill>
                  <a:srgbClr val="B58900"/>
                </a:solidFill>
                <a:effectLst/>
              </a:rPr>
              <a:t> </a:t>
            </a:r>
            <a:r>
              <a:rPr lang="en" altLang="ko-KR" sz="800" dirty="0" err="1"/>
              <a:t>systemctl</a:t>
            </a:r>
            <a:r>
              <a:rPr lang="en" altLang="ko-KR" sz="800" dirty="0"/>
              <a:t> </a:t>
            </a:r>
            <a:r>
              <a:rPr lang="en" altLang="ko-KR" sz="800" dirty="0">
                <a:solidFill>
                  <a:srgbClr val="B58900"/>
                </a:solidFill>
                <a:effectLst/>
              </a:rPr>
              <a:t>enable </a:t>
            </a:r>
            <a:r>
              <a:rPr lang="en" altLang="ko-KR" sz="800" dirty="0" err="1"/>
              <a:t>opensearch</a:t>
            </a:r>
            <a:r>
              <a:rPr lang="en" altLang="ko-KR" sz="800" dirty="0"/>
              <a:t>-dashboards</a:t>
            </a:r>
            <a:endParaRPr lang="en-US" altLang="ko-KR" sz="800" dirty="0"/>
          </a:p>
          <a:p>
            <a:pPr>
              <a:lnSpc>
                <a:spcPct val="150000"/>
              </a:lnSpc>
            </a:pPr>
            <a:endParaRPr lang="en-US" altLang="ko-KR" sz="800" dirty="0"/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실행</a:t>
            </a:r>
            <a:endParaRPr lang="en-US" altLang="ko-KR" sz="800" dirty="0"/>
          </a:p>
          <a:p>
            <a:pPr>
              <a:lnSpc>
                <a:spcPct val="150000"/>
              </a:lnSpc>
            </a:pPr>
            <a:r>
              <a:rPr lang="en" altLang="ko-KR" sz="800" dirty="0" err="1">
                <a:solidFill>
                  <a:srgbClr val="B58900"/>
                </a:solidFill>
                <a:effectLst/>
              </a:rPr>
              <a:t>sudo</a:t>
            </a:r>
            <a:r>
              <a:rPr lang="en" altLang="ko-KR" sz="800" dirty="0">
                <a:solidFill>
                  <a:srgbClr val="B58900"/>
                </a:solidFill>
                <a:effectLst/>
              </a:rPr>
              <a:t> </a:t>
            </a:r>
            <a:r>
              <a:rPr lang="en" altLang="ko-KR" sz="800" dirty="0" err="1"/>
              <a:t>systemctl</a:t>
            </a:r>
            <a:r>
              <a:rPr lang="en" altLang="ko-KR" sz="800" dirty="0"/>
              <a:t> start </a:t>
            </a:r>
            <a:r>
              <a:rPr lang="en" altLang="ko-KR" sz="800" dirty="0" err="1"/>
              <a:t>opensearch</a:t>
            </a:r>
            <a:r>
              <a:rPr lang="en" altLang="ko-KR" sz="800" dirty="0"/>
              <a:t>-dashboards</a:t>
            </a:r>
            <a:endParaRPr lang="en-US" altLang="ko-KR" sz="800" dirty="0"/>
          </a:p>
          <a:p>
            <a:pPr>
              <a:lnSpc>
                <a:spcPct val="150000"/>
              </a:lnSpc>
            </a:pPr>
            <a:endParaRPr lang="en-US" altLang="ko-KR" sz="800" dirty="0"/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accent2"/>
                </a:solidFill>
                <a:highlight>
                  <a:srgbClr val="FAFAFA"/>
                </a:highlight>
                <a:latin typeface="Courier New" panose="02070309020205020404" pitchFamily="49" charset="0"/>
              </a:rPr>
              <a:t>실행확인</a:t>
            </a:r>
            <a:endParaRPr lang="en-US" altLang="ko-KR" sz="800" dirty="0"/>
          </a:p>
          <a:p>
            <a:pPr>
              <a:lnSpc>
                <a:spcPct val="150000"/>
              </a:lnSpc>
            </a:pPr>
            <a:r>
              <a:rPr lang="en" altLang="ko-KR" sz="800" dirty="0" err="1">
                <a:solidFill>
                  <a:srgbClr val="B58900"/>
                </a:solidFill>
                <a:effectLst/>
              </a:rPr>
              <a:t>sudo</a:t>
            </a:r>
            <a:r>
              <a:rPr lang="en" altLang="ko-KR" sz="800" dirty="0">
                <a:solidFill>
                  <a:srgbClr val="B58900"/>
                </a:solidFill>
                <a:effectLst/>
              </a:rPr>
              <a:t> </a:t>
            </a:r>
            <a:r>
              <a:rPr lang="en" altLang="ko-KR" sz="800" dirty="0" err="1"/>
              <a:t>systemctl</a:t>
            </a:r>
            <a:r>
              <a:rPr lang="en" altLang="ko-KR" sz="800" dirty="0"/>
              <a:t> status </a:t>
            </a:r>
            <a:r>
              <a:rPr lang="en" altLang="ko-KR" sz="800" dirty="0" err="1"/>
              <a:t>opensearch</a:t>
            </a:r>
            <a:r>
              <a:rPr lang="en" altLang="ko-KR" sz="800" dirty="0"/>
              <a:t>-dashboards</a:t>
            </a:r>
          </a:p>
          <a:p>
            <a:pPr>
              <a:lnSpc>
                <a:spcPct val="150000"/>
              </a:lnSpc>
            </a:pPr>
            <a:endParaRPr lang="en" altLang="ko-KR" sz="800" dirty="0"/>
          </a:p>
          <a:p>
            <a:pPr>
              <a:lnSpc>
                <a:spcPct val="150000"/>
              </a:lnSpc>
            </a:pPr>
            <a:r>
              <a:rPr lang="en" altLang="ko-KR" sz="800" dirty="0">
                <a:hlinkClick r:id="rId4"/>
              </a:rPr>
              <a:t>http://localhost:5601</a:t>
            </a:r>
            <a:r>
              <a:rPr lang="en" altLang="ko-KR" sz="800" dirty="0"/>
              <a:t> </a:t>
            </a:r>
            <a:r>
              <a:rPr lang="ko-KR" altLang="en-US" sz="800" dirty="0"/>
              <a:t>실행 화면 확인</a:t>
            </a:r>
            <a:endParaRPr lang="en-US" altLang="ko-KR" sz="800" dirty="0"/>
          </a:p>
        </p:txBody>
      </p:sp>
    </p:spTree>
    <p:extLst>
      <p:ext uri="{BB962C8B-B14F-4D97-AF65-F5344CB8AC3E}">
        <p14:creationId xmlns:p14="http://schemas.microsoft.com/office/powerpoint/2010/main" val="3365453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002722-52DE-F22F-68F1-22444F0E8659}"/>
              </a:ext>
            </a:extLst>
          </p:cNvPr>
          <p:cNvSpPr txBox="1"/>
          <p:nvPr/>
        </p:nvSpPr>
        <p:spPr>
          <a:xfrm>
            <a:off x="344861" y="242047"/>
            <a:ext cx="1150227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" altLang="ko-KR" sz="900" dirty="0"/>
          </a:p>
          <a:p>
            <a:pPr rtl="0"/>
            <a:r>
              <a:rPr lang="en" altLang="ko-KR" sz="900" b="1" dirty="0">
                <a:effectLst/>
              </a:rPr>
              <a:t>RAG (Retrieval Augmented Generation) </a:t>
            </a:r>
            <a:r>
              <a:rPr lang="ko-KR" altLang="en-US" sz="900" b="1" dirty="0">
                <a:effectLst/>
              </a:rPr>
              <a:t>란 무엇인가</a:t>
            </a:r>
            <a:r>
              <a:rPr lang="en-US" altLang="ko-KR" sz="900" b="1" dirty="0">
                <a:effectLst/>
              </a:rPr>
              <a:t>?</a:t>
            </a:r>
          </a:p>
          <a:p>
            <a:pPr rtl="0"/>
            <a:r>
              <a:rPr lang="ko-KR" altLang="en-US" sz="900" dirty="0">
                <a:effectLst/>
              </a:rPr>
              <a:t>**</a:t>
            </a:r>
            <a:r>
              <a:rPr lang="en" altLang="ko-KR" sz="900" dirty="0">
                <a:effectLst/>
              </a:rPr>
              <a:t>RAG (Retrieval Augmented Generation)**</a:t>
            </a:r>
            <a:r>
              <a:rPr lang="ko-KR" altLang="en-US" sz="900" dirty="0">
                <a:effectLst/>
              </a:rPr>
              <a:t>은 자연어 처리 </a:t>
            </a:r>
            <a:r>
              <a:rPr lang="en-US" altLang="ko-KR" sz="900" dirty="0">
                <a:effectLst/>
              </a:rPr>
              <a:t>(</a:t>
            </a:r>
            <a:r>
              <a:rPr lang="en" altLang="ko-KR" sz="900" dirty="0">
                <a:effectLst/>
              </a:rPr>
              <a:t>NLP) </a:t>
            </a:r>
            <a:r>
              <a:rPr lang="ko-KR" altLang="en-US" sz="900" dirty="0">
                <a:effectLst/>
              </a:rPr>
              <a:t>기술로</a:t>
            </a:r>
            <a:r>
              <a:rPr lang="en-US" altLang="ko-KR" sz="900" dirty="0">
                <a:effectLst/>
              </a:rPr>
              <a:t>, </a:t>
            </a:r>
            <a:r>
              <a:rPr lang="ko-KR" altLang="en-US" sz="900" dirty="0">
                <a:effectLst/>
              </a:rPr>
              <a:t>검색 기반과 생성 기반의 접근 방식을 결합하여 텍스트 생성의 품질과 관련성을 향상시킵니다</a:t>
            </a:r>
            <a:r>
              <a:rPr lang="en-US" altLang="ko-KR" sz="900" dirty="0">
                <a:effectLst/>
              </a:rPr>
              <a:t>. </a:t>
            </a:r>
            <a:r>
              <a:rPr lang="ko-KR" altLang="en-US" sz="900" dirty="0">
                <a:effectLst/>
              </a:rPr>
              <a:t>두 접근 방식의 장점을 활용하여 더욱 정확하고 유익하며 일관된 텍스트를 생성합니다</a:t>
            </a:r>
            <a:r>
              <a:rPr lang="en-US" altLang="ko-KR" sz="900" dirty="0">
                <a:effectLst/>
              </a:rPr>
              <a:t>.</a:t>
            </a:r>
          </a:p>
          <a:p>
            <a:pPr rtl="0"/>
            <a:r>
              <a:rPr lang="ko-KR" altLang="en-US" sz="900" b="1" dirty="0">
                <a:effectLst/>
              </a:rPr>
              <a:t>검색 기반 접근 방식</a:t>
            </a:r>
            <a:r>
              <a:rPr lang="en-US" altLang="ko-KR" sz="900" b="1" dirty="0">
                <a:effectLst/>
              </a:rPr>
              <a:t>:</a:t>
            </a:r>
            <a:endParaRPr lang="ko-KR" altLang="en-US" sz="900" dirty="0">
              <a:effectLst/>
            </a:endParaRPr>
          </a:p>
          <a:p>
            <a:pPr rtl="0"/>
            <a:r>
              <a:rPr lang="ko-KR" altLang="en-US" sz="900" dirty="0">
                <a:effectLst/>
              </a:rPr>
              <a:t>검색 기반 접근 방식에서 </a:t>
            </a:r>
            <a:r>
              <a:rPr lang="en" altLang="ko-KR" sz="900" dirty="0">
                <a:effectLst/>
              </a:rPr>
              <a:t>RAG</a:t>
            </a:r>
            <a:r>
              <a:rPr lang="ko-KR" altLang="en-US" sz="900" dirty="0">
                <a:effectLst/>
              </a:rPr>
              <a:t>는 먼저 문서</a:t>
            </a:r>
            <a:r>
              <a:rPr lang="en-US" altLang="ko-KR" sz="900" dirty="0">
                <a:effectLst/>
              </a:rPr>
              <a:t>, </a:t>
            </a:r>
            <a:r>
              <a:rPr lang="ko-KR" altLang="en-US" sz="900" dirty="0">
                <a:effectLst/>
              </a:rPr>
              <a:t>웹 페이지 또는 지식 기반과 같은 외부 소스에서 관련 정보를 검색합니다</a:t>
            </a:r>
            <a:r>
              <a:rPr lang="en-US" altLang="ko-KR" sz="900" dirty="0">
                <a:effectLst/>
              </a:rPr>
              <a:t>. </a:t>
            </a:r>
            <a:r>
              <a:rPr lang="ko-KR" altLang="en-US" sz="900" dirty="0">
                <a:effectLst/>
              </a:rPr>
              <a:t>그런 다음 이 정보를 사용하여 생성 프로세스를 알려주므로 생성된 텍스트가 검색된 정보와 일관되고 실제 세계 지식에 기반하는 것이 보장됩니다</a:t>
            </a:r>
            <a:r>
              <a:rPr lang="en-US" altLang="ko-KR" sz="900" dirty="0">
                <a:effectLst/>
              </a:rPr>
              <a:t>.</a:t>
            </a:r>
          </a:p>
          <a:p>
            <a:pPr rtl="0"/>
            <a:r>
              <a:rPr lang="ko-KR" altLang="en-US" sz="900" b="1" dirty="0">
                <a:effectLst/>
              </a:rPr>
              <a:t>생성 기반 접근 방식</a:t>
            </a:r>
            <a:r>
              <a:rPr lang="en-US" altLang="ko-KR" sz="900" b="1" dirty="0">
                <a:effectLst/>
              </a:rPr>
              <a:t>:</a:t>
            </a:r>
            <a:endParaRPr lang="ko-KR" altLang="en-US" sz="900" dirty="0">
              <a:effectLst/>
            </a:endParaRPr>
          </a:p>
          <a:p>
            <a:pPr rtl="0"/>
            <a:r>
              <a:rPr lang="en" altLang="ko-KR" sz="900" dirty="0">
                <a:effectLst/>
              </a:rPr>
              <a:t>RAG</a:t>
            </a:r>
            <a:r>
              <a:rPr lang="ko-KR" altLang="en-US" sz="900" dirty="0">
                <a:effectLst/>
              </a:rPr>
              <a:t>의 생성 기반 접근 방식은 대규모 언어 모델 </a:t>
            </a:r>
            <a:r>
              <a:rPr lang="en-US" altLang="ko-KR" sz="900" dirty="0">
                <a:effectLst/>
              </a:rPr>
              <a:t>(</a:t>
            </a:r>
            <a:r>
              <a:rPr lang="en" altLang="ko-KR" sz="900" dirty="0">
                <a:effectLst/>
              </a:rPr>
              <a:t>LLM)</a:t>
            </a:r>
            <a:r>
              <a:rPr lang="ko-KR" altLang="en-US" sz="900" dirty="0">
                <a:effectLst/>
              </a:rPr>
              <a:t>을 사용하여 처음부터 텍스트를 생성합니다</a:t>
            </a:r>
            <a:r>
              <a:rPr lang="en-US" altLang="ko-KR" sz="900" dirty="0">
                <a:effectLst/>
              </a:rPr>
              <a:t>. </a:t>
            </a:r>
            <a:r>
              <a:rPr lang="en" altLang="ko-KR" sz="900" dirty="0">
                <a:effectLst/>
              </a:rPr>
              <a:t>LLM</a:t>
            </a:r>
            <a:r>
              <a:rPr lang="ko-KR" altLang="en-US" sz="900" dirty="0">
                <a:effectLst/>
              </a:rPr>
              <a:t>은 방대한 텍스트 및 코드 데이터 세트에 대해 교육을 받아 유창하고 문법적으로 정확하며 창의적인 텍스트를 생성할 수 있습니다</a:t>
            </a:r>
            <a:r>
              <a:rPr lang="en-US" altLang="ko-KR" sz="900" dirty="0">
                <a:effectLst/>
              </a:rPr>
              <a:t>.</a:t>
            </a:r>
          </a:p>
          <a:p>
            <a:pPr rtl="0"/>
            <a:r>
              <a:rPr lang="en" altLang="ko-KR" sz="900" b="1" dirty="0">
                <a:effectLst/>
              </a:rPr>
              <a:t>RAG </a:t>
            </a:r>
            <a:r>
              <a:rPr lang="ko-KR" altLang="en-US" sz="900" b="1" dirty="0">
                <a:effectLst/>
              </a:rPr>
              <a:t>작동 방식</a:t>
            </a:r>
            <a:r>
              <a:rPr lang="en-US" altLang="ko-KR" sz="900" b="1" dirty="0">
                <a:effectLst/>
              </a:rPr>
              <a:t>:</a:t>
            </a:r>
            <a:endParaRPr lang="ko-KR" altLang="en-US" sz="900" dirty="0">
              <a:effectLst/>
            </a:endParaRPr>
          </a:p>
          <a:p>
            <a:pPr rtl="0">
              <a:buFont typeface="+mj-lt"/>
              <a:buAutoNum type="arabicPeriod"/>
            </a:pPr>
            <a:r>
              <a:rPr lang="ko-KR" altLang="en-US" sz="900" b="1" dirty="0">
                <a:effectLst/>
              </a:rPr>
              <a:t>검색</a:t>
            </a:r>
            <a:r>
              <a:rPr lang="en-US" altLang="ko-KR" sz="900" b="1" dirty="0">
                <a:effectLst/>
              </a:rPr>
              <a:t>:</a:t>
            </a:r>
            <a:r>
              <a:rPr lang="ko-KR" altLang="en-US" sz="900" dirty="0">
                <a:effectLst/>
              </a:rPr>
              <a:t> </a:t>
            </a:r>
            <a:r>
              <a:rPr lang="en" altLang="ko-KR" sz="900" dirty="0">
                <a:effectLst/>
              </a:rPr>
              <a:t>RAG</a:t>
            </a:r>
            <a:r>
              <a:rPr lang="ko-KR" altLang="en-US" sz="900" dirty="0">
                <a:effectLst/>
              </a:rPr>
              <a:t>는 검색 모듈을 사용하여 외부 소스에서 관련 정보를 검색하는 것으로 시작합니다</a:t>
            </a:r>
            <a:r>
              <a:rPr lang="en-US" altLang="ko-KR" sz="900" dirty="0">
                <a:effectLst/>
              </a:rPr>
              <a:t>. </a:t>
            </a:r>
            <a:r>
              <a:rPr lang="ko-KR" altLang="en-US" sz="900" dirty="0">
                <a:effectLst/>
              </a:rPr>
              <a:t>검색 모듈은 입력 쿼리 또는 컨텍스트를 가져와 외부 소스에서 가장 관련성이 높은 문서 또는 구절을 식별합니다</a:t>
            </a:r>
            <a:r>
              <a:rPr lang="en-US" altLang="ko-KR" sz="900" dirty="0">
                <a:effectLst/>
              </a:rPr>
              <a:t>.</a:t>
            </a:r>
          </a:p>
          <a:p>
            <a:pPr rtl="0">
              <a:buFont typeface="+mj-lt"/>
              <a:buAutoNum type="arabicPeriod"/>
            </a:pPr>
            <a:r>
              <a:rPr lang="ko-KR" altLang="en-US" sz="900" b="1" dirty="0">
                <a:effectLst/>
              </a:rPr>
              <a:t>인코딩</a:t>
            </a:r>
            <a:r>
              <a:rPr lang="en-US" altLang="ko-KR" sz="900" b="1" dirty="0">
                <a:effectLst/>
              </a:rPr>
              <a:t>:</a:t>
            </a:r>
            <a:r>
              <a:rPr lang="ko-KR" altLang="en-US" sz="900" dirty="0">
                <a:effectLst/>
              </a:rPr>
              <a:t> 검색된 정보는 </a:t>
            </a:r>
            <a:r>
              <a:rPr lang="en" altLang="ko-KR" sz="900" dirty="0">
                <a:effectLst/>
              </a:rPr>
              <a:t>LLM</a:t>
            </a:r>
            <a:r>
              <a:rPr lang="ko-KR" altLang="en-US" sz="900" dirty="0">
                <a:effectLst/>
              </a:rPr>
              <a:t>이 이해할 수 있는 표현으로 </a:t>
            </a:r>
            <a:r>
              <a:rPr lang="ko-KR" altLang="en-US" sz="900" dirty="0" err="1">
                <a:effectLst/>
              </a:rPr>
              <a:t>인코딩됩니다</a:t>
            </a:r>
            <a:r>
              <a:rPr lang="en-US" altLang="ko-KR" sz="900" dirty="0">
                <a:effectLst/>
              </a:rPr>
              <a:t>. </a:t>
            </a:r>
            <a:r>
              <a:rPr lang="ko-KR" altLang="en-US" sz="900" dirty="0">
                <a:effectLst/>
              </a:rPr>
              <a:t>이 인코딩 프로세스에는 문서 요약 또는 구절 표현과 같은 기술이 포함될 수 있습니다</a:t>
            </a:r>
            <a:r>
              <a:rPr lang="en-US" altLang="ko-KR" sz="900" dirty="0">
                <a:effectLst/>
              </a:rPr>
              <a:t>.</a:t>
            </a:r>
          </a:p>
          <a:p>
            <a:pPr rtl="0">
              <a:buFont typeface="+mj-lt"/>
              <a:buAutoNum type="arabicPeriod"/>
            </a:pPr>
            <a:r>
              <a:rPr lang="ko-KR" altLang="en-US" sz="900" b="1" dirty="0">
                <a:effectLst/>
              </a:rPr>
              <a:t>생성</a:t>
            </a:r>
            <a:r>
              <a:rPr lang="en-US" altLang="ko-KR" sz="900" b="1" dirty="0">
                <a:effectLst/>
              </a:rPr>
              <a:t>:</a:t>
            </a:r>
            <a:r>
              <a:rPr lang="ko-KR" altLang="en-US" sz="900" dirty="0">
                <a:effectLst/>
              </a:rPr>
              <a:t> </a:t>
            </a:r>
            <a:r>
              <a:rPr lang="ko-KR" altLang="en-US" sz="900" dirty="0" err="1">
                <a:effectLst/>
              </a:rPr>
              <a:t>인코딩된</a:t>
            </a:r>
            <a:r>
              <a:rPr lang="ko-KR" altLang="en-US" sz="900" dirty="0">
                <a:effectLst/>
              </a:rPr>
              <a:t> 정보와 입력 쿼리 또는 컨텍스트가 </a:t>
            </a:r>
            <a:r>
              <a:rPr lang="en" altLang="ko-KR" sz="900" dirty="0">
                <a:effectLst/>
              </a:rPr>
              <a:t>LLM</a:t>
            </a:r>
            <a:r>
              <a:rPr lang="ko-KR" altLang="en-US" sz="900" dirty="0">
                <a:effectLst/>
              </a:rPr>
              <a:t>에 제공됩니다</a:t>
            </a:r>
            <a:r>
              <a:rPr lang="en-US" altLang="ko-KR" sz="900" dirty="0">
                <a:effectLst/>
              </a:rPr>
              <a:t>. </a:t>
            </a:r>
            <a:r>
              <a:rPr lang="en" altLang="ko-KR" sz="900" dirty="0">
                <a:effectLst/>
              </a:rPr>
              <a:t>LLM</a:t>
            </a:r>
            <a:r>
              <a:rPr lang="ko-KR" altLang="en-US" sz="900" dirty="0">
                <a:effectLst/>
              </a:rPr>
              <a:t>은 검색된 정보와 입력의 컨텍스트를 모두 고려하여 이 정보를 사용하여 새 텍스트를 생성합니다</a:t>
            </a:r>
            <a:r>
              <a:rPr lang="en-US" altLang="ko-KR" sz="900" dirty="0">
                <a:effectLst/>
              </a:rPr>
              <a:t>.</a:t>
            </a:r>
          </a:p>
          <a:p>
            <a:pPr rtl="0"/>
            <a:r>
              <a:rPr lang="en" altLang="ko-KR" sz="900" b="1" dirty="0">
                <a:effectLst/>
              </a:rPr>
              <a:t>RAG</a:t>
            </a:r>
            <a:r>
              <a:rPr lang="ko-KR" altLang="en-US" sz="900" b="1" dirty="0">
                <a:effectLst/>
              </a:rPr>
              <a:t>의 장점</a:t>
            </a:r>
            <a:r>
              <a:rPr lang="en-US" altLang="ko-KR" sz="900" b="1" dirty="0">
                <a:effectLst/>
              </a:rPr>
              <a:t>:</a:t>
            </a:r>
            <a:endParaRPr lang="ko-KR" altLang="en-US" sz="900" dirty="0">
              <a:effectLst/>
            </a:endParaRPr>
          </a:p>
          <a:p>
            <a:pPr rtl="0">
              <a:buFont typeface="+mj-lt"/>
              <a:buAutoNum type="arabicPeriod"/>
            </a:pPr>
            <a:r>
              <a:rPr lang="ko-KR" altLang="en-US" sz="900" b="1" dirty="0">
                <a:effectLst/>
              </a:rPr>
              <a:t>향상된 정확성</a:t>
            </a:r>
            <a:r>
              <a:rPr lang="en-US" altLang="ko-KR" sz="900" b="1" dirty="0">
                <a:effectLst/>
              </a:rPr>
              <a:t>:</a:t>
            </a:r>
            <a:r>
              <a:rPr lang="ko-KR" altLang="en-US" sz="900" dirty="0">
                <a:effectLst/>
              </a:rPr>
              <a:t> </a:t>
            </a:r>
            <a:r>
              <a:rPr lang="en" altLang="ko-KR" sz="900" dirty="0">
                <a:effectLst/>
              </a:rPr>
              <a:t>RAG</a:t>
            </a:r>
            <a:r>
              <a:rPr lang="ko-KR" altLang="en-US" sz="900" dirty="0">
                <a:effectLst/>
              </a:rPr>
              <a:t>는 검색된 정보에서 생성된 텍스트를 기반으로 하기 때문에 정확성과 사실적 정확성을 향상시킵니다</a:t>
            </a:r>
            <a:r>
              <a:rPr lang="en-US" altLang="ko-KR" sz="900" dirty="0">
                <a:effectLst/>
              </a:rPr>
              <a:t>.</a:t>
            </a:r>
          </a:p>
          <a:p>
            <a:pPr rtl="0">
              <a:buFont typeface="+mj-lt"/>
              <a:buAutoNum type="arabicPeriod"/>
            </a:pPr>
            <a:r>
              <a:rPr lang="ko-KR" altLang="en-US" sz="900" b="1" dirty="0">
                <a:effectLst/>
              </a:rPr>
              <a:t>향상된 관련성</a:t>
            </a:r>
            <a:r>
              <a:rPr lang="en-US" altLang="ko-KR" sz="900" b="1" dirty="0">
                <a:effectLst/>
              </a:rPr>
              <a:t>:</a:t>
            </a:r>
            <a:r>
              <a:rPr lang="ko-KR" altLang="en-US" sz="900" dirty="0">
                <a:effectLst/>
              </a:rPr>
              <a:t> 검색된 정보는 생성된 텍스트가 입력 쿼리 또는 컨텍스트와 관련이 있도록 합니다</a:t>
            </a:r>
            <a:r>
              <a:rPr lang="en-US" altLang="ko-KR" sz="900" dirty="0">
                <a:effectLst/>
              </a:rPr>
              <a:t>.</a:t>
            </a:r>
          </a:p>
          <a:p>
            <a:pPr rtl="0">
              <a:buFont typeface="+mj-lt"/>
              <a:buAutoNum type="arabicPeriod"/>
            </a:pPr>
            <a:r>
              <a:rPr lang="ko-KR" altLang="en-US" sz="900" b="1" dirty="0">
                <a:effectLst/>
              </a:rPr>
              <a:t>반복 감소</a:t>
            </a:r>
            <a:r>
              <a:rPr lang="en-US" altLang="ko-KR" sz="900" b="1" dirty="0">
                <a:effectLst/>
              </a:rPr>
              <a:t>:</a:t>
            </a:r>
            <a:r>
              <a:rPr lang="ko-KR" altLang="en-US" sz="900" dirty="0">
                <a:effectLst/>
              </a:rPr>
              <a:t> </a:t>
            </a:r>
            <a:r>
              <a:rPr lang="en" altLang="ko-KR" sz="900" dirty="0">
                <a:effectLst/>
              </a:rPr>
              <a:t>RAG</a:t>
            </a:r>
            <a:r>
              <a:rPr lang="ko-KR" altLang="en-US" sz="900" dirty="0">
                <a:effectLst/>
              </a:rPr>
              <a:t>의 검색된 정보에 대한 의존성은 반복을 줄이고 생성된 텍스트의 전반적인 일관성을 향상시키는 데 도움이 될 수 있습니다</a:t>
            </a:r>
            <a:r>
              <a:rPr lang="en-US" altLang="ko-KR" sz="900" dirty="0">
                <a:effectLst/>
              </a:rPr>
              <a:t>.</a:t>
            </a:r>
          </a:p>
          <a:p>
            <a:pPr rtl="0"/>
            <a:r>
              <a:rPr lang="en" altLang="ko-KR" sz="900" b="1" dirty="0">
                <a:effectLst/>
              </a:rPr>
              <a:t>RAG </a:t>
            </a:r>
            <a:r>
              <a:rPr lang="ko-KR" altLang="en-US" sz="900" b="1" dirty="0">
                <a:effectLst/>
              </a:rPr>
              <a:t>응용 프로그램</a:t>
            </a:r>
            <a:r>
              <a:rPr lang="en-US" altLang="ko-KR" sz="900" b="1" dirty="0">
                <a:effectLst/>
              </a:rPr>
              <a:t>:</a:t>
            </a:r>
            <a:endParaRPr lang="ko-KR" altLang="en-US" sz="900" dirty="0">
              <a:effectLst/>
            </a:endParaRPr>
          </a:p>
          <a:p>
            <a:pPr rtl="0">
              <a:buFont typeface="+mj-lt"/>
              <a:buAutoNum type="arabicPeriod"/>
            </a:pPr>
            <a:r>
              <a:rPr lang="ko-KR" altLang="en-US" sz="900" b="1" dirty="0">
                <a:effectLst/>
              </a:rPr>
              <a:t>질문 답변</a:t>
            </a:r>
            <a:r>
              <a:rPr lang="en-US" altLang="ko-KR" sz="900" b="1" dirty="0">
                <a:effectLst/>
              </a:rPr>
              <a:t>:</a:t>
            </a:r>
            <a:r>
              <a:rPr lang="ko-KR" altLang="en-US" sz="900" dirty="0">
                <a:effectLst/>
              </a:rPr>
              <a:t> </a:t>
            </a:r>
            <a:r>
              <a:rPr lang="en" altLang="ko-KR" sz="900" dirty="0">
                <a:effectLst/>
              </a:rPr>
              <a:t>RAG</a:t>
            </a:r>
            <a:r>
              <a:rPr lang="ko-KR" altLang="en-US" sz="900" dirty="0">
                <a:effectLst/>
              </a:rPr>
              <a:t>는 개방형</a:t>
            </a:r>
            <a:r>
              <a:rPr lang="en-US" altLang="ko-KR" sz="900" dirty="0">
                <a:effectLst/>
              </a:rPr>
              <a:t>, </a:t>
            </a:r>
            <a:r>
              <a:rPr lang="ko-KR" altLang="en-US" sz="900" dirty="0">
                <a:effectLst/>
              </a:rPr>
              <a:t>복잡하거나 도전적인 질문에 대한 포괄적이고 유익한 답변을 생성하는 데 사용할 수 있습니다</a:t>
            </a:r>
            <a:r>
              <a:rPr lang="en-US" altLang="ko-KR" sz="900" dirty="0">
                <a:effectLst/>
              </a:rPr>
              <a:t>.</a:t>
            </a:r>
          </a:p>
          <a:p>
            <a:pPr rtl="0">
              <a:buFont typeface="+mj-lt"/>
              <a:buAutoNum type="arabicPeriod"/>
            </a:pPr>
            <a:r>
              <a:rPr lang="ko-KR" altLang="en-US" sz="900" b="1" dirty="0">
                <a:effectLst/>
              </a:rPr>
              <a:t>요약</a:t>
            </a:r>
            <a:r>
              <a:rPr lang="en-US" altLang="ko-KR" sz="900" b="1" dirty="0">
                <a:effectLst/>
              </a:rPr>
              <a:t>:</a:t>
            </a:r>
            <a:r>
              <a:rPr lang="ko-KR" altLang="en-US" sz="900" dirty="0">
                <a:effectLst/>
              </a:rPr>
              <a:t> </a:t>
            </a:r>
            <a:r>
              <a:rPr lang="en" altLang="ko-KR" sz="900" dirty="0">
                <a:effectLst/>
              </a:rPr>
              <a:t>RAG</a:t>
            </a:r>
            <a:r>
              <a:rPr lang="ko-KR" altLang="en-US" sz="900" dirty="0">
                <a:effectLst/>
              </a:rPr>
              <a:t>는 길이가 긴 문서 또는 구절의 간결하고 유익한 요약을 생성할 수 있습니다</a:t>
            </a:r>
            <a:r>
              <a:rPr lang="en-US" altLang="ko-KR" sz="900" dirty="0">
                <a:effectLst/>
              </a:rPr>
              <a:t>.</a:t>
            </a:r>
          </a:p>
          <a:p>
            <a:pPr rtl="0">
              <a:buFont typeface="+mj-lt"/>
              <a:buAutoNum type="arabicPeriod"/>
            </a:pPr>
            <a:r>
              <a:rPr lang="ko-KR" altLang="en-US" sz="900" b="1" dirty="0">
                <a:effectLst/>
              </a:rPr>
              <a:t>창의적인 텍스트 생성</a:t>
            </a:r>
            <a:r>
              <a:rPr lang="en-US" altLang="ko-KR" sz="900" b="1" dirty="0">
                <a:effectLst/>
              </a:rPr>
              <a:t>:</a:t>
            </a:r>
            <a:r>
              <a:rPr lang="ko-KR" altLang="en-US" sz="900" dirty="0">
                <a:effectLst/>
              </a:rPr>
              <a:t> </a:t>
            </a:r>
            <a:r>
              <a:rPr lang="en" altLang="ko-KR" sz="900" dirty="0">
                <a:effectLst/>
              </a:rPr>
              <a:t>RAG</a:t>
            </a:r>
            <a:r>
              <a:rPr lang="ko-KR" altLang="en-US" sz="900" dirty="0">
                <a:effectLst/>
              </a:rPr>
              <a:t>는 시</a:t>
            </a:r>
            <a:r>
              <a:rPr lang="en-US" altLang="ko-KR" sz="900" dirty="0">
                <a:effectLst/>
              </a:rPr>
              <a:t>, </a:t>
            </a:r>
            <a:r>
              <a:rPr lang="ko-KR" altLang="en-US" sz="900" dirty="0">
                <a:effectLst/>
              </a:rPr>
              <a:t>코드</a:t>
            </a:r>
            <a:r>
              <a:rPr lang="en-US" altLang="ko-KR" sz="900" dirty="0">
                <a:effectLst/>
              </a:rPr>
              <a:t>, </a:t>
            </a:r>
            <a:r>
              <a:rPr lang="ko-KR" altLang="en-US" sz="900" dirty="0">
                <a:effectLst/>
              </a:rPr>
              <a:t>대본</a:t>
            </a:r>
            <a:r>
              <a:rPr lang="en-US" altLang="ko-KR" sz="900" dirty="0">
                <a:effectLst/>
              </a:rPr>
              <a:t>, </a:t>
            </a:r>
            <a:r>
              <a:rPr lang="ko-KR" altLang="en-US" sz="900" dirty="0">
                <a:effectLst/>
              </a:rPr>
              <a:t>음악 작품</a:t>
            </a:r>
            <a:r>
              <a:rPr lang="en-US" altLang="ko-KR" sz="900" dirty="0">
                <a:effectLst/>
              </a:rPr>
              <a:t>, </a:t>
            </a:r>
            <a:r>
              <a:rPr lang="ko-KR" altLang="en-US" sz="900" dirty="0">
                <a:effectLst/>
              </a:rPr>
              <a:t>이메일 및 편지와 같은 창의적인 텍스트 형식을 생성하는 데 사용할 수 있습니다</a:t>
            </a:r>
            <a:r>
              <a:rPr lang="en-US" altLang="ko-KR" sz="900" dirty="0">
                <a:effectLst/>
              </a:rPr>
              <a:t>.</a:t>
            </a:r>
          </a:p>
          <a:p>
            <a:pPr rtl="0"/>
            <a:r>
              <a:rPr lang="en" altLang="ko-KR" sz="900" b="1" dirty="0">
                <a:effectLst/>
              </a:rPr>
              <a:t>RAG </a:t>
            </a:r>
            <a:r>
              <a:rPr lang="ko-KR" altLang="en-US" sz="900" b="1" dirty="0">
                <a:effectLst/>
              </a:rPr>
              <a:t>구현을 위한 </a:t>
            </a:r>
            <a:r>
              <a:rPr lang="en" altLang="ko-KR" sz="900" b="1" dirty="0" err="1">
                <a:effectLst/>
              </a:rPr>
              <a:t>LangChain</a:t>
            </a:r>
            <a:r>
              <a:rPr lang="en" altLang="ko-KR" sz="900" b="1" dirty="0">
                <a:effectLst/>
              </a:rPr>
              <a:t>:</a:t>
            </a:r>
            <a:endParaRPr lang="en" altLang="ko-KR" sz="900" dirty="0">
              <a:effectLst/>
            </a:endParaRPr>
          </a:p>
          <a:p>
            <a:pPr rtl="0"/>
            <a:r>
              <a:rPr lang="en" altLang="ko-KR" sz="900" dirty="0" err="1">
                <a:effectLst/>
              </a:rPr>
              <a:t>LangChain</a:t>
            </a:r>
            <a:r>
              <a:rPr lang="ko-KR" altLang="en-US" sz="900" dirty="0">
                <a:effectLst/>
              </a:rPr>
              <a:t>은 </a:t>
            </a:r>
            <a:r>
              <a:rPr lang="en" altLang="ko-KR" sz="900" dirty="0">
                <a:effectLst/>
              </a:rPr>
              <a:t>NLP </a:t>
            </a:r>
            <a:r>
              <a:rPr lang="ko-KR" altLang="en-US" sz="900" dirty="0">
                <a:effectLst/>
              </a:rPr>
              <a:t>파이프라인</a:t>
            </a:r>
            <a:r>
              <a:rPr lang="en-US" altLang="ko-KR" sz="900" dirty="0">
                <a:effectLst/>
              </a:rPr>
              <a:t>, </a:t>
            </a:r>
            <a:r>
              <a:rPr lang="ko-KR" altLang="en-US" sz="900" dirty="0">
                <a:effectLst/>
              </a:rPr>
              <a:t>특히 </a:t>
            </a:r>
            <a:r>
              <a:rPr lang="en" altLang="ko-KR" sz="900" dirty="0">
                <a:effectLst/>
              </a:rPr>
              <a:t>RAG</a:t>
            </a:r>
            <a:r>
              <a:rPr lang="ko-KR" altLang="en-US" sz="900" dirty="0" err="1">
                <a:effectLst/>
              </a:rPr>
              <a:t>를</a:t>
            </a:r>
            <a:r>
              <a:rPr lang="ko-KR" altLang="en-US" sz="900" dirty="0">
                <a:effectLst/>
              </a:rPr>
              <a:t> 구현하도록 특별히 설계된 </a:t>
            </a:r>
            <a:r>
              <a:rPr lang="en" altLang="ko-KR" sz="900" dirty="0">
                <a:effectLst/>
              </a:rPr>
              <a:t>Python </a:t>
            </a:r>
            <a:r>
              <a:rPr lang="ko-KR" altLang="en-US" sz="900" dirty="0" err="1">
                <a:effectLst/>
              </a:rPr>
              <a:t>프레임워크입니다</a:t>
            </a:r>
            <a:r>
              <a:rPr lang="en-US" altLang="ko-KR" sz="900" dirty="0">
                <a:effectLst/>
              </a:rPr>
              <a:t>. </a:t>
            </a:r>
            <a:r>
              <a:rPr lang="ko-KR" altLang="en-US" sz="900" dirty="0">
                <a:effectLst/>
              </a:rPr>
              <a:t>복잡한 </a:t>
            </a:r>
            <a:r>
              <a:rPr lang="en" altLang="ko-KR" sz="900" dirty="0">
                <a:effectLst/>
              </a:rPr>
              <a:t>NLP </a:t>
            </a:r>
            <a:r>
              <a:rPr lang="ko-KR" altLang="en-US" sz="900" dirty="0">
                <a:effectLst/>
              </a:rPr>
              <a:t>작업을 구축하고 관리하기 위한 </a:t>
            </a:r>
            <a:r>
              <a:rPr lang="ko-KR" altLang="en-US" sz="900" dirty="0" err="1">
                <a:effectLst/>
              </a:rPr>
              <a:t>모듈식이고</a:t>
            </a:r>
            <a:r>
              <a:rPr lang="ko-KR" altLang="en-US" sz="900" dirty="0">
                <a:effectLst/>
              </a:rPr>
              <a:t> 유연한 접근 방식을 제공하여 </a:t>
            </a:r>
            <a:r>
              <a:rPr lang="en" altLang="ko-KR" sz="900" dirty="0">
                <a:effectLst/>
              </a:rPr>
              <a:t>RAG </a:t>
            </a:r>
            <a:r>
              <a:rPr lang="ko-KR" altLang="en-US" sz="900" dirty="0">
                <a:effectLst/>
              </a:rPr>
              <a:t>구현에 적합합니다</a:t>
            </a:r>
            <a:r>
              <a:rPr lang="en-US" altLang="ko-KR" sz="900" dirty="0">
                <a:effectLst/>
              </a:rPr>
              <a:t>.</a:t>
            </a:r>
          </a:p>
          <a:p>
            <a:pPr rtl="0"/>
            <a:r>
              <a:rPr lang="en" altLang="ko-KR" sz="900" b="1" dirty="0">
                <a:effectLst/>
              </a:rPr>
              <a:t>RAG </a:t>
            </a:r>
            <a:r>
              <a:rPr lang="ko-KR" altLang="en-US" sz="900" b="1" dirty="0">
                <a:effectLst/>
              </a:rPr>
              <a:t>구현을 위한 </a:t>
            </a:r>
            <a:r>
              <a:rPr lang="en" altLang="ko-KR" sz="900" b="1" dirty="0" err="1">
                <a:effectLst/>
              </a:rPr>
              <a:t>LangChain</a:t>
            </a:r>
            <a:r>
              <a:rPr lang="ko-KR" altLang="en-US" sz="900" b="1" dirty="0">
                <a:effectLst/>
              </a:rPr>
              <a:t>의 주요 기능</a:t>
            </a:r>
            <a:r>
              <a:rPr lang="en-US" altLang="ko-KR" sz="900" b="1" dirty="0">
                <a:effectLst/>
              </a:rPr>
              <a:t>:</a:t>
            </a:r>
            <a:endParaRPr lang="ko-KR" altLang="en-US" sz="900" dirty="0">
              <a:effectLst/>
            </a:endParaRPr>
          </a:p>
          <a:p>
            <a:pPr rtl="0">
              <a:buFont typeface="+mj-lt"/>
              <a:buAutoNum type="arabicPeriod"/>
            </a:pPr>
            <a:r>
              <a:rPr lang="ko-KR" altLang="en-US" sz="900" b="1" dirty="0">
                <a:effectLst/>
              </a:rPr>
              <a:t>모듈형 디자인</a:t>
            </a:r>
            <a:r>
              <a:rPr lang="en-US" altLang="ko-KR" sz="900" b="1" dirty="0">
                <a:effectLst/>
              </a:rPr>
              <a:t>:</a:t>
            </a:r>
            <a:r>
              <a:rPr lang="ko-KR" altLang="en-US" sz="900" dirty="0">
                <a:effectLst/>
              </a:rPr>
              <a:t> </a:t>
            </a:r>
            <a:r>
              <a:rPr lang="en" altLang="ko-KR" sz="900" dirty="0" err="1">
                <a:effectLst/>
              </a:rPr>
              <a:t>LangChain</a:t>
            </a:r>
            <a:r>
              <a:rPr lang="ko-KR" altLang="en-US" sz="900" dirty="0">
                <a:effectLst/>
              </a:rPr>
              <a:t>의 모듈형 아키텍처는 검색 모듈</a:t>
            </a:r>
            <a:r>
              <a:rPr lang="en-US" altLang="ko-KR" sz="900" dirty="0">
                <a:effectLst/>
              </a:rPr>
              <a:t>, </a:t>
            </a:r>
            <a:r>
              <a:rPr lang="ko-KR" altLang="en-US" sz="900" dirty="0">
                <a:effectLst/>
              </a:rPr>
              <a:t>인코더 및 </a:t>
            </a:r>
            <a:r>
              <a:rPr lang="en" altLang="ko-KR" sz="900" dirty="0">
                <a:effectLst/>
              </a:rPr>
              <a:t>LLM</a:t>
            </a:r>
            <a:r>
              <a:rPr lang="ko-KR" altLang="en-US" sz="900" dirty="0">
                <a:effectLst/>
              </a:rPr>
              <a:t>과 같은 다양한 구성 요소를 쉽게 통합할 수 있도록 합니다</a:t>
            </a:r>
            <a:r>
              <a:rPr lang="en-US" altLang="ko-KR" sz="900" dirty="0">
                <a:effectLst/>
              </a:rPr>
              <a:t>.</a:t>
            </a:r>
          </a:p>
          <a:p>
            <a:pPr rtl="0">
              <a:buFont typeface="+mj-lt"/>
              <a:buAutoNum type="arabicPeriod"/>
            </a:pPr>
            <a:r>
              <a:rPr lang="ko-KR" altLang="en-US" sz="900" b="1" dirty="0">
                <a:effectLst/>
              </a:rPr>
              <a:t>구성 관리</a:t>
            </a:r>
            <a:r>
              <a:rPr lang="en-US" altLang="ko-KR" sz="900" b="1" dirty="0">
                <a:effectLst/>
              </a:rPr>
              <a:t>:</a:t>
            </a:r>
            <a:r>
              <a:rPr lang="ko-KR" altLang="en-US" sz="900" dirty="0">
                <a:effectLst/>
              </a:rPr>
              <a:t> </a:t>
            </a:r>
            <a:r>
              <a:rPr lang="en" altLang="ko-KR" sz="900" dirty="0" err="1">
                <a:effectLst/>
              </a:rPr>
              <a:t>LangChain</a:t>
            </a:r>
            <a:r>
              <a:rPr lang="ko-KR" altLang="en-US" sz="900" dirty="0">
                <a:effectLst/>
              </a:rPr>
              <a:t>은 구성 관리를 용이하게 하여 다양한 매개 변수 및 모델을 사용한 실험이 쉬워집니다</a:t>
            </a:r>
            <a:r>
              <a:rPr lang="en-US" altLang="ko-KR" sz="900" dirty="0">
                <a:effectLst/>
              </a:rPr>
              <a:t>.</a:t>
            </a:r>
          </a:p>
          <a:p>
            <a:pPr rtl="0">
              <a:buFont typeface="+mj-lt"/>
              <a:buAutoNum type="arabicPeriod"/>
            </a:pPr>
            <a:r>
              <a:rPr lang="ko-KR" altLang="en-US" sz="900" b="1" dirty="0">
                <a:effectLst/>
              </a:rPr>
              <a:t>확장성</a:t>
            </a:r>
            <a:r>
              <a:rPr lang="en-US" altLang="ko-KR" sz="900" b="1" dirty="0">
                <a:effectLst/>
              </a:rPr>
              <a:t>:</a:t>
            </a:r>
            <a:r>
              <a:rPr lang="ko-KR" altLang="en-US" sz="900" dirty="0">
                <a:effectLst/>
              </a:rPr>
              <a:t> </a:t>
            </a:r>
            <a:r>
              <a:rPr lang="en" altLang="ko-KR" sz="900" dirty="0" err="1">
                <a:effectLst/>
              </a:rPr>
              <a:t>LangChain</a:t>
            </a:r>
            <a:r>
              <a:rPr lang="ko-KR" altLang="en-US" sz="900" dirty="0">
                <a:effectLst/>
              </a:rPr>
              <a:t>은 대규모 </a:t>
            </a:r>
            <a:r>
              <a:rPr lang="en" altLang="ko-KR" sz="900" dirty="0">
                <a:effectLst/>
              </a:rPr>
              <a:t>NLP </a:t>
            </a:r>
            <a:r>
              <a:rPr lang="ko-KR" altLang="en-US" sz="900" dirty="0">
                <a:effectLst/>
              </a:rPr>
              <a:t>작업을 처리하도록 설계되어 실제 세계 응용 프로그램에 적합합니다</a:t>
            </a:r>
            <a:r>
              <a:rPr lang="en-US" altLang="ko-KR" sz="900" dirty="0">
                <a:effectLst/>
              </a:rPr>
              <a:t>.</a:t>
            </a:r>
          </a:p>
          <a:p>
            <a:pPr rtl="0"/>
            <a:r>
              <a:rPr lang="en-US" altLang="ko-KR" sz="900" dirty="0">
                <a:effectLst/>
              </a:rPr>
              <a:t>**</a:t>
            </a:r>
            <a:r>
              <a:rPr lang="ko-KR" altLang="en-US" sz="900" dirty="0">
                <a:effectLst/>
              </a:rPr>
              <a:t>전반적으로 </a:t>
            </a:r>
            <a:r>
              <a:rPr lang="en" altLang="ko-KR" sz="900" dirty="0">
                <a:effectLst/>
              </a:rPr>
              <a:t>RAG</a:t>
            </a:r>
            <a:r>
              <a:rPr lang="ko-KR" altLang="en-US" sz="900" dirty="0">
                <a:effectLst/>
              </a:rPr>
              <a:t>는 검색 기반 및 생성 기반 접근 방식을 결합하여 텍스트 생성을 향상시키는 강력한 </a:t>
            </a:r>
            <a:r>
              <a:rPr lang="en" altLang="ko-KR" sz="900" dirty="0">
                <a:effectLst/>
              </a:rPr>
              <a:t>NLP </a:t>
            </a:r>
            <a:r>
              <a:rPr lang="ko-KR" altLang="en-US" sz="900" dirty="0">
                <a:effectLst/>
              </a:rPr>
              <a:t>기술입니다</a:t>
            </a:r>
            <a:r>
              <a:rPr lang="en-US" altLang="ko-KR" sz="900" dirty="0">
                <a:effectLst/>
              </a:rPr>
              <a:t>. </a:t>
            </a:r>
            <a:r>
              <a:rPr lang="ko-KR" altLang="en-US" sz="900" dirty="0">
                <a:effectLst/>
              </a:rPr>
              <a:t>모듈형 디자인</a:t>
            </a:r>
            <a:r>
              <a:rPr lang="en-US" altLang="ko-KR" sz="900" dirty="0">
                <a:effectLst/>
              </a:rPr>
              <a:t>, </a:t>
            </a:r>
            <a:r>
              <a:rPr lang="ko-KR" altLang="en-US" sz="900" dirty="0">
                <a:effectLst/>
              </a:rPr>
              <a:t>구성 관리 및 확장성을 갖춘 </a:t>
            </a:r>
            <a:r>
              <a:rPr lang="en" altLang="ko-KR" sz="900" dirty="0" err="1">
                <a:effectLst/>
              </a:rPr>
              <a:t>LangChain</a:t>
            </a:r>
            <a:r>
              <a:rPr lang="ko-KR" altLang="en-US" sz="900" dirty="0">
                <a:effectLst/>
              </a:rPr>
              <a:t>은 </a:t>
            </a:r>
            <a:r>
              <a:rPr lang="en" altLang="ko-KR" sz="900" dirty="0">
                <a:effectLst/>
              </a:rPr>
              <a:t>RAG </a:t>
            </a:r>
            <a:r>
              <a:rPr lang="ko-KR" altLang="en-US" sz="900" dirty="0">
                <a:effectLst/>
              </a:rPr>
              <a:t>모델을 구현하기 위한 탁월한 플랫폼입니다</a:t>
            </a:r>
          </a:p>
        </p:txBody>
      </p:sp>
    </p:spTree>
    <p:extLst>
      <p:ext uri="{BB962C8B-B14F-4D97-AF65-F5344CB8AC3E}">
        <p14:creationId xmlns:p14="http://schemas.microsoft.com/office/powerpoint/2010/main" val="36656214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40E823-D7CC-CB8D-3CCC-BFD3F6DBD5A3}"/>
              </a:ext>
            </a:extLst>
          </p:cNvPr>
          <p:cNvSpPr txBox="1"/>
          <p:nvPr/>
        </p:nvSpPr>
        <p:spPr>
          <a:xfrm>
            <a:off x="505946" y="526957"/>
            <a:ext cx="6094878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900" dirty="0"/>
              <a:t>RAG (Retrieval Augmented Generation)</a:t>
            </a:r>
            <a:r>
              <a:rPr lang="ko-KR" altLang="en-US" sz="900" dirty="0"/>
              <a:t>은 검색 기반 및 생성 기반 접근 방식을 결합하여 텍스트 생성의 품질과 관련성을 크게 향상시키는 강력한 </a:t>
            </a:r>
            <a:r>
              <a:rPr lang="en" altLang="ko-KR" sz="900" dirty="0"/>
              <a:t>NLP </a:t>
            </a:r>
            <a:r>
              <a:rPr lang="ko-KR" altLang="en-US" sz="900" dirty="0"/>
              <a:t>기술입니다</a:t>
            </a:r>
            <a:r>
              <a:rPr lang="en-US" altLang="ko-KR" sz="900" dirty="0"/>
              <a:t>. </a:t>
            </a:r>
            <a:r>
              <a:rPr lang="en" altLang="ko-KR" sz="900" dirty="0"/>
              <a:t>RAG</a:t>
            </a:r>
            <a:r>
              <a:rPr lang="ko-KR" altLang="en-US" sz="900" dirty="0" err="1"/>
              <a:t>를</a:t>
            </a:r>
            <a:r>
              <a:rPr lang="ko-KR" altLang="en-US" sz="900" dirty="0"/>
              <a:t> 사용하면 다양한 작업을 수행하고 다양한 유형의 텍스트 형식을 생성할 수 있습니다</a:t>
            </a:r>
            <a:r>
              <a:rPr lang="en-US" altLang="ko-KR" sz="900" dirty="0"/>
              <a:t>.</a:t>
            </a:r>
          </a:p>
          <a:p>
            <a:r>
              <a:rPr lang="en" altLang="ko-KR" sz="900" b="1" dirty="0"/>
              <a:t>RAG</a:t>
            </a:r>
            <a:r>
              <a:rPr lang="ko-KR" altLang="en-US" sz="900" b="1" dirty="0"/>
              <a:t>의 주요 기능</a:t>
            </a:r>
            <a:r>
              <a:rPr lang="en-US" altLang="ko-KR" sz="900" b="1" dirty="0"/>
              <a:t>:</a:t>
            </a:r>
            <a:endParaRPr lang="ko-KR" altLang="en-US" sz="900" dirty="0"/>
          </a:p>
          <a:p>
            <a:pPr>
              <a:buFont typeface="+mj-lt"/>
              <a:buAutoNum type="arabicPeriod"/>
            </a:pPr>
            <a:r>
              <a:rPr lang="ko-KR" altLang="en-US" sz="900" b="1" dirty="0"/>
              <a:t>보다 정확하고 사실적인 텍스트 생성</a:t>
            </a:r>
            <a:r>
              <a:rPr lang="en-US" altLang="ko-KR" sz="900" b="1" dirty="0"/>
              <a:t>:</a:t>
            </a:r>
            <a:r>
              <a:rPr lang="ko-KR" altLang="en-US" sz="900" dirty="0"/>
              <a:t> </a:t>
            </a:r>
            <a:r>
              <a:rPr lang="en" altLang="ko-KR" sz="900" dirty="0"/>
              <a:t>RAG</a:t>
            </a:r>
            <a:r>
              <a:rPr lang="ko-KR" altLang="en-US" sz="900" dirty="0"/>
              <a:t>는 검색된 정보를 기반으로 텍스트를 생성하기 때문에 더욱 정확하고 사실적인 텍스트를 생성할 수 있습니다</a:t>
            </a:r>
            <a:r>
              <a:rPr lang="en-US" altLang="ko-KR" sz="900" dirty="0"/>
              <a:t>. </a:t>
            </a:r>
            <a:r>
              <a:rPr lang="ko-KR" altLang="en-US" sz="900" dirty="0"/>
              <a:t>이는 질문 답변</a:t>
            </a:r>
            <a:r>
              <a:rPr lang="en-US" altLang="ko-KR" sz="900" dirty="0"/>
              <a:t>, </a:t>
            </a:r>
            <a:r>
              <a:rPr lang="ko-KR" altLang="en-US" sz="900" dirty="0"/>
              <a:t>요약</a:t>
            </a:r>
            <a:r>
              <a:rPr lang="en-US" altLang="ko-KR" sz="900" dirty="0"/>
              <a:t>, </a:t>
            </a:r>
            <a:r>
              <a:rPr lang="ko-KR" altLang="en-US" sz="900" dirty="0"/>
              <a:t>문서 작성과 같은 작업에 특히 유용합니다</a:t>
            </a:r>
            <a:r>
              <a:rPr lang="en-US" altLang="ko-KR" sz="9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900" b="1" dirty="0"/>
              <a:t>향상된 관련성</a:t>
            </a:r>
            <a:r>
              <a:rPr lang="en-US" altLang="ko-KR" sz="900" b="1" dirty="0"/>
              <a:t>:</a:t>
            </a:r>
            <a:r>
              <a:rPr lang="ko-KR" altLang="en-US" sz="900" dirty="0"/>
              <a:t> </a:t>
            </a:r>
            <a:r>
              <a:rPr lang="en" altLang="ko-KR" sz="900" dirty="0"/>
              <a:t>RAG</a:t>
            </a:r>
            <a:r>
              <a:rPr lang="ko-KR" altLang="en-US" sz="900" dirty="0"/>
              <a:t>는 검색된 정보를 통해 생성된 텍스트가 입력 쿼리 또는 컨텍스트와 관련성이 높도록 합니다</a:t>
            </a:r>
            <a:r>
              <a:rPr lang="en-US" altLang="ko-KR" sz="900" dirty="0"/>
              <a:t>. </a:t>
            </a:r>
            <a:r>
              <a:rPr lang="ko-KR" altLang="en-US" sz="900" dirty="0"/>
              <a:t>이는 사용자에게 더 유용하고 관련성이 높은 정보를 제공하는 데 도움이 됩니다</a:t>
            </a:r>
            <a:r>
              <a:rPr lang="en-US" altLang="ko-KR" sz="9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900" b="1" dirty="0"/>
              <a:t>창의적인 텍스트 형식 생성</a:t>
            </a:r>
            <a:r>
              <a:rPr lang="en-US" altLang="ko-KR" sz="900" b="1" dirty="0"/>
              <a:t>:</a:t>
            </a:r>
            <a:r>
              <a:rPr lang="ko-KR" altLang="en-US" sz="900" dirty="0"/>
              <a:t> </a:t>
            </a:r>
            <a:r>
              <a:rPr lang="en" altLang="ko-KR" sz="900" dirty="0"/>
              <a:t>RAG</a:t>
            </a:r>
            <a:r>
              <a:rPr lang="ko-KR" altLang="en-US" sz="900" dirty="0" err="1"/>
              <a:t>를</a:t>
            </a:r>
            <a:r>
              <a:rPr lang="ko-KR" altLang="en-US" sz="900" dirty="0"/>
              <a:t> 사용하여 시</a:t>
            </a:r>
            <a:r>
              <a:rPr lang="en-US" altLang="ko-KR" sz="900" dirty="0"/>
              <a:t>, </a:t>
            </a:r>
            <a:r>
              <a:rPr lang="ko-KR" altLang="en-US" sz="900" dirty="0"/>
              <a:t>코드</a:t>
            </a:r>
            <a:r>
              <a:rPr lang="en-US" altLang="ko-KR" sz="900" dirty="0"/>
              <a:t>, </a:t>
            </a:r>
            <a:r>
              <a:rPr lang="ko-KR" altLang="en-US" sz="900" dirty="0"/>
              <a:t>대본</a:t>
            </a:r>
            <a:r>
              <a:rPr lang="en-US" altLang="ko-KR" sz="900" dirty="0"/>
              <a:t>, </a:t>
            </a:r>
            <a:r>
              <a:rPr lang="ko-KR" altLang="en-US" sz="900" dirty="0"/>
              <a:t>음악 작품</a:t>
            </a:r>
            <a:r>
              <a:rPr lang="en-US" altLang="ko-KR" sz="900" dirty="0"/>
              <a:t>, </a:t>
            </a:r>
            <a:r>
              <a:rPr lang="ko-KR" altLang="en-US" sz="900" dirty="0"/>
              <a:t>이메일</a:t>
            </a:r>
            <a:r>
              <a:rPr lang="en-US" altLang="ko-KR" sz="900" dirty="0"/>
              <a:t>, </a:t>
            </a:r>
            <a:r>
              <a:rPr lang="ko-KR" altLang="en-US" sz="900" dirty="0"/>
              <a:t>편지와 같은 다양한 창의적인 텍스트 형식을 생성할 수 있습니다</a:t>
            </a:r>
            <a:r>
              <a:rPr lang="en-US" altLang="ko-KR" sz="900" dirty="0"/>
              <a:t>. </a:t>
            </a:r>
            <a:r>
              <a:rPr lang="ko-KR" altLang="en-US" sz="900" dirty="0"/>
              <a:t>이는 창의적인 작문</a:t>
            </a:r>
            <a:r>
              <a:rPr lang="en-US" altLang="ko-KR" sz="900" dirty="0"/>
              <a:t>, </a:t>
            </a:r>
            <a:r>
              <a:rPr lang="ko-KR" altLang="en-US" sz="900" dirty="0"/>
              <a:t>콘텐츠 생성 및 엔터테인먼트와 같은 작업에 활용될 수 있습니다</a:t>
            </a:r>
            <a:r>
              <a:rPr lang="en-US" altLang="ko-KR" sz="9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900" b="1" dirty="0"/>
              <a:t>일관성 있고 유창한 텍스트 생성</a:t>
            </a:r>
            <a:r>
              <a:rPr lang="en-US" altLang="ko-KR" sz="900" b="1" dirty="0"/>
              <a:t>:</a:t>
            </a:r>
            <a:r>
              <a:rPr lang="ko-KR" altLang="en-US" sz="900" dirty="0"/>
              <a:t> </a:t>
            </a:r>
            <a:r>
              <a:rPr lang="en" altLang="ko-KR" sz="900" dirty="0"/>
              <a:t>RAG</a:t>
            </a:r>
            <a:r>
              <a:rPr lang="ko-KR" altLang="en-US" sz="900" dirty="0"/>
              <a:t>는 검색된 정보와 생성된 텍스트의 컨텍스트를 모두 고려하여 일관되고 유창한 텍스트를 생성합니다</a:t>
            </a:r>
            <a:r>
              <a:rPr lang="en-US" altLang="ko-KR" sz="900" dirty="0"/>
              <a:t>. </a:t>
            </a:r>
            <a:r>
              <a:rPr lang="ko-KR" altLang="en-US" sz="900" dirty="0"/>
              <a:t>이는 더욱 자연스럽고 읽기 쉬운 텍스트를 생성하는 데 도움이 됩니다</a:t>
            </a:r>
            <a:r>
              <a:rPr lang="en-US" altLang="ko-KR" sz="900" dirty="0"/>
              <a:t>.</a:t>
            </a:r>
          </a:p>
          <a:p>
            <a:r>
              <a:rPr lang="en" altLang="ko-KR" sz="900" b="1" dirty="0"/>
              <a:t>RAG</a:t>
            </a:r>
            <a:r>
              <a:rPr lang="ko-KR" altLang="en-US" sz="900" b="1" dirty="0" err="1"/>
              <a:t>를</a:t>
            </a:r>
            <a:r>
              <a:rPr lang="ko-KR" altLang="en-US" sz="900" b="1" dirty="0"/>
              <a:t> 사용하여 가능한 몇 가지 구체적인 예</a:t>
            </a:r>
            <a:r>
              <a:rPr lang="en-US" altLang="ko-KR" sz="900" b="1" dirty="0"/>
              <a:t>:</a:t>
            </a:r>
            <a:endParaRPr lang="ko-KR" altLang="en-US" sz="9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900" b="1" dirty="0"/>
              <a:t>질문 답변</a:t>
            </a:r>
            <a:r>
              <a:rPr lang="en-US" altLang="ko-KR" sz="900" b="1" dirty="0"/>
              <a:t>:</a:t>
            </a:r>
            <a:r>
              <a:rPr lang="ko-KR" altLang="en-US" sz="900" dirty="0"/>
              <a:t> </a:t>
            </a:r>
            <a:r>
              <a:rPr lang="en" altLang="ko-KR" sz="900" dirty="0"/>
              <a:t>RAG</a:t>
            </a:r>
            <a:r>
              <a:rPr lang="ko-KR" altLang="en-US" sz="900" dirty="0" err="1"/>
              <a:t>를</a:t>
            </a:r>
            <a:r>
              <a:rPr lang="ko-KR" altLang="en-US" sz="900" dirty="0"/>
              <a:t> 사용하여 개방형</a:t>
            </a:r>
            <a:r>
              <a:rPr lang="en-US" altLang="ko-KR" sz="900" dirty="0"/>
              <a:t>, </a:t>
            </a:r>
            <a:r>
              <a:rPr lang="ko-KR" altLang="en-US" sz="900" dirty="0"/>
              <a:t>복잡하거나 도전적인 질문에 대한 포괄적이고 유익한 답변을 생성할 수 있습니다</a:t>
            </a:r>
            <a:r>
              <a:rPr lang="en-US" altLang="ko-KR" sz="900" dirty="0"/>
              <a:t>. </a:t>
            </a:r>
            <a:r>
              <a:rPr lang="ko-KR" altLang="en-US" sz="900" dirty="0"/>
              <a:t>예를 들어 </a:t>
            </a:r>
            <a:r>
              <a:rPr lang="en-US" altLang="ko-KR" sz="900" dirty="0"/>
              <a:t>"</a:t>
            </a:r>
            <a:r>
              <a:rPr lang="ko-KR" altLang="en-US" sz="900" dirty="0"/>
              <a:t>인공 지능의 미래는 </a:t>
            </a:r>
            <a:r>
              <a:rPr lang="ko-KR" altLang="en-US" sz="900" dirty="0" err="1"/>
              <a:t>어떠한가</a:t>
            </a:r>
            <a:r>
              <a:rPr lang="en-US" altLang="ko-KR" sz="900" dirty="0"/>
              <a:t>?" </a:t>
            </a:r>
            <a:r>
              <a:rPr lang="ko-KR" altLang="en-US" sz="900" dirty="0"/>
              <a:t>또는 </a:t>
            </a:r>
            <a:r>
              <a:rPr lang="en-US" altLang="ko-KR" sz="900" dirty="0"/>
              <a:t>"</a:t>
            </a:r>
            <a:r>
              <a:rPr lang="ko-KR" altLang="en-US" sz="900" dirty="0"/>
              <a:t>프랑스 혁명의 주요 원인은 무엇인가</a:t>
            </a:r>
            <a:r>
              <a:rPr lang="en-US" altLang="ko-KR" sz="900" dirty="0"/>
              <a:t>?"</a:t>
            </a:r>
            <a:r>
              <a:rPr lang="ko-KR" altLang="en-US" sz="900" dirty="0"/>
              <a:t>와 같은 질문에 답변할 수 있습니다</a:t>
            </a:r>
            <a:r>
              <a:rPr lang="en-US" altLang="ko-KR" sz="9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900" b="1" dirty="0"/>
              <a:t>요약</a:t>
            </a:r>
            <a:r>
              <a:rPr lang="en-US" altLang="ko-KR" sz="900" b="1" dirty="0"/>
              <a:t>:</a:t>
            </a:r>
            <a:r>
              <a:rPr lang="ko-KR" altLang="en-US" sz="900" dirty="0"/>
              <a:t> </a:t>
            </a:r>
            <a:r>
              <a:rPr lang="en" altLang="ko-KR" sz="900" dirty="0"/>
              <a:t>RAG</a:t>
            </a:r>
            <a:r>
              <a:rPr lang="ko-KR" altLang="en-US" sz="900" dirty="0" err="1"/>
              <a:t>를</a:t>
            </a:r>
            <a:r>
              <a:rPr lang="ko-KR" altLang="en-US" sz="900" dirty="0"/>
              <a:t> 사용하여 길이가 긴 문서 또는 구절의 간결하고 유익한 요약을 생성할 수 있습니다</a:t>
            </a:r>
            <a:r>
              <a:rPr lang="en-US" altLang="ko-KR" sz="900" dirty="0"/>
              <a:t>. </a:t>
            </a:r>
            <a:r>
              <a:rPr lang="ko-KR" altLang="en-US" sz="900" dirty="0"/>
              <a:t>예를 들어</a:t>
            </a:r>
            <a:r>
              <a:rPr lang="en-US" altLang="ko-KR" sz="900" dirty="0"/>
              <a:t>, </a:t>
            </a:r>
            <a:r>
              <a:rPr lang="ko-KR" altLang="en-US" sz="900" dirty="0"/>
              <a:t>뉴스 기사</a:t>
            </a:r>
            <a:r>
              <a:rPr lang="en-US" altLang="ko-KR" sz="900" dirty="0"/>
              <a:t>, </a:t>
            </a:r>
            <a:r>
              <a:rPr lang="ko-KR" altLang="en-US" sz="900" dirty="0"/>
              <a:t>연구 논문 또는 책 장을 요약하는 데 사용할 수 있습니다</a:t>
            </a:r>
            <a:r>
              <a:rPr lang="en-US" altLang="ko-KR" sz="9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900" b="1" dirty="0"/>
              <a:t>문서 작성</a:t>
            </a:r>
            <a:r>
              <a:rPr lang="en-US" altLang="ko-KR" sz="900" b="1" dirty="0"/>
              <a:t>:</a:t>
            </a:r>
            <a:r>
              <a:rPr lang="ko-KR" altLang="en-US" sz="900" dirty="0"/>
              <a:t> </a:t>
            </a:r>
            <a:r>
              <a:rPr lang="en" altLang="ko-KR" sz="900" dirty="0"/>
              <a:t>RAG</a:t>
            </a:r>
            <a:r>
              <a:rPr lang="ko-KR" altLang="en-US" sz="900" dirty="0" err="1"/>
              <a:t>를</a:t>
            </a:r>
            <a:r>
              <a:rPr lang="ko-KR" altLang="en-US" sz="900" dirty="0"/>
              <a:t> 사용하여 보고서</a:t>
            </a:r>
            <a:r>
              <a:rPr lang="en-US" altLang="ko-KR" sz="900" dirty="0"/>
              <a:t>, </a:t>
            </a:r>
            <a:r>
              <a:rPr lang="ko-KR" altLang="en-US" sz="900" dirty="0"/>
              <a:t>이메일</a:t>
            </a:r>
            <a:r>
              <a:rPr lang="en-US" altLang="ko-KR" sz="900" dirty="0"/>
              <a:t>, </a:t>
            </a:r>
            <a:r>
              <a:rPr lang="ko-KR" altLang="en-US" sz="900" dirty="0"/>
              <a:t>편지와 같은 다양한 유형의 문서를 작성할 수 있습니다</a:t>
            </a:r>
            <a:r>
              <a:rPr lang="en-US" altLang="ko-KR" sz="900" dirty="0"/>
              <a:t>. </a:t>
            </a:r>
            <a:r>
              <a:rPr lang="ko-KR" altLang="en-US" sz="900" dirty="0"/>
              <a:t>검색된 정보를 사용하여 사실적이고 관련성이 높은 문서를 생성할 수 있습니다</a:t>
            </a:r>
            <a:r>
              <a:rPr lang="en-US" altLang="ko-KR" sz="9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900" b="1" dirty="0"/>
              <a:t>창의적인 작문</a:t>
            </a:r>
            <a:r>
              <a:rPr lang="en-US" altLang="ko-KR" sz="900" b="1" dirty="0"/>
              <a:t>:</a:t>
            </a:r>
            <a:r>
              <a:rPr lang="ko-KR" altLang="en-US" sz="900" dirty="0"/>
              <a:t> </a:t>
            </a:r>
            <a:r>
              <a:rPr lang="en" altLang="ko-KR" sz="900" dirty="0"/>
              <a:t>RAG</a:t>
            </a:r>
            <a:r>
              <a:rPr lang="ko-KR" altLang="en-US" sz="900" dirty="0" err="1"/>
              <a:t>를</a:t>
            </a:r>
            <a:r>
              <a:rPr lang="ko-KR" altLang="en-US" sz="900" dirty="0"/>
              <a:t> 사용하여 시</a:t>
            </a:r>
            <a:r>
              <a:rPr lang="en-US" altLang="ko-KR" sz="900" dirty="0"/>
              <a:t>, </a:t>
            </a:r>
            <a:r>
              <a:rPr lang="ko-KR" altLang="en-US" sz="900" dirty="0"/>
              <a:t>코드</a:t>
            </a:r>
            <a:r>
              <a:rPr lang="en-US" altLang="ko-KR" sz="900" dirty="0"/>
              <a:t>, </a:t>
            </a:r>
            <a:r>
              <a:rPr lang="ko-KR" altLang="en-US" sz="900" dirty="0"/>
              <a:t>대본</a:t>
            </a:r>
            <a:r>
              <a:rPr lang="en-US" altLang="ko-KR" sz="900" dirty="0"/>
              <a:t>, </a:t>
            </a:r>
            <a:r>
              <a:rPr lang="ko-KR" altLang="en-US" sz="900" dirty="0"/>
              <a:t>음악 작품</a:t>
            </a:r>
            <a:r>
              <a:rPr lang="en-US" altLang="ko-KR" sz="900" dirty="0"/>
              <a:t>, </a:t>
            </a:r>
            <a:r>
              <a:rPr lang="ko-KR" altLang="en-US" sz="900" dirty="0"/>
              <a:t>이야기와 같은 창의적인 텍스트 형식을 생성할 수 있습니다</a:t>
            </a:r>
            <a:r>
              <a:rPr lang="en-US" altLang="ko-KR" sz="900" dirty="0"/>
              <a:t>. </a:t>
            </a:r>
            <a:r>
              <a:rPr lang="ko-KR" altLang="en-US" sz="900" dirty="0"/>
              <a:t>텍스트 생성 프로세스에 대한 창의적인 제약 조건을 추가하여 결과를 더욱 조정할 수 있습니다</a:t>
            </a:r>
            <a:r>
              <a:rPr lang="en-US" altLang="ko-KR" sz="9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900" b="1" dirty="0"/>
              <a:t>콘텐츠 생성</a:t>
            </a:r>
            <a:r>
              <a:rPr lang="en-US" altLang="ko-KR" sz="900" b="1" dirty="0"/>
              <a:t>:</a:t>
            </a:r>
            <a:r>
              <a:rPr lang="ko-KR" altLang="en-US" sz="900" dirty="0"/>
              <a:t> </a:t>
            </a:r>
            <a:r>
              <a:rPr lang="en" altLang="ko-KR" sz="900" dirty="0"/>
              <a:t>RAG</a:t>
            </a:r>
            <a:r>
              <a:rPr lang="ko-KR" altLang="en-US" sz="900" dirty="0" err="1"/>
              <a:t>를</a:t>
            </a:r>
            <a:r>
              <a:rPr lang="ko-KR" altLang="en-US" sz="900" dirty="0"/>
              <a:t> 사용하여 웹사이트</a:t>
            </a:r>
            <a:r>
              <a:rPr lang="en-US" altLang="ko-KR" sz="900" dirty="0"/>
              <a:t>, </a:t>
            </a:r>
            <a:r>
              <a:rPr lang="ko-KR" altLang="en-US" sz="900" dirty="0"/>
              <a:t>소셜 미디어 게시물</a:t>
            </a:r>
            <a:r>
              <a:rPr lang="en-US" altLang="ko-KR" sz="900" dirty="0"/>
              <a:t>, </a:t>
            </a:r>
            <a:r>
              <a:rPr lang="ko-KR" altLang="en-US" sz="900" dirty="0"/>
              <a:t>광고와 같은 다양한 유형의 콘텐츠를 생성할 수 있습니다</a:t>
            </a:r>
            <a:r>
              <a:rPr lang="en-US" altLang="ko-KR" sz="900" dirty="0"/>
              <a:t>. </a:t>
            </a:r>
            <a:r>
              <a:rPr lang="ko-KR" altLang="en-US" sz="900" dirty="0"/>
              <a:t>검색된 정보를 사용하여 관련성이 높고 매력적인 콘텐츠를 생성할 수 있습니다</a:t>
            </a:r>
            <a:r>
              <a:rPr lang="en-US" altLang="ko-KR" sz="9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900" b="1" dirty="0"/>
              <a:t>엔터테인먼트</a:t>
            </a:r>
            <a:r>
              <a:rPr lang="en-US" altLang="ko-KR" sz="900" b="1" dirty="0"/>
              <a:t>:</a:t>
            </a:r>
            <a:r>
              <a:rPr lang="ko-KR" altLang="en-US" sz="900" dirty="0"/>
              <a:t> </a:t>
            </a:r>
            <a:r>
              <a:rPr lang="en" altLang="ko-KR" sz="900" dirty="0"/>
              <a:t>RAG</a:t>
            </a:r>
            <a:r>
              <a:rPr lang="ko-KR" altLang="en-US" sz="900" dirty="0" err="1"/>
              <a:t>를</a:t>
            </a:r>
            <a:r>
              <a:rPr lang="ko-KR" altLang="en-US" sz="900" dirty="0"/>
              <a:t> 사용하여 게임 대본</a:t>
            </a:r>
            <a:r>
              <a:rPr lang="en-US" altLang="ko-KR" sz="900" dirty="0"/>
              <a:t>, </a:t>
            </a:r>
            <a:r>
              <a:rPr lang="ko-KR" altLang="en-US" sz="900" dirty="0"/>
              <a:t>농담</a:t>
            </a:r>
            <a:r>
              <a:rPr lang="en-US" altLang="ko-KR" sz="900" dirty="0"/>
              <a:t>, </a:t>
            </a:r>
            <a:r>
              <a:rPr lang="ko-KR" altLang="en-US" sz="900" dirty="0"/>
              <a:t>이야기와 같은 다양한 유형의 엔터테인먼트 콘텐츠를 생성할 수 있습니다</a:t>
            </a:r>
            <a:r>
              <a:rPr lang="en-US" altLang="ko-KR" sz="900" dirty="0"/>
              <a:t>. </a:t>
            </a:r>
            <a:r>
              <a:rPr lang="ko-KR" altLang="en-US" sz="900" dirty="0"/>
              <a:t>창의적인 제약 조건을 추가하여 결과를 더욱 재미있게 만들 수 있습니다</a:t>
            </a:r>
            <a:r>
              <a:rPr lang="en-US" altLang="ko-KR" sz="900" dirty="0"/>
              <a:t>.</a:t>
            </a:r>
          </a:p>
          <a:p>
            <a:r>
              <a:rPr lang="en" altLang="ko-KR" sz="900" b="1" dirty="0"/>
              <a:t>RAG</a:t>
            </a:r>
            <a:r>
              <a:rPr lang="ko-KR" altLang="en-US" sz="900" b="1" dirty="0"/>
              <a:t>는 아직 개발 중이지만 텍스트 생성 분야에서 잠재력이 매우 높은 기술입니다</a:t>
            </a:r>
            <a:r>
              <a:rPr lang="en-US" altLang="ko-KR" sz="900" b="1" dirty="0"/>
              <a:t>. </a:t>
            </a:r>
            <a:r>
              <a:rPr lang="ko-KR" altLang="en-US" sz="900" b="1" dirty="0"/>
              <a:t>앞으로 더욱 발전함에 따라 다양한 분야에서 더욱 혁신적인 응용 프로그램이 나타날 것으로 기대됩니다</a:t>
            </a:r>
            <a:r>
              <a:rPr lang="en-US" altLang="ko-KR" sz="900" b="1" dirty="0"/>
              <a:t>.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27807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5674047B-3DF2-6233-C83E-EC938FB34C8E}"/>
              </a:ext>
            </a:extLst>
          </p:cNvPr>
          <p:cNvSpPr/>
          <p:nvPr/>
        </p:nvSpPr>
        <p:spPr>
          <a:xfrm>
            <a:off x="6172201" y="505435"/>
            <a:ext cx="5199539" cy="5472801"/>
          </a:xfrm>
          <a:prstGeom prst="roundRect">
            <a:avLst>
              <a:gd name="adj" fmla="val 3589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0C4C32B3-371E-1D27-CFDF-317B0ABDD90A}"/>
              </a:ext>
            </a:extLst>
          </p:cNvPr>
          <p:cNvSpPr/>
          <p:nvPr/>
        </p:nvSpPr>
        <p:spPr>
          <a:xfrm>
            <a:off x="847969" y="505435"/>
            <a:ext cx="5137195" cy="5472801"/>
          </a:xfrm>
          <a:prstGeom prst="roundRect">
            <a:avLst>
              <a:gd name="adj" fmla="val 3589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C475982E-8372-6FE3-531D-546C6DCD548E}"/>
              </a:ext>
            </a:extLst>
          </p:cNvPr>
          <p:cNvSpPr/>
          <p:nvPr/>
        </p:nvSpPr>
        <p:spPr>
          <a:xfrm>
            <a:off x="1035006" y="770211"/>
            <a:ext cx="2253704" cy="59950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CMS </a:t>
            </a:r>
            <a:r>
              <a:rPr kumimoji="1" lang="ko-KR" altLang="en-US" dirty="0"/>
              <a:t>대시보드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9C43667E-564C-40DE-6280-76E0C7E56B0D}"/>
              </a:ext>
            </a:extLst>
          </p:cNvPr>
          <p:cNvSpPr/>
          <p:nvPr/>
        </p:nvSpPr>
        <p:spPr>
          <a:xfrm>
            <a:off x="1035006" y="1511429"/>
            <a:ext cx="2253704" cy="59950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계정관리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8BA2330F-1CEE-2549-D6DD-7F940A497BBD}"/>
              </a:ext>
            </a:extLst>
          </p:cNvPr>
          <p:cNvSpPr/>
          <p:nvPr/>
        </p:nvSpPr>
        <p:spPr>
          <a:xfrm>
            <a:off x="1035006" y="2252647"/>
            <a:ext cx="2253704" cy="59950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메뉴관리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C8E229B5-A67F-EAFF-DAB6-548FA387EE86}"/>
              </a:ext>
            </a:extLst>
          </p:cNvPr>
          <p:cNvSpPr/>
          <p:nvPr/>
        </p:nvSpPr>
        <p:spPr>
          <a:xfrm>
            <a:off x="1035006" y="2974966"/>
            <a:ext cx="2253704" cy="59950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권한관리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398EC463-8177-EEDD-C1CF-9BCAA2A55DEA}"/>
              </a:ext>
            </a:extLst>
          </p:cNvPr>
          <p:cNvSpPr/>
          <p:nvPr/>
        </p:nvSpPr>
        <p:spPr>
          <a:xfrm>
            <a:off x="1035006" y="3697285"/>
            <a:ext cx="2253704" cy="59950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게시판관리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475187E2-4F38-368C-0AF9-ECAC705E870B}"/>
              </a:ext>
            </a:extLst>
          </p:cNvPr>
          <p:cNvSpPr/>
          <p:nvPr/>
        </p:nvSpPr>
        <p:spPr>
          <a:xfrm>
            <a:off x="1035006" y="4419604"/>
            <a:ext cx="2253704" cy="59950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배너관리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BD393687-7C76-F4B3-5343-5F26C94288DE}"/>
              </a:ext>
            </a:extLst>
          </p:cNvPr>
          <p:cNvSpPr/>
          <p:nvPr/>
        </p:nvSpPr>
        <p:spPr>
          <a:xfrm>
            <a:off x="6400801" y="770210"/>
            <a:ext cx="2073298" cy="599507"/>
          </a:xfrm>
          <a:prstGeom prst="roundRect">
            <a:avLst>
              <a:gd name="adj" fmla="val 433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호스트관리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8C4A86D8-3233-8C80-875C-ECCB547FDED7}"/>
              </a:ext>
            </a:extLst>
          </p:cNvPr>
          <p:cNvSpPr/>
          <p:nvPr/>
        </p:nvSpPr>
        <p:spPr>
          <a:xfrm>
            <a:off x="1035006" y="5141923"/>
            <a:ext cx="2253704" cy="59950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이벤트관리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9946EE26-EB3E-0155-84A0-8F940CA9448B}"/>
              </a:ext>
            </a:extLst>
          </p:cNvPr>
          <p:cNvSpPr/>
          <p:nvPr/>
        </p:nvSpPr>
        <p:spPr>
          <a:xfrm>
            <a:off x="6400801" y="1547349"/>
            <a:ext cx="2073298" cy="599507"/>
          </a:xfrm>
          <a:prstGeom prst="roundRect">
            <a:avLst>
              <a:gd name="adj" fmla="val 433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AI </a:t>
            </a:r>
            <a:r>
              <a:rPr kumimoji="1" lang="ko-KR" altLang="en-US" dirty="0"/>
              <a:t>어시스턴트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1245E098-CA83-CF7B-CD7A-083C02EB1D1E}"/>
              </a:ext>
            </a:extLst>
          </p:cNvPr>
          <p:cNvSpPr/>
          <p:nvPr/>
        </p:nvSpPr>
        <p:spPr>
          <a:xfrm>
            <a:off x="6400801" y="2299603"/>
            <a:ext cx="2073298" cy="599507"/>
          </a:xfrm>
          <a:prstGeom prst="roundRect">
            <a:avLst>
              <a:gd name="adj" fmla="val 545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/>
              <a:t>AI Fine tune </a:t>
            </a:r>
            <a:r>
              <a:rPr kumimoji="1" lang="ko-KR" altLang="en-US" sz="1200" dirty="0"/>
              <a:t>데이터생성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CC3C3BFF-0F14-AA53-8569-6FCC490CEA08}"/>
              </a:ext>
            </a:extLst>
          </p:cNvPr>
          <p:cNvSpPr/>
          <p:nvPr/>
        </p:nvSpPr>
        <p:spPr>
          <a:xfrm>
            <a:off x="3532863" y="770210"/>
            <a:ext cx="2253704" cy="59950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사이트통계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ECE310EE-AE3C-07D5-3A12-9172A083F6D9}"/>
              </a:ext>
            </a:extLst>
          </p:cNvPr>
          <p:cNvSpPr/>
          <p:nvPr/>
        </p:nvSpPr>
        <p:spPr>
          <a:xfrm>
            <a:off x="3532863" y="1547349"/>
            <a:ext cx="2253704" cy="59950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/>
              <a:t>모바일관련설정관리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3862D7B1-5726-6EEB-4B64-CFB16B90BCB0}"/>
              </a:ext>
            </a:extLst>
          </p:cNvPr>
          <p:cNvSpPr/>
          <p:nvPr/>
        </p:nvSpPr>
        <p:spPr>
          <a:xfrm>
            <a:off x="3532863" y="2252647"/>
            <a:ext cx="2253704" cy="59950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 err="1"/>
              <a:t>전자정부프레임웍관리</a:t>
            </a:r>
            <a:endParaRPr kumimoji="1" lang="ko-KR" altLang="en-US" sz="1200" dirty="0"/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E0937886-4FE8-23B6-5FD2-70940DED2D9B}"/>
              </a:ext>
            </a:extLst>
          </p:cNvPr>
          <p:cNvSpPr/>
          <p:nvPr/>
        </p:nvSpPr>
        <p:spPr>
          <a:xfrm>
            <a:off x="3532863" y="2974965"/>
            <a:ext cx="2253704" cy="59950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/>
              <a:t>로그관리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141538B0-1657-F30B-F1ED-657BD408AF58}"/>
              </a:ext>
            </a:extLst>
          </p:cNvPr>
          <p:cNvSpPr/>
          <p:nvPr/>
        </p:nvSpPr>
        <p:spPr>
          <a:xfrm>
            <a:off x="6400800" y="3080161"/>
            <a:ext cx="2073298" cy="599507"/>
          </a:xfrm>
          <a:prstGeom prst="roundRect">
            <a:avLst>
              <a:gd name="adj" fmla="val 657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/>
              <a:t>시스템 모니터링</a:t>
            </a: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BE61EA1A-3F20-C88A-3FFC-E4125B0F41B0}"/>
              </a:ext>
            </a:extLst>
          </p:cNvPr>
          <p:cNvSpPr/>
          <p:nvPr/>
        </p:nvSpPr>
        <p:spPr>
          <a:xfrm>
            <a:off x="6400800" y="3857300"/>
            <a:ext cx="2073298" cy="599507"/>
          </a:xfrm>
          <a:prstGeom prst="roundRect">
            <a:avLst>
              <a:gd name="adj" fmla="val 526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/>
              <a:t>Log </a:t>
            </a:r>
            <a:r>
              <a:rPr kumimoji="1" lang="ko-KR" altLang="en-US" sz="1200" dirty="0"/>
              <a:t>수집</a:t>
            </a:r>
            <a:endParaRPr kumimoji="1" lang="en-US" altLang="ko-KR" sz="1200" dirty="0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0EF0F2A8-5ED3-5D46-A3F2-B4E30D25A911}"/>
              </a:ext>
            </a:extLst>
          </p:cNvPr>
          <p:cNvSpPr/>
          <p:nvPr/>
        </p:nvSpPr>
        <p:spPr>
          <a:xfrm>
            <a:off x="6400800" y="4634439"/>
            <a:ext cx="2073298" cy="599507"/>
          </a:xfrm>
          <a:prstGeom prst="roundRect">
            <a:avLst>
              <a:gd name="adj" fmla="val 526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/>
              <a:t>JMX </a:t>
            </a:r>
            <a:r>
              <a:rPr kumimoji="1" lang="ko-KR" altLang="en-US" sz="1200" dirty="0"/>
              <a:t>통신</a:t>
            </a:r>
            <a:endParaRPr kumimoji="1" lang="en-US" altLang="ko-KR" sz="1200" dirty="0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D921B10B-FE35-4360-D6ED-BCED4D884A4D}"/>
              </a:ext>
            </a:extLst>
          </p:cNvPr>
          <p:cNvSpPr/>
          <p:nvPr/>
        </p:nvSpPr>
        <p:spPr>
          <a:xfrm>
            <a:off x="8661136" y="779800"/>
            <a:ext cx="2073298" cy="599507"/>
          </a:xfrm>
          <a:prstGeom prst="roundRect">
            <a:avLst>
              <a:gd name="adj" fmla="val 526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/>
              <a:t>SSH </a:t>
            </a:r>
            <a:r>
              <a:rPr kumimoji="1" lang="ko-KR" altLang="en-US" sz="1200" dirty="0"/>
              <a:t>통신</a:t>
            </a:r>
            <a:endParaRPr kumimoji="1" lang="en-US" altLang="ko-KR" sz="1200" dirty="0"/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1D9CA7BC-7113-B3A5-E99C-8D82CCF26F66}"/>
              </a:ext>
            </a:extLst>
          </p:cNvPr>
          <p:cNvSpPr/>
          <p:nvPr/>
        </p:nvSpPr>
        <p:spPr>
          <a:xfrm>
            <a:off x="8661136" y="1547349"/>
            <a:ext cx="2073298" cy="599507"/>
          </a:xfrm>
          <a:prstGeom prst="roundRect">
            <a:avLst>
              <a:gd name="adj" fmla="val 526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/>
              <a:t>API </a:t>
            </a:r>
            <a:r>
              <a:rPr kumimoji="1" lang="ko-KR" altLang="en-US" sz="1200" dirty="0" err="1"/>
              <a:t>생성기</a:t>
            </a:r>
            <a:endParaRPr kumimoji="1" lang="en-US" altLang="ko-KR" sz="1200" dirty="0"/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10B5C5D8-7E10-1023-A60D-AFC5F6177B4B}"/>
              </a:ext>
            </a:extLst>
          </p:cNvPr>
          <p:cNvSpPr/>
          <p:nvPr/>
        </p:nvSpPr>
        <p:spPr>
          <a:xfrm>
            <a:off x="8661136" y="2299603"/>
            <a:ext cx="2073298" cy="599507"/>
          </a:xfrm>
          <a:prstGeom prst="roundRect">
            <a:avLst>
              <a:gd name="adj" fmla="val 526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1200" b="1" i="0" u="none" strike="noStrike" dirty="0">
                <a:solidFill>
                  <a:srgbClr val="F1F1F1"/>
                </a:solidFill>
                <a:effectLst/>
                <a:latin typeface="Roboto" panose="020F0502020204030204" pitchFamily="34" charset="0"/>
              </a:rPr>
              <a:t>Retrieval-Augmented Generation (RAG) </a:t>
            </a:r>
          </a:p>
        </p:txBody>
      </p:sp>
    </p:spTree>
    <p:extLst>
      <p:ext uri="{BB962C8B-B14F-4D97-AF65-F5344CB8AC3E}">
        <p14:creationId xmlns:p14="http://schemas.microsoft.com/office/powerpoint/2010/main" val="2850145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BECFC41-3F26-4E78-C9BC-EF88CB660757}"/>
              </a:ext>
            </a:extLst>
          </p:cNvPr>
          <p:cNvSpPr txBox="1"/>
          <p:nvPr/>
        </p:nvSpPr>
        <p:spPr>
          <a:xfrm>
            <a:off x="635374" y="64232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altLang="ko-KR" b="1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Roboto" panose="02000000000000000000" pitchFamily="2" charset="0"/>
              </a:rPr>
              <a:t>Retrieval-Augmented Generation (RAG)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F79760-E305-320F-6192-F0C5FE642145}"/>
              </a:ext>
            </a:extLst>
          </p:cNvPr>
          <p:cNvSpPr txBox="1"/>
          <p:nvPr/>
        </p:nvSpPr>
        <p:spPr>
          <a:xfrm>
            <a:off x="635375" y="3535628"/>
            <a:ext cx="10942544" cy="2830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ko-KR" altLang="en-US" sz="1200" b="1" dirty="0">
                <a:effectLst/>
              </a:rPr>
              <a:t>검색 기반 접근 방식</a:t>
            </a:r>
            <a:r>
              <a:rPr lang="en-US" altLang="ko-KR" sz="1200" b="1" dirty="0">
                <a:effectLst/>
              </a:rPr>
              <a:t>:</a:t>
            </a:r>
            <a:endParaRPr lang="ko-KR" altLang="en-US" sz="1200" dirty="0">
              <a:effectLst/>
            </a:endParaRPr>
          </a:p>
          <a:p>
            <a:pPr rtl="0"/>
            <a:r>
              <a:rPr lang="ko-KR" altLang="en-US" sz="1200">
                <a:effectLst/>
              </a:rPr>
              <a:t>   문서</a:t>
            </a:r>
            <a:r>
              <a:rPr lang="en-US" altLang="ko-KR" sz="1200" dirty="0">
                <a:effectLst/>
              </a:rPr>
              <a:t>, </a:t>
            </a:r>
            <a:r>
              <a:rPr lang="ko-KR" altLang="en-US" sz="1200" dirty="0">
                <a:effectLst/>
              </a:rPr>
              <a:t>웹 페이지 또는 지식 기반과 같은 외부 소스에서 관련 정보를 검색합니다</a:t>
            </a:r>
            <a:r>
              <a:rPr lang="en-US" altLang="ko-KR" sz="1200" dirty="0">
                <a:effectLst/>
              </a:rPr>
              <a:t>. </a:t>
            </a:r>
            <a:r>
              <a:rPr lang="ko-KR" altLang="en-US" sz="1200" dirty="0">
                <a:effectLst/>
              </a:rPr>
              <a:t>그런 다음 이 정보를 사용하여 생성 프로세스를 알려주므로 생성된 텍스트가 검색된 정보와 일관되고 실제 세계 지식에 기반하는 것이 보장됩니다</a:t>
            </a:r>
            <a:r>
              <a:rPr lang="en-US" altLang="ko-KR" sz="1200" dirty="0">
                <a:effectLst/>
              </a:rPr>
              <a:t>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ko-KR" altLang="en-US" sz="1200" b="1" dirty="0">
                <a:effectLst/>
              </a:rPr>
              <a:t>생성 기반 접근 방식</a:t>
            </a:r>
            <a:r>
              <a:rPr lang="en-US" altLang="ko-KR" sz="1200" b="1" dirty="0">
                <a:effectLst/>
              </a:rPr>
              <a:t>:</a:t>
            </a:r>
            <a:endParaRPr lang="ko-KR" altLang="en-US" sz="1200" dirty="0">
              <a:effectLst/>
            </a:endParaRPr>
          </a:p>
          <a:p>
            <a:pPr rtl="0"/>
            <a:r>
              <a:rPr lang="ko-KR" altLang="en-US" sz="1200" dirty="0">
                <a:effectLst/>
              </a:rPr>
              <a:t>   대규모 언어 모델 </a:t>
            </a:r>
            <a:r>
              <a:rPr lang="en-US" altLang="ko-KR" sz="1200" dirty="0">
                <a:effectLst/>
              </a:rPr>
              <a:t>(</a:t>
            </a:r>
            <a:r>
              <a:rPr lang="en" altLang="ko-KR" sz="1200" dirty="0">
                <a:effectLst/>
              </a:rPr>
              <a:t>LLM)</a:t>
            </a:r>
            <a:r>
              <a:rPr lang="ko-KR" altLang="en-US" sz="1200" dirty="0">
                <a:effectLst/>
              </a:rPr>
              <a:t>을 사용하여 처음부터 텍스트를 생성합니다</a:t>
            </a:r>
            <a:r>
              <a:rPr lang="en-US" altLang="ko-KR" sz="1200" dirty="0">
                <a:effectLst/>
              </a:rPr>
              <a:t>. </a:t>
            </a:r>
            <a:r>
              <a:rPr lang="en" altLang="ko-KR" sz="1200" dirty="0">
                <a:effectLst/>
              </a:rPr>
              <a:t>LLM</a:t>
            </a:r>
            <a:r>
              <a:rPr lang="ko-KR" altLang="en-US" sz="1200" dirty="0">
                <a:effectLst/>
              </a:rPr>
              <a:t>은 방대한 텍스트 및 코드 데이터 세트에 대해 교육을 받아 유창하고 문법적으로 정확하며 창의적인 텍스트를 생성할 수 있습니다</a:t>
            </a:r>
            <a:r>
              <a:rPr lang="en-US" altLang="ko-KR" sz="1200" dirty="0">
                <a:effectLst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문서 요약</a:t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LLM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기반 질문 답변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(</a:t>
            </a:r>
            <a:r>
              <a:rPr lang="ko-KR" alt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챗봇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)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업로드한 데이터를 기반으로 문서작업</a:t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Fine tuning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되지 않은 문서 검색</a:t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기타 관련 컨텐츠 개발</a:t>
            </a:r>
            <a:endParaRPr lang="en" altLang="ko-KR" sz="1200" b="1" i="0" u="none" strike="noStrike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Roboto" panose="02000000000000000000" pitchFamily="2" charset="0"/>
            </a:endParaRPr>
          </a:p>
        </p:txBody>
      </p:sp>
      <p:pic>
        <p:nvPicPr>
          <p:cNvPr id="13" name="그림 12" descr="스크린샷, 텍스트, 디자인이(가) 표시된 사진&#10;&#10;자동 생성된 설명">
            <a:extLst>
              <a:ext uri="{FF2B5EF4-FFF2-40B4-BE49-F238E27FC236}">
                <a16:creationId xmlns:a16="http://schemas.microsoft.com/office/drawing/2014/main" id="{4C694B08-C385-9828-5DF4-73DD566C1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986" y="1011660"/>
            <a:ext cx="7772400" cy="231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463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CC6EEC0C-6479-E8D8-E756-A5D9C861B32A}"/>
              </a:ext>
            </a:extLst>
          </p:cNvPr>
          <p:cNvSpPr/>
          <p:nvPr/>
        </p:nvSpPr>
        <p:spPr>
          <a:xfrm>
            <a:off x="5302716" y="624739"/>
            <a:ext cx="1719798" cy="599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JMX API</a:t>
            </a:r>
            <a:endParaRPr kumimoji="1" lang="ko-KR" altLang="en-US" dirty="0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5C835D40-5106-3094-88AC-812ED245BADE}"/>
              </a:ext>
            </a:extLst>
          </p:cNvPr>
          <p:cNvSpPr/>
          <p:nvPr/>
        </p:nvSpPr>
        <p:spPr>
          <a:xfrm>
            <a:off x="3406294" y="624738"/>
            <a:ext cx="1659242" cy="599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err="1"/>
              <a:t>MiddleWare</a:t>
            </a:r>
            <a:r>
              <a:rPr kumimoji="1" lang="en-US" altLang="ko-KR" dirty="0"/>
              <a:t> API</a:t>
            </a:r>
            <a:endParaRPr kumimoji="1" lang="ko-KR" altLang="en-US" dirty="0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89C042C9-0EDA-552E-3DFA-9F6443F28449}"/>
              </a:ext>
            </a:extLst>
          </p:cNvPr>
          <p:cNvSpPr/>
          <p:nvPr/>
        </p:nvSpPr>
        <p:spPr>
          <a:xfrm>
            <a:off x="5302716" y="4131959"/>
            <a:ext cx="1719798" cy="599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err="1"/>
              <a:t>Opensearch</a:t>
            </a:r>
            <a:endParaRPr kumimoji="1" lang="ko-KR" altLang="en-US" dirty="0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01288E36-D7FD-757D-36C2-076BFB1A6E50}"/>
              </a:ext>
            </a:extLst>
          </p:cNvPr>
          <p:cNvSpPr/>
          <p:nvPr/>
        </p:nvSpPr>
        <p:spPr>
          <a:xfrm>
            <a:off x="7259694" y="4134987"/>
            <a:ext cx="1719798" cy="599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fluent-bit</a:t>
            </a:r>
            <a:endParaRPr kumimoji="1" lang="ko-KR" altLang="en-US" dirty="0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074DBECB-9B33-13E3-6166-2D4017CCBEB9}"/>
              </a:ext>
            </a:extLst>
          </p:cNvPr>
          <p:cNvSpPr/>
          <p:nvPr/>
        </p:nvSpPr>
        <p:spPr>
          <a:xfrm>
            <a:off x="7259694" y="624738"/>
            <a:ext cx="1719798" cy="599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WAS JMX</a:t>
            </a:r>
            <a:endParaRPr kumimoji="1" lang="ko-KR" altLang="en-US" dirty="0"/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98C3D3A8-7A7F-90A6-F8DC-E68EF9B1DE18}"/>
              </a:ext>
            </a:extLst>
          </p:cNvPr>
          <p:cNvSpPr/>
          <p:nvPr/>
        </p:nvSpPr>
        <p:spPr>
          <a:xfrm>
            <a:off x="915410" y="624738"/>
            <a:ext cx="2253704" cy="59950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CMS </a:t>
            </a:r>
            <a:r>
              <a:rPr kumimoji="1" lang="ko-KR" altLang="en-US" dirty="0"/>
              <a:t>대시보드</a:t>
            </a:r>
          </a:p>
        </p:txBody>
      </p:sp>
      <p:cxnSp>
        <p:nvCxnSpPr>
          <p:cNvPr id="13" name="꺾인 연결선[E] 12">
            <a:extLst>
              <a:ext uri="{FF2B5EF4-FFF2-40B4-BE49-F238E27FC236}">
                <a16:creationId xmlns:a16="http://schemas.microsoft.com/office/drawing/2014/main" id="{F57930FB-13D2-34D6-3EBF-A7FD6B53899A}"/>
              </a:ext>
            </a:extLst>
          </p:cNvPr>
          <p:cNvCxnSpPr/>
          <p:nvPr/>
        </p:nvCxnSpPr>
        <p:spPr>
          <a:xfrm rot="10800000" flipV="1">
            <a:off x="7022514" y="4426160"/>
            <a:ext cx="237180" cy="302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" name="꺾인 연결선[E] 13">
            <a:extLst>
              <a:ext uri="{FF2B5EF4-FFF2-40B4-BE49-F238E27FC236}">
                <a16:creationId xmlns:a16="http://schemas.microsoft.com/office/drawing/2014/main" id="{56F70952-B24D-1E88-B90C-A570C08F21BF}"/>
              </a:ext>
            </a:extLst>
          </p:cNvPr>
          <p:cNvCxnSpPr>
            <a:cxnSpLocks/>
            <a:stCxn id="6" idx="1"/>
            <a:endCxn id="5" idx="2"/>
          </p:cNvCxnSpPr>
          <p:nvPr/>
        </p:nvCxnSpPr>
        <p:spPr>
          <a:xfrm rot="10800000">
            <a:off x="4235916" y="1224245"/>
            <a:ext cx="1066801" cy="320746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8" name="꺾인 연결선[E] 17">
            <a:extLst>
              <a:ext uri="{FF2B5EF4-FFF2-40B4-BE49-F238E27FC236}">
                <a16:creationId xmlns:a16="http://schemas.microsoft.com/office/drawing/2014/main" id="{F7A63EDA-8B3A-7A88-6669-1CAC595BCF4A}"/>
              </a:ext>
            </a:extLst>
          </p:cNvPr>
          <p:cNvCxnSpPr/>
          <p:nvPr/>
        </p:nvCxnSpPr>
        <p:spPr>
          <a:xfrm rot="10800000" flipV="1">
            <a:off x="7022514" y="912883"/>
            <a:ext cx="237180" cy="302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" name="꺾인 연결선[E] 18">
            <a:extLst>
              <a:ext uri="{FF2B5EF4-FFF2-40B4-BE49-F238E27FC236}">
                <a16:creationId xmlns:a16="http://schemas.microsoft.com/office/drawing/2014/main" id="{A6C0B89C-14DF-A4B4-03C7-013F83EA39EB}"/>
              </a:ext>
            </a:extLst>
          </p:cNvPr>
          <p:cNvCxnSpPr>
            <a:cxnSpLocks/>
            <a:stCxn id="4" idx="1"/>
            <a:endCxn id="5" idx="3"/>
          </p:cNvCxnSpPr>
          <p:nvPr/>
        </p:nvCxnSpPr>
        <p:spPr>
          <a:xfrm rot="10800000">
            <a:off x="5065536" y="924493"/>
            <a:ext cx="237180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C4932717-3A57-C016-572B-2E35B008C49E}"/>
              </a:ext>
            </a:extLst>
          </p:cNvPr>
          <p:cNvSpPr/>
          <p:nvPr/>
        </p:nvSpPr>
        <p:spPr>
          <a:xfrm>
            <a:off x="5502928" y="1304099"/>
            <a:ext cx="1536111" cy="41658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bg1"/>
                </a:solidFill>
              </a:rPr>
              <a:t>Memory</a:t>
            </a:r>
          </a:p>
          <a:p>
            <a:pPr algn="ctr"/>
            <a:r>
              <a:rPr kumimoji="1" lang="en-US" altLang="ko-KR" sz="1200" dirty="0">
                <a:solidFill>
                  <a:schemeClr val="bg1"/>
                </a:solidFill>
              </a:rPr>
              <a:t>(Heap…)</a:t>
            </a:r>
            <a:endParaRPr kumimoji="1"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9BB40E49-7BBF-4FB3-348A-68F06C3BA46F}"/>
              </a:ext>
            </a:extLst>
          </p:cNvPr>
          <p:cNvSpPr/>
          <p:nvPr/>
        </p:nvSpPr>
        <p:spPr>
          <a:xfrm>
            <a:off x="5502928" y="1791710"/>
            <a:ext cx="1536111" cy="41658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bg1"/>
                </a:solidFill>
              </a:rPr>
              <a:t>Thread </a:t>
            </a:r>
          </a:p>
          <a:p>
            <a:pPr algn="ctr"/>
            <a:r>
              <a:rPr kumimoji="1" lang="en-US" altLang="ko-KR" sz="1200" dirty="0">
                <a:solidFill>
                  <a:schemeClr val="bg1"/>
                </a:solidFill>
              </a:rPr>
              <a:t>(live / Waiting…)</a:t>
            </a:r>
            <a:endParaRPr kumimoji="1"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8F72C7D0-4B34-E28D-600C-0C5ACB272A4A}"/>
              </a:ext>
            </a:extLst>
          </p:cNvPr>
          <p:cNvSpPr/>
          <p:nvPr/>
        </p:nvSpPr>
        <p:spPr>
          <a:xfrm>
            <a:off x="5502928" y="2276149"/>
            <a:ext cx="1536111" cy="41658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bg1"/>
                </a:solidFill>
              </a:rPr>
              <a:t>CPU Usage</a:t>
            </a:r>
            <a:endParaRPr kumimoji="1"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A5FBDD92-A6E2-AE20-38A9-69B6E16E0372}"/>
              </a:ext>
            </a:extLst>
          </p:cNvPr>
          <p:cNvSpPr/>
          <p:nvPr/>
        </p:nvSpPr>
        <p:spPr>
          <a:xfrm>
            <a:off x="5502927" y="2767923"/>
            <a:ext cx="1536111" cy="41658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bg1"/>
                </a:solidFill>
              </a:rPr>
              <a:t>OS information</a:t>
            </a:r>
            <a:endParaRPr kumimoji="1"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EF3C0A29-4E81-1D02-2B65-C883395E029E}"/>
              </a:ext>
            </a:extLst>
          </p:cNvPr>
          <p:cNvSpPr/>
          <p:nvPr/>
        </p:nvSpPr>
        <p:spPr>
          <a:xfrm>
            <a:off x="5502926" y="3259697"/>
            <a:ext cx="1536111" cy="41658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bg1"/>
                </a:solidFill>
              </a:rPr>
              <a:t>Network (</a:t>
            </a:r>
            <a:r>
              <a:rPr kumimoji="1" lang="en-US" altLang="ko-KR" sz="1200" dirty="0" err="1">
                <a:solidFill>
                  <a:schemeClr val="bg1"/>
                </a:solidFill>
              </a:rPr>
              <a:t>count,socket</a:t>
            </a:r>
            <a:r>
              <a:rPr kumimoji="1" lang="en-US" altLang="ko-KR" sz="1200" dirty="0">
                <a:solidFill>
                  <a:schemeClr val="bg1"/>
                </a:solidFill>
              </a:rPr>
              <a:t>…)</a:t>
            </a:r>
            <a:endParaRPr kumimoji="1"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671D8436-3BDB-8C4B-3FDF-84EB4AECAB4C}"/>
              </a:ext>
            </a:extLst>
          </p:cNvPr>
          <p:cNvSpPr/>
          <p:nvPr/>
        </p:nvSpPr>
        <p:spPr>
          <a:xfrm>
            <a:off x="7259694" y="1380936"/>
            <a:ext cx="1719798" cy="599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WAS log</a:t>
            </a:r>
            <a:endParaRPr kumimoji="1" lang="ko-KR" altLang="en-US" dirty="0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956433A5-BCAB-9003-CA64-F1367A18560A}"/>
              </a:ext>
            </a:extLst>
          </p:cNvPr>
          <p:cNvSpPr/>
          <p:nvPr/>
        </p:nvSpPr>
        <p:spPr>
          <a:xfrm>
            <a:off x="7456081" y="4825957"/>
            <a:ext cx="1536111" cy="41658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solidFill>
                  <a:schemeClr val="bg1"/>
                </a:solidFill>
              </a:rPr>
              <a:t>접속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5E672EFD-C5D7-C949-220A-F4BC8EF8FB78}"/>
              </a:ext>
            </a:extLst>
          </p:cNvPr>
          <p:cNvSpPr/>
          <p:nvPr/>
        </p:nvSpPr>
        <p:spPr>
          <a:xfrm>
            <a:off x="7456080" y="5330973"/>
            <a:ext cx="1536111" cy="41658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 err="1">
                <a:solidFill>
                  <a:schemeClr val="bg1"/>
                </a:solidFill>
              </a:rPr>
              <a:t>프레임웍</a:t>
            </a:r>
            <a:endParaRPr kumimoji="1"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32F3B0DC-39A3-EF8A-9DF2-97187E01A14E}"/>
              </a:ext>
            </a:extLst>
          </p:cNvPr>
          <p:cNvSpPr/>
          <p:nvPr/>
        </p:nvSpPr>
        <p:spPr>
          <a:xfrm>
            <a:off x="9098082" y="624738"/>
            <a:ext cx="1536111" cy="41658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bg1"/>
                </a:solidFill>
              </a:rPr>
              <a:t>WAS </a:t>
            </a:r>
            <a:r>
              <a:rPr kumimoji="1" lang="ko-KR" altLang="en-US" sz="1200" dirty="0">
                <a:solidFill>
                  <a:schemeClr val="bg1"/>
                </a:solidFill>
              </a:rPr>
              <a:t>제어</a:t>
            </a:r>
          </a:p>
        </p:txBody>
      </p:sp>
      <p:cxnSp>
        <p:nvCxnSpPr>
          <p:cNvPr id="23" name="꺾인 연결선[E] 22">
            <a:extLst>
              <a:ext uri="{FF2B5EF4-FFF2-40B4-BE49-F238E27FC236}">
                <a16:creationId xmlns:a16="http://schemas.microsoft.com/office/drawing/2014/main" id="{726FEAA9-F5F6-9C85-B945-F120F8DE0E05}"/>
              </a:ext>
            </a:extLst>
          </p:cNvPr>
          <p:cNvCxnSpPr>
            <a:stCxn id="31" idx="3"/>
            <a:endCxn id="7" idx="3"/>
          </p:cNvCxnSpPr>
          <p:nvPr/>
        </p:nvCxnSpPr>
        <p:spPr>
          <a:xfrm>
            <a:off x="8979492" y="1680690"/>
            <a:ext cx="12700" cy="2754051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D9D4C719-6A8C-E986-0217-BB3F6E7A33FD}"/>
              </a:ext>
            </a:extLst>
          </p:cNvPr>
          <p:cNvSpPr/>
          <p:nvPr/>
        </p:nvSpPr>
        <p:spPr>
          <a:xfrm>
            <a:off x="5302715" y="4838693"/>
            <a:ext cx="1719798" cy="599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Dashboards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24780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CB6B04E0-FEBC-947F-6591-C86FBFCBEB55}"/>
              </a:ext>
            </a:extLst>
          </p:cNvPr>
          <p:cNvSpPr/>
          <p:nvPr/>
        </p:nvSpPr>
        <p:spPr>
          <a:xfrm>
            <a:off x="853888" y="611841"/>
            <a:ext cx="10542494" cy="566793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buFont typeface="+mj-lt"/>
              <a:buAutoNum type="arabicPeriod"/>
            </a:pPr>
            <a:r>
              <a:rPr lang="en" altLang="ko-KR" b="1" i="0" dirty="0">
                <a:solidFill>
                  <a:srgbClr val="ECECEC"/>
                </a:solidFill>
                <a:effectLst/>
                <a:latin typeface="Söhne"/>
              </a:rPr>
              <a:t>Content Security Policy (CSP)</a:t>
            </a:r>
            <a:r>
              <a:rPr lang="en" altLang="ko-KR" b="0" i="0" dirty="0">
                <a:solidFill>
                  <a:srgbClr val="ECECEC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ko-KR" altLang="en-US" b="0" i="0" dirty="0" err="1">
                <a:solidFill>
                  <a:srgbClr val="ECECEC"/>
                </a:solidFill>
                <a:effectLst/>
                <a:latin typeface="Söhne"/>
              </a:rPr>
              <a:t>리액트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 애플리케이션에서는 외부 스크립트나 스타일 시트를 </a:t>
            </a:r>
            <a:r>
              <a:rPr lang="ko-KR" altLang="en-US" b="0" i="0" dirty="0" err="1">
                <a:solidFill>
                  <a:srgbClr val="ECECEC"/>
                </a:solidFill>
                <a:effectLst/>
                <a:latin typeface="Söhne"/>
              </a:rPr>
              <a:t>로드할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 때 사용됩니다</a:t>
            </a: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. </a:t>
            </a:r>
            <a:r>
              <a:rPr lang="en" altLang="ko-KR" b="0" i="0" dirty="0">
                <a:solidFill>
                  <a:srgbClr val="ECECEC"/>
                </a:solidFill>
                <a:effectLst/>
                <a:latin typeface="Söhne"/>
              </a:rPr>
              <a:t>CSP</a:t>
            </a:r>
            <a:r>
              <a:rPr lang="ko-KR" altLang="en-US" b="0" i="0" dirty="0" err="1">
                <a:solidFill>
                  <a:srgbClr val="ECECEC"/>
                </a:solidFill>
                <a:effectLst/>
                <a:latin typeface="Söhne"/>
              </a:rPr>
              <a:t>를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 사용하여 악성 스크립트 실행을 방지하고 </a:t>
            </a:r>
            <a:r>
              <a:rPr lang="en" altLang="ko-KR" b="0" i="0" dirty="0">
                <a:solidFill>
                  <a:srgbClr val="ECECEC"/>
                </a:solidFill>
                <a:effectLst/>
                <a:latin typeface="Söhne"/>
              </a:rPr>
              <a:t>XSS 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공격을 예방할 수 있습니다</a:t>
            </a: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" altLang="ko-KR" b="1" i="0" dirty="0">
                <a:solidFill>
                  <a:srgbClr val="ECECEC"/>
                </a:solidFill>
                <a:effectLst/>
                <a:latin typeface="Söhne"/>
              </a:rPr>
              <a:t>X-Content-Type-Options</a:t>
            </a:r>
            <a:r>
              <a:rPr lang="en" altLang="ko-KR" b="0" i="0" dirty="0">
                <a:solidFill>
                  <a:srgbClr val="ECECEC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ko-KR" altLang="en-US" b="0" i="0" dirty="0" err="1">
                <a:solidFill>
                  <a:srgbClr val="ECECEC"/>
                </a:solidFill>
                <a:effectLst/>
                <a:latin typeface="Söhne"/>
              </a:rPr>
              <a:t>리액트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 애플리케이션에서는 </a:t>
            </a:r>
            <a:r>
              <a:rPr lang="en" altLang="ko-KR" b="0" i="0" dirty="0">
                <a:solidFill>
                  <a:srgbClr val="ECECEC"/>
                </a:solidFill>
                <a:effectLst/>
                <a:latin typeface="Söhne"/>
              </a:rPr>
              <a:t>MIME 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유형 </a:t>
            </a:r>
            <a:r>
              <a:rPr lang="ko-KR" altLang="en-US" b="0" i="0" dirty="0" err="1">
                <a:solidFill>
                  <a:srgbClr val="ECECEC"/>
                </a:solidFill>
                <a:effectLst/>
                <a:latin typeface="Söhne"/>
              </a:rPr>
              <a:t>스니핑을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 방지하기 위해 사용됩니다</a:t>
            </a: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. 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이는 서버에서 보내는 리소스의 </a:t>
            </a:r>
            <a:r>
              <a:rPr lang="en" altLang="ko-KR" b="0" i="0" dirty="0">
                <a:solidFill>
                  <a:srgbClr val="ECECEC"/>
                </a:solidFill>
                <a:effectLst/>
                <a:latin typeface="Söhne"/>
              </a:rPr>
              <a:t>MIME 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유형을 브라우저가 자동으로 감지하지 못하도록 제어합니다</a:t>
            </a: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" altLang="ko-KR" b="1" i="0" dirty="0">
                <a:solidFill>
                  <a:srgbClr val="ECECEC"/>
                </a:solidFill>
                <a:effectLst/>
                <a:latin typeface="Söhne"/>
              </a:rPr>
              <a:t>X-Frame-Options</a:t>
            </a:r>
            <a:r>
              <a:rPr lang="en" altLang="ko-KR" b="0" i="0" dirty="0">
                <a:solidFill>
                  <a:srgbClr val="ECECEC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ko-KR" altLang="en-US" b="0" i="0" dirty="0" err="1">
                <a:solidFill>
                  <a:srgbClr val="ECECEC"/>
                </a:solidFill>
                <a:effectLst/>
                <a:latin typeface="Söhne"/>
              </a:rPr>
              <a:t>리액트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 애플리케이션에서는 </a:t>
            </a:r>
            <a:r>
              <a:rPr lang="ko-KR" altLang="en-US" b="0" i="0" dirty="0" err="1">
                <a:solidFill>
                  <a:srgbClr val="ECECEC"/>
                </a:solidFill>
                <a:effectLst/>
                <a:latin typeface="Söhne"/>
              </a:rPr>
              <a:t>클릭재킹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 공격을 방지하기 위해 사용됩니다</a:t>
            </a: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. 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악의적인 사용자가 다른 프레임 내에 애플리케이션을 </a:t>
            </a:r>
            <a:r>
              <a:rPr lang="ko-KR" altLang="en-US" b="0" i="0" dirty="0" err="1">
                <a:solidFill>
                  <a:srgbClr val="ECECEC"/>
                </a:solidFill>
                <a:effectLst/>
                <a:latin typeface="Söhne"/>
              </a:rPr>
              <a:t>로드하거나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 포함시키는 것을 방지하여 클릭을 속이는 공격을 방지합니다</a:t>
            </a: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" altLang="ko-KR" b="1" i="0" dirty="0">
                <a:solidFill>
                  <a:srgbClr val="ECECEC"/>
                </a:solidFill>
                <a:effectLst/>
                <a:latin typeface="Söhne"/>
              </a:rPr>
              <a:t>X-XSS-Protection</a:t>
            </a:r>
            <a:r>
              <a:rPr lang="en" altLang="ko-KR" b="0" i="0" dirty="0">
                <a:solidFill>
                  <a:srgbClr val="ECECEC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ko-KR" altLang="en-US" b="0" i="0" dirty="0" err="1">
                <a:solidFill>
                  <a:srgbClr val="ECECEC"/>
                </a:solidFill>
                <a:effectLst/>
                <a:latin typeface="Söhne"/>
              </a:rPr>
              <a:t>리액트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 애플리케이션에서는 </a:t>
            </a:r>
            <a:r>
              <a:rPr lang="en" altLang="ko-KR" b="0" i="0" dirty="0">
                <a:solidFill>
                  <a:srgbClr val="ECECEC"/>
                </a:solidFill>
                <a:effectLst/>
                <a:latin typeface="Söhne"/>
              </a:rPr>
              <a:t>XSS 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공격을 방지하기 위해 사용됩니다</a:t>
            </a:r>
            <a:r>
              <a:rPr lang="en-US" altLang="ko-KR" b="0" i="0" dirty="0">
                <a:solidFill>
                  <a:srgbClr val="ECECEC"/>
                </a:solidFill>
                <a:effectLst/>
                <a:latin typeface="Söhne"/>
              </a:rPr>
              <a:t>. 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브라우저의 내장 </a:t>
            </a:r>
            <a:r>
              <a:rPr lang="en" altLang="ko-KR" b="0" i="0" dirty="0">
                <a:solidFill>
                  <a:srgbClr val="ECECEC"/>
                </a:solidFill>
                <a:effectLst/>
                <a:latin typeface="Söhne"/>
              </a:rPr>
              <a:t>XSS </a:t>
            </a:r>
            <a:r>
              <a:rPr lang="ko-KR" altLang="en-US" b="0" i="0" dirty="0">
                <a:solidFill>
                  <a:srgbClr val="ECECEC"/>
                </a:solidFill>
                <a:effectLst/>
                <a:latin typeface="Söhne"/>
              </a:rPr>
              <a:t>필터를 활성화하고 악성 스크립트를 감지하여 차단합니다</a:t>
            </a:r>
            <a:r>
              <a:rPr lang="en-US" altLang="ko-KR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Söhn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47040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7B5357-1D99-3266-D33F-7430487DCA34}"/>
              </a:ext>
            </a:extLst>
          </p:cNvPr>
          <p:cNvSpPr txBox="1"/>
          <p:nvPr/>
        </p:nvSpPr>
        <p:spPr>
          <a:xfrm>
            <a:off x="616857" y="501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altLang="ko-KR" b="1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LCEL &amp; Runnable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26A237-D2F0-5878-B142-E993AA4F34BA}"/>
              </a:ext>
            </a:extLst>
          </p:cNvPr>
          <p:cNvSpPr txBox="1"/>
          <p:nvPr/>
        </p:nvSpPr>
        <p:spPr>
          <a:xfrm>
            <a:off x="616857" y="378917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altLang="ko-KR" b="1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LangGraph</a:t>
            </a:r>
            <a:r>
              <a:rPr lang="en" altLang="ko-KR" b="1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ko-KR" altLang="en-US" b="1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의 멀티 에이전트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938F02-C907-5204-98BE-E128618D8AB0}"/>
              </a:ext>
            </a:extLst>
          </p:cNvPr>
          <p:cNvSpPr txBox="1"/>
          <p:nvPr/>
        </p:nvSpPr>
        <p:spPr>
          <a:xfrm>
            <a:off x="827314" y="806325"/>
            <a:ext cx="1099457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altLang="ko-KR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LangChain</a:t>
            </a:r>
            <a:r>
              <a:rPr lang="en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Expression Language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또는 </a:t>
            </a:r>
            <a:r>
              <a:rPr lang="en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LCEL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은 체인을 쉽게 함께 작성할 수 있는 선언적 방법입니다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en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LCEL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은 가장 단순한 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"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프롬프트 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+ </a:t>
            </a:r>
            <a:r>
              <a:rPr lang="en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LLM"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체인에서 가장 복잡한 체인에 이르기까지 코드 변경 없이 프로토타입을 프로덕션에 배치할 수 있도록 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일차부터 설계되었습니다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프로덕션에서 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100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개의 단계로 </a:t>
            </a:r>
            <a:r>
              <a:rPr lang="en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LCEL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체인을 성공적으로 실행하는 사람들을 보았습니다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). </a:t>
            </a:r>
            <a:r>
              <a:rPr lang="en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LCEL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을 사용해야 하는 몇 가지 이유를 강조하면 다음과 같습니다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최고 수준의 스트리밍 지원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</a:t>
            </a:r>
            <a:r>
              <a:rPr lang="en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LCEL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로 체인을 구축하면 첫 번째 토큰까지의 시간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첫 번째 출력 </a:t>
            </a:r>
            <a:r>
              <a:rPr lang="ko-KR" altLang="en-US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청크가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나올 때까지 경과된 시간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을 얻을 수 있습니다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일부 체인의 경우 이것은 예를 들어 의미합니다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en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LLM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에서 스트리밍 출력 </a:t>
            </a:r>
            <a:r>
              <a:rPr lang="ko-KR" altLang="en-US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파서로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직접 토큰을 스트리밍하면 </a:t>
            </a:r>
            <a:r>
              <a:rPr lang="en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LLM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공급자가 원시 토큰을 출력하는 것과 동일한 속도로 구문 분석된 증분 출력 </a:t>
            </a:r>
            <a:r>
              <a:rPr lang="ko-KR" altLang="en-US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청크를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다시 얻을 수 있습니다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비동기 지원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</a:t>
            </a:r>
            <a:r>
              <a:rPr lang="en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LCEL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로 구축된 모든 체인은 동기 </a:t>
            </a:r>
            <a:r>
              <a:rPr lang="en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API(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예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프로토타이핑 중 </a:t>
            </a:r>
            <a:r>
              <a:rPr lang="en" altLang="ko-KR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Jupyter</a:t>
            </a:r>
            <a:r>
              <a:rPr lang="en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노트북에서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와 비동기 </a:t>
            </a:r>
            <a:r>
              <a:rPr lang="en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API(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예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 </a:t>
            </a:r>
            <a:r>
              <a:rPr lang="en" altLang="ko-KR" sz="1000" dirty="0">
                <a:solidFill>
                  <a:schemeClr val="tx1">
                    <a:lumMod val="95000"/>
                    <a:lumOff val="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LangServe</a:t>
            </a:r>
            <a:r>
              <a:rPr lang="en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서버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r>
              <a:rPr lang="ko-KR" altLang="en-US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를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사용하여 호출할 수 있습니다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이를 통해 프로토타입 및 프로덕션에서 동일한 코드를 사용할 수 있으며 성능이 뛰어나고 동일한 서버에서 많은 동시 요청을 처리할 수 있습니다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최적화된 병렬 실행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</a:t>
            </a:r>
            <a:r>
              <a:rPr lang="en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LCEL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체인에 병렬로 실행할 수 있는 단계가 있을 때마다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예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여러 </a:t>
            </a:r>
            <a:r>
              <a:rPr lang="ko-KR" altLang="en-US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리트리버에서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문서를 가져오는 경우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가능한 한 가장 짧은 대기 시간을 위해 동기화 및 비동기 인터페이스 모두에서 자동으로 수행합니다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재시도 및 대체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</a:t>
            </a:r>
            <a:r>
              <a:rPr lang="en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LCEL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체인의 모든 부분에 대한 재시도 및 </a:t>
            </a:r>
            <a:r>
              <a:rPr lang="ko-KR" altLang="en-US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폴백을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구성합니다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이것은 체인을 대규모로 더 안정적으로 만드는 좋은 방법입니다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현재 재시도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대체에 대한 스트리밍 지원을 추가하기 위해 노력하고 있으므로 대기 시간 비용 없이 안정성을 높일 수 있습니다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중간 결과 액세스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더 복잡한 체인의 경우 최종 출력이 생성되기 전에도 중간 단계의 결과에 액세스하는 것이 매우 유용한 경우가 많습니다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이는 최종 사용자에게 어떤 일이 일어나고 있음을 알리거나 체인을 디버깅하는 데 사용할 수 있습니다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중간 결과를 스트리밍할 수 있으며 모든 </a:t>
            </a:r>
            <a:r>
              <a:rPr lang="en" altLang="ko-KR" sz="1000" dirty="0">
                <a:solidFill>
                  <a:schemeClr val="tx1">
                    <a:lumMod val="95000"/>
                    <a:lumOff val="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LangServe</a:t>
            </a:r>
            <a:r>
              <a:rPr lang="en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서버에서 사용할 수 있습니다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입력 및 출력 스키마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입력 및 출력 스키마는 체인의 구조에서 유추된 모든 </a:t>
            </a:r>
            <a:r>
              <a:rPr lang="en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LCEL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체인 </a:t>
            </a:r>
            <a:r>
              <a:rPr lang="en" altLang="ko-KR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Pydantic</a:t>
            </a:r>
            <a:r>
              <a:rPr lang="en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및 </a:t>
            </a:r>
            <a:r>
              <a:rPr lang="en" altLang="ko-KR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JSONSchema</a:t>
            </a:r>
            <a:r>
              <a:rPr lang="en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스키마를 제공합니다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이것은 입력 및 출력의 유효성 검사에 사용할 수 있으며 </a:t>
            </a:r>
            <a:r>
              <a:rPr lang="en" altLang="ko-KR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LangServe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의 필수적인 부분입니다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467886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원활한 </a:t>
            </a:r>
            <a:r>
              <a:rPr lang="en" altLang="ko-KR" sz="1000" dirty="0">
                <a:solidFill>
                  <a:srgbClr val="467886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LangSmith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추적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체인이 점점 더 복잡해짐에 따라 모든 단계에서 정확히 무슨 일이 일어나고 있는지 이해하는 것이 점점 더 중요해지고 있습니다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en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LCEL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을 사용하면 모든 단계가 </a:t>
            </a:r>
            <a:r>
              <a:rPr lang="en" altLang="ko-KR" sz="1000" dirty="0">
                <a:solidFill>
                  <a:schemeClr val="tx1">
                    <a:lumMod val="95000"/>
                    <a:lumOff val="5000"/>
                  </a:schemeClr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LangSmith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에 자동으로 기록되어 관찰 가능성과 디버깅 가능성을 극대화할 수 있습니다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467886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원활한 </a:t>
            </a:r>
            <a:r>
              <a:rPr lang="en" altLang="ko-KR" sz="1000" dirty="0">
                <a:solidFill>
                  <a:srgbClr val="467886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LangServe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배포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</a:t>
            </a:r>
            <a:r>
              <a:rPr lang="en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LCEL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로 생성된 모든 체인은 </a:t>
            </a:r>
            <a:r>
              <a:rPr lang="en" altLang="ko-KR" sz="1000" dirty="0">
                <a:solidFill>
                  <a:schemeClr val="tx1">
                    <a:lumMod val="95000"/>
                    <a:lumOff val="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LangServe</a:t>
            </a:r>
            <a:r>
              <a:rPr lang="ko-KR" altLang="en-US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를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사용하여 쉽게 배포할 수 있습니다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C26FB3-C736-FA36-8054-B32FF094E896}"/>
              </a:ext>
            </a:extLst>
          </p:cNvPr>
          <p:cNvSpPr txBox="1"/>
          <p:nvPr/>
        </p:nvSpPr>
        <p:spPr>
          <a:xfrm>
            <a:off x="827314" y="4279029"/>
            <a:ext cx="1089297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" altLang="ko-KR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LangGraph</a:t>
            </a:r>
            <a:r>
              <a:rPr lang="en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라이브러리를 사용하면 여러 단계에 걸쳐 대화를 유지하고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과거의 상호 작용을 기억하고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해당 정보를 사용하여 향후 응답을 알려주는 애플리케이션을 만들 수 있습니다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이는 애플리케이션이 사용자와 지속적으로 상호작용하며 이전 질문과 답변을 묻고 기억하여 보다 관련성 있고 정보에 입각한 응답을 제공하는 에이전트와 유사한 동작을 만드는 데 유용합니다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근본적인 측면은 지속적인 토론을 위한 전제 조건인 주기 관리 능력에 있습니다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단방향 데이터 전파의 제약을 받는 다른 라이브러리와 차별화되는 이 라이브러리는 주기적인 데이터 이동을 촉진하여 프로그램이 기억을 유지하고 이전 참여를 바탕으로 점진적으로 발전할 수 있도록 합니다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이 속성의 중요성은 고급 및 반응형 소프트웨어 시스템 개발에 크게 기여합니다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적응 가능한 구조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간단한 작동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현재 리소스 및 플랫폼과의 원활한 통합을 통해 </a:t>
            </a:r>
            <a:r>
              <a:rPr lang="ko-KR" altLang="en-US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다재다능함을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보여줍니다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개발 워크플로우를 간소화함으로써 프로그래머는 상태 및 컨텍스트 정보 관리에 대한 우려를 없애고 점점 더 복잡하고 동적인 프로그램을 고안하는 데 집중할 수 있습니다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30295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E58AE6-6EDB-86BE-4D86-D2A120E33193}"/>
              </a:ext>
            </a:extLst>
          </p:cNvPr>
          <p:cNvSpPr txBox="1"/>
          <p:nvPr/>
        </p:nvSpPr>
        <p:spPr>
          <a:xfrm>
            <a:off x="1074056" y="566056"/>
            <a:ext cx="97463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" altLang="ko-KR" dirty="0" err="1"/>
              <a:t>LangChain</a:t>
            </a:r>
            <a:r>
              <a:rPr lang="ko-KR" altLang="en-US" dirty="0"/>
              <a:t>의 목표</a:t>
            </a:r>
          </a:p>
          <a:p>
            <a:pPr algn="l"/>
            <a:r>
              <a:rPr lang="en" altLang="ko-KR" dirty="0" err="1"/>
              <a:t>LangChain</a:t>
            </a:r>
            <a:r>
              <a:rPr lang="ko-KR" altLang="en-US" dirty="0"/>
              <a:t>의 목표는</a:t>
            </a:r>
            <a:r>
              <a:rPr lang="en-US" altLang="ko-KR" dirty="0"/>
              <a:t>:</a:t>
            </a:r>
          </a:p>
          <a:p>
            <a:pPr algn="l">
              <a:buFont typeface="+mj-lt"/>
              <a:buAutoNum type="arabicPeriod"/>
            </a:pPr>
            <a:r>
              <a:rPr lang="ko-KR" altLang="en-US" dirty="0"/>
              <a:t>효과적인 프롬프트 관리</a:t>
            </a:r>
            <a:r>
              <a:rPr lang="en-US" altLang="ko-KR" dirty="0"/>
              <a:t>: </a:t>
            </a:r>
            <a:r>
              <a:rPr lang="ko-KR" altLang="en-US" dirty="0"/>
              <a:t>프롬프트 템플릿을 사용하여 일관된 프롬프트를 생성하고</a:t>
            </a:r>
            <a:r>
              <a:rPr lang="en-US" altLang="ko-KR" dirty="0"/>
              <a:t>, </a:t>
            </a:r>
            <a:r>
              <a:rPr lang="ko-KR" altLang="en-US" dirty="0"/>
              <a:t>다양한 입력에 대응할 수 있도록 유연성을 제공합니다</a:t>
            </a:r>
            <a:r>
              <a:rPr lang="en-US" altLang="ko-KR" dirty="0"/>
              <a:t>.</a:t>
            </a:r>
          </a:p>
          <a:p>
            <a:pPr algn="l">
              <a:buFont typeface="+mj-lt"/>
              <a:buAutoNum type="arabicPeriod"/>
            </a:pPr>
            <a:r>
              <a:rPr lang="ko-KR" altLang="en-US" dirty="0"/>
              <a:t>체인 구성</a:t>
            </a:r>
            <a:r>
              <a:rPr lang="en-US" altLang="ko-KR" dirty="0"/>
              <a:t>: </a:t>
            </a:r>
            <a:r>
              <a:rPr lang="ko-KR" altLang="en-US" dirty="0"/>
              <a:t>여러 개의 프롬프트와 응답을 결합하여 복잡한 작업을 수행할 수 있는 체인을 구성합니다</a:t>
            </a:r>
            <a:r>
              <a:rPr lang="en-US" altLang="ko-KR" dirty="0"/>
              <a:t>.</a:t>
            </a:r>
          </a:p>
          <a:p>
            <a:pPr algn="l">
              <a:buFont typeface="+mj-lt"/>
              <a:buAutoNum type="arabicPeriod"/>
            </a:pPr>
            <a:r>
              <a:rPr lang="ko-KR" altLang="en-US" dirty="0"/>
              <a:t>데이터 소스 통합</a:t>
            </a:r>
            <a:r>
              <a:rPr lang="en-US" altLang="ko-KR" dirty="0"/>
              <a:t>: </a:t>
            </a:r>
            <a:r>
              <a:rPr lang="ko-KR" altLang="en-US" dirty="0"/>
              <a:t>다양한 데이터 소스</a:t>
            </a:r>
            <a:r>
              <a:rPr lang="en-US" altLang="ko-KR" dirty="0"/>
              <a:t>(</a:t>
            </a:r>
            <a:r>
              <a:rPr lang="en" altLang="ko-KR" dirty="0"/>
              <a:t>API, </a:t>
            </a:r>
            <a:r>
              <a:rPr lang="ko-KR" altLang="en-US" dirty="0"/>
              <a:t>데이터베이스</a:t>
            </a:r>
            <a:r>
              <a:rPr lang="en-US" altLang="ko-KR" dirty="0"/>
              <a:t>, </a:t>
            </a:r>
            <a:r>
              <a:rPr lang="ko-KR" altLang="en-US" dirty="0"/>
              <a:t>파일 시스템 등</a:t>
            </a:r>
            <a:r>
              <a:rPr lang="en-US" altLang="ko-KR" dirty="0"/>
              <a:t>)</a:t>
            </a:r>
            <a:r>
              <a:rPr lang="ko-KR" altLang="en-US" dirty="0"/>
              <a:t>와 통합하여 언어 모델이 더 풍부한 정보를 기반으로 응답할 수 있도록 합니다</a:t>
            </a:r>
            <a:r>
              <a:rPr lang="en-US" altLang="ko-KR" dirty="0"/>
              <a:t>.</a:t>
            </a:r>
          </a:p>
          <a:p>
            <a:pPr algn="l">
              <a:buFont typeface="+mj-lt"/>
              <a:buAutoNum type="arabicPeriod"/>
            </a:pPr>
            <a:r>
              <a:rPr lang="ko-KR" altLang="en-US" dirty="0"/>
              <a:t>에이전트 개발</a:t>
            </a:r>
            <a:r>
              <a:rPr lang="en-US" altLang="ko-KR" dirty="0"/>
              <a:t>: </a:t>
            </a:r>
            <a:r>
              <a:rPr lang="ko-KR" altLang="en-US" dirty="0"/>
              <a:t>사용자의 자연어 요청을 처리하고</a:t>
            </a:r>
            <a:r>
              <a:rPr lang="en-US" altLang="ko-KR" dirty="0"/>
              <a:t>, </a:t>
            </a:r>
            <a:r>
              <a:rPr lang="ko-KR" altLang="en-US" dirty="0"/>
              <a:t>다양한 작업을 자동으로 수행할 수 있는 에이전트를 개발합니다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18252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3DA6C4-C672-BC72-6FED-D48272E6EAEC}"/>
              </a:ext>
            </a:extLst>
          </p:cNvPr>
          <p:cNvSpPr txBox="1"/>
          <p:nvPr/>
        </p:nvSpPr>
        <p:spPr>
          <a:xfrm>
            <a:off x="486229" y="337181"/>
            <a:ext cx="4775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altLang="ko-KR" sz="1000" dirty="0" err="1"/>
              <a:t>LangChain</a:t>
            </a:r>
            <a:r>
              <a:rPr lang="ko-KR" altLang="en-US" sz="1000" dirty="0"/>
              <a:t>을 사용하기 위한 단계</a:t>
            </a:r>
          </a:p>
          <a:p>
            <a:pPr algn="l"/>
            <a:r>
              <a:rPr lang="en" altLang="ko-KR" sz="1000" dirty="0" err="1"/>
              <a:t>LangChain</a:t>
            </a:r>
            <a:r>
              <a:rPr lang="ko-KR" altLang="en-US" sz="1000" dirty="0"/>
              <a:t>을 사용하여 목표를 달성하기 위해 필요한 주요 단계는 다음과 같습니다</a:t>
            </a:r>
            <a:r>
              <a:rPr lang="en-US" altLang="ko-KR" sz="1000" dirty="0"/>
              <a:t>:</a:t>
            </a:r>
          </a:p>
          <a:p>
            <a:pPr algn="l">
              <a:buFont typeface="+mj-lt"/>
              <a:buAutoNum type="arabicPeriod"/>
            </a:pPr>
            <a:r>
              <a:rPr lang="ko-KR" altLang="en-US" sz="1000" dirty="0"/>
              <a:t>환경 설정</a:t>
            </a:r>
          </a:p>
          <a:p>
            <a:pPr algn="l">
              <a:buFont typeface="+mj-lt"/>
              <a:buAutoNum type="arabicPeriod"/>
            </a:pPr>
            <a:r>
              <a:rPr lang="ko-KR" altLang="en-US" sz="1000" dirty="0"/>
              <a:t>프롬프트 설계 및 생성</a:t>
            </a:r>
          </a:p>
          <a:p>
            <a:pPr algn="l">
              <a:buFont typeface="+mj-lt"/>
              <a:buAutoNum type="arabicPeriod"/>
            </a:pPr>
            <a:r>
              <a:rPr lang="ko-KR" altLang="en-US" sz="1000" dirty="0"/>
              <a:t>체인 구성</a:t>
            </a:r>
          </a:p>
          <a:p>
            <a:pPr algn="l">
              <a:buFont typeface="+mj-lt"/>
              <a:buAutoNum type="arabicPeriod"/>
            </a:pPr>
            <a:r>
              <a:rPr lang="ko-KR" altLang="en-US" sz="1000" dirty="0"/>
              <a:t>데이터 소스 통합</a:t>
            </a:r>
          </a:p>
          <a:p>
            <a:pPr algn="l">
              <a:buFont typeface="+mj-lt"/>
              <a:buAutoNum type="arabicPeriod"/>
            </a:pPr>
            <a:r>
              <a:rPr lang="ko-KR" altLang="en-US" sz="1000" dirty="0"/>
              <a:t>에이전트 개발 및 배포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004385-988A-D1A6-AAE0-8D4B90B46601}"/>
              </a:ext>
            </a:extLst>
          </p:cNvPr>
          <p:cNvSpPr txBox="1"/>
          <p:nvPr/>
        </p:nvSpPr>
        <p:spPr>
          <a:xfrm>
            <a:off x="486229" y="1896695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000" dirty="0"/>
              <a:t>언어 모델과의 상호작용 라이프 사이클</a:t>
            </a:r>
          </a:p>
          <a:p>
            <a:pPr algn="l">
              <a:buFont typeface="+mj-lt"/>
              <a:buAutoNum type="arabicPeriod"/>
            </a:pPr>
            <a:r>
              <a:rPr lang="ko-KR" altLang="en-US" sz="1000" dirty="0"/>
              <a:t>모델과 </a:t>
            </a:r>
            <a:r>
              <a:rPr lang="ko-KR" altLang="en-US" sz="1000" dirty="0" err="1"/>
              <a:t>토크나이저</a:t>
            </a:r>
            <a:r>
              <a:rPr lang="ko-KR" altLang="en-US" sz="1000" dirty="0"/>
              <a:t> 로드</a:t>
            </a:r>
          </a:p>
          <a:p>
            <a:pPr algn="l">
              <a:buFont typeface="+mj-lt"/>
              <a:buAutoNum type="arabicPeriod"/>
            </a:pPr>
            <a:r>
              <a:rPr lang="ko-KR" altLang="en-US" sz="1000" dirty="0"/>
              <a:t>프롬프트 정의</a:t>
            </a:r>
          </a:p>
          <a:p>
            <a:pPr algn="l">
              <a:buFont typeface="+mj-lt"/>
              <a:buAutoNum type="arabicPeriod"/>
            </a:pPr>
            <a:r>
              <a:rPr lang="ko-KR" altLang="en-US" sz="1000" dirty="0"/>
              <a:t>프롬프트 토크나이징</a:t>
            </a:r>
          </a:p>
          <a:p>
            <a:pPr algn="l">
              <a:buFont typeface="+mj-lt"/>
              <a:buAutoNum type="arabicPeriod"/>
            </a:pPr>
            <a:r>
              <a:rPr lang="ko-KR" altLang="en-US" sz="1000" dirty="0"/>
              <a:t>모델 실행</a:t>
            </a:r>
          </a:p>
          <a:p>
            <a:pPr algn="l">
              <a:buFont typeface="+mj-lt"/>
              <a:buAutoNum type="arabicPeriod"/>
            </a:pPr>
            <a:r>
              <a:rPr lang="ko-KR" altLang="en-US" sz="1000" dirty="0"/>
              <a:t>결과 디코딩 및 출력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FA5742-5A58-9186-F49B-CC9CF8CEBAB4}"/>
              </a:ext>
            </a:extLst>
          </p:cNvPr>
          <p:cNvSpPr txBox="1"/>
          <p:nvPr/>
        </p:nvSpPr>
        <p:spPr>
          <a:xfrm>
            <a:off x="486229" y="3179994"/>
            <a:ext cx="47026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altLang="ko-KR" sz="1000" dirty="0" err="1"/>
              <a:t>LangChain</a:t>
            </a:r>
            <a:r>
              <a:rPr lang="en" altLang="ko-KR" sz="1000" dirty="0"/>
              <a:t> Expression Language(LCEL) </a:t>
            </a:r>
            <a:r>
              <a:rPr lang="ko-KR" altLang="en-US" sz="1000" dirty="0"/>
              <a:t>라이프 사이클</a:t>
            </a:r>
            <a:endParaRPr lang="en-US" altLang="ko-KR" sz="1000" dirty="0"/>
          </a:p>
          <a:p>
            <a:pPr algn="l"/>
            <a:r>
              <a:rPr lang="en" altLang="ko-KR" sz="1000" dirty="0" err="1"/>
              <a:t>LangChain</a:t>
            </a:r>
            <a:r>
              <a:rPr lang="en" altLang="ko-KR" sz="1000" dirty="0"/>
              <a:t> </a:t>
            </a:r>
            <a:r>
              <a:rPr lang="ko-KR" altLang="en-US" sz="1000" dirty="0"/>
              <a:t>프레임워크에서 사용되는 표현 언어로</a:t>
            </a:r>
            <a:r>
              <a:rPr lang="en-US" altLang="ko-KR" sz="1000" dirty="0"/>
              <a:t>, </a:t>
            </a:r>
            <a:r>
              <a:rPr lang="ko-KR" altLang="en-US" sz="1000" dirty="0"/>
              <a:t>대규모 언어 모델을 활용한 복잡한 작업을 정의하고 관리하기 위한 도구입니다</a:t>
            </a:r>
            <a:r>
              <a:rPr lang="en-US" altLang="ko-KR" sz="1000" dirty="0"/>
              <a:t>. </a:t>
            </a:r>
            <a:r>
              <a:rPr lang="en" altLang="ko-KR" sz="1000" dirty="0"/>
              <a:t>LCEL</a:t>
            </a:r>
            <a:r>
              <a:rPr lang="ko-KR" altLang="en-US" sz="1000" dirty="0"/>
              <a:t>의 라이프 사이클을 이해하기 위해서는 다음 단계를 고려해야 합니다</a:t>
            </a:r>
            <a:r>
              <a:rPr lang="en-US" altLang="ko-KR" sz="1000" dirty="0"/>
              <a:t>:</a:t>
            </a:r>
          </a:p>
          <a:p>
            <a:pPr algn="l">
              <a:buFont typeface="+mj-lt"/>
              <a:buAutoNum type="arabicPeriod"/>
            </a:pPr>
            <a:r>
              <a:rPr lang="ko-KR" altLang="en-US" sz="1000" dirty="0"/>
              <a:t>프롬프트 설계</a:t>
            </a:r>
          </a:p>
          <a:p>
            <a:pPr algn="l">
              <a:buFont typeface="+mj-lt"/>
              <a:buAutoNum type="arabicPeriod"/>
            </a:pPr>
            <a:r>
              <a:rPr lang="ko-KR" altLang="en-US" sz="1000" dirty="0"/>
              <a:t>프롬프트 템플릿 작성</a:t>
            </a:r>
          </a:p>
          <a:p>
            <a:pPr algn="l">
              <a:buFont typeface="+mj-lt"/>
              <a:buAutoNum type="arabicPeriod"/>
            </a:pPr>
            <a:r>
              <a:rPr lang="ko-KR" altLang="en-US" sz="1000" dirty="0"/>
              <a:t>프롬프트 실행</a:t>
            </a:r>
          </a:p>
          <a:p>
            <a:pPr algn="l">
              <a:buFont typeface="+mj-lt"/>
              <a:buAutoNum type="arabicPeriod"/>
            </a:pPr>
            <a:r>
              <a:rPr lang="ko-KR" altLang="en-US" sz="1000" dirty="0"/>
              <a:t>결과 후처리</a:t>
            </a:r>
          </a:p>
          <a:p>
            <a:pPr algn="l">
              <a:buFont typeface="+mj-lt"/>
              <a:buAutoNum type="arabicPeriod"/>
            </a:pPr>
            <a:r>
              <a:rPr lang="ko-KR" altLang="en-US" sz="1000" dirty="0"/>
              <a:t>피드백 및 반복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C6A941-AFDA-A46F-4043-69314E05FE94}"/>
              </a:ext>
            </a:extLst>
          </p:cNvPr>
          <p:cNvSpPr txBox="1"/>
          <p:nvPr/>
        </p:nvSpPr>
        <p:spPr>
          <a:xfrm>
            <a:off x="5558971" y="337181"/>
            <a:ext cx="609600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000" dirty="0"/>
              <a:t>1. </a:t>
            </a:r>
            <a:r>
              <a:rPr lang="ko-KR" altLang="en-US" sz="1000" dirty="0"/>
              <a:t>프롬프트 설계</a:t>
            </a:r>
          </a:p>
          <a:p>
            <a:pPr algn="l"/>
            <a:r>
              <a:rPr lang="ko-KR" altLang="en-US" sz="1000" dirty="0"/>
              <a:t>목표 정의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ko-KR" sz="1000" dirty="0"/>
              <a:t>LCEL</a:t>
            </a:r>
            <a:r>
              <a:rPr lang="ko-KR" altLang="en-US" sz="1000" dirty="0"/>
              <a:t>을 사용하여 달성하고자 하는 목표를 명확히 정의합니다</a:t>
            </a:r>
            <a:r>
              <a:rPr lang="en-US" altLang="ko-KR" sz="1000" dirty="0"/>
              <a:t>. </a:t>
            </a:r>
            <a:r>
              <a:rPr lang="ko-KR" altLang="en-US" sz="1000" dirty="0"/>
              <a:t>예를 들어</a:t>
            </a:r>
            <a:r>
              <a:rPr lang="en-US" altLang="ko-KR" sz="1000" dirty="0"/>
              <a:t>, </a:t>
            </a:r>
            <a:r>
              <a:rPr lang="ko-KR" altLang="en-US" sz="1000" dirty="0"/>
              <a:t>텍스트 생성</a:t>
            </a:r>
            <a:r>
              <a:rPr lang="en-US" altLang="ko-KR" sz="1000" dirty="0"/>
              <a:t>, </a:t>
            </a:r>
            <a:r>
              <a:rPr lang="ko-KR" altLang="en-US" sz="1000" dirty="0"/>
              <a:t>번역</a:t>
            </a:r>
            <a:r>
              <a:rPr lang="en-US" altLang="ko-KR" sz="1000" dirty="0"/>
              <a:t>, </a:t>
            </a:r>
            <a:r>
              <a:rPr lang="ko-KR" altLang="en-US" sz="1000" dirty="0"/>
              <a:t>요약 등 다양한 작업을 수행할 수 있습니다</a:t>
            </a:r>
            <a:r>
              <a:rPr lang="en-US" altLang="ko-KR" sz="1000" dirty="0"/>
              <a:t>.</a:t>
            </a:r>
          </a:p>
          <a:p>
            <a:pPr algn="l"/>
            <a:r>
              <a:rPr lang="ko-KR" altLang="en-US" sz="1000" dirty="0"/>
              <a:t>작업 분해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dirty="0"/>
              <a:t>복잡한 작업을 더 작은 하위 작업으로 분해합니다</a:t>
            </a:r>
            <a:r>
              <a:rPr lang="en-US" altLang="ko-KR" sz="1000" dirty="0"/>
              <a:t>. </a:t>
            </a:r>
            <a:r>
              <a:rPr lang="ko-KR" altLang="en-US" sz="1000" dirty="0"/>
              <a:t>각 하위 작업에 대해 개별 프롬프트를 설계할 수 있습니다</a:t>
            </a:r>
            <a:r>
              <a:rPr lang="en-US" altLang="ko-KR" sz="1000" dirty="0"/>
              <a:t>.</a:t>
            </a:r>
          </a:p>
          <a:p>
            <a:pPr algn="l"/>
            <a:endParaRPr lang="en-US" altLang="ko-KR" sz="1000" dirty="0"/>
          </a:p>
          <a:p>
            <a:pPr algn="l"/>
            <a:r>
              <a:rPr lang="en-US" altLang="ko-KR" sz="1000" dirty="0"/>
              <a:t>2. </a:t>
            </a:r>
            <a:r>
              <a:rPr lang="ko-KR" altLang="en-US" sz="1000" dirty="0"/>
              <a:t>프롬프트 템플릿 작성</a:t>
            </a:r>
          </a:p>
          <a:p>
            <a:pPr algn="l"/>
            <a:r>
              <a:rPr lang="ko-KR" altLang="en-US" sz="1000" dirty="0"/>
              <a:t>프롬프트 구성 요소 정의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dirty="0"/>
              <a:t>각 프롬프트는 입력 변수</a:t>
            </a:r>
            <a:r>
              <a:rPr lang="en-US" altLang="ko-KR" sz="1000" dirty="0"/>
              <a:t>, </a:t>
            </a:r>
            <a:r>
              <a:rPr lang="ko-KR" altLang="en-US" sz="1000" dirty="0"/>
              <a:t>출력 형식</a:t>
            </a:r>
            <a:r>
              <a:rPr lang="en-US" altLang="ko-KR" sz="1000" dirty="0"/>
              <a:t>, </a:t>
            </a:r>
            <a:r>
              <a:rPr lang="ko-KR" altLang="en-US" sz="1000" dirty="0"/>
              <a:t>맥락 정보를 포함합니다</a:t>
            </a:r>
            <a:r>
              <a:rPr lang="en-US" altLang="ko-KR" sz="1000" dirty="0"/>
              <a:t>. </a:t>
            </a:r>
            <a:r>
              <a:rPr lang="ko-KR" altLang="en-US" sz="1000" dirty="0"/>
              <a:t>예를 들어</a:t>
            </a:r>
            <a:r>
              <a:rPr lang="en-US" altLang="ko-KR" sz="1000" dirty="0"/>
              <a:t>, </a:t>
            </a:r>
            <a:r>
              <a:rPr lang="ko-KR" altLang="en-US" sz="1000" dirty="0"/>
              <a:t>다음과 같은 템플릿을 사용할 수 있습니다</a:t>
            </a:r>
            <a:endParaRPr lang="en" altLang="ko-KR" sz="1000" dirty="0"/>
          </a:p>
          <a:p>
            <a:pPr algn="l"/>
            <a:r>
              <a:rPr lang="ko-KR" altLang="en-US" sz="1000" dirty="0"/>
              <a:t>템플릿 작성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dirty="0"/>
              <a:t>다양한 입력 변수와 조건을 포함한 프롬프트 템플릿을 작성합니다</a:t>
            </a:r>
            <a:r>
              <a:rPr lang="en-US" altLang="ko-KR" sz="1000" dirty="0"/>
              <a:t>. </a:t>
            </a:r>
            <a:r>
              <a:rPr lang="ko-KR" altLang="en-US" sz="1000" dirty="0"/>
              <a:t>이를 통해 프롬프트를 동적으로 생성할 수 있습니다</a:t>
            </a:r>
            <a:r>
              <a:rPr lang="en-US" altLang="ko-KR" sz="1000" dirty="0"/>
              <a:t>.</a:t>
            </a:r>
          </a:p>
          <a:p>
            <a:pPr algn="l"/>
            <a:endParaRPr lang="en-US" altLang="ko-KR" sz="1000" dirty="0"/>
          </a:p>
          <a:p>
            <a:pPr algn="l"/>
            <a:r>
              <a:rPr lang="en-US" altLang="ko-KR" sz="1000" dirty="0"/>
              <a:t>3. </a:t>
            </a:r>
            <a:r>
              <a:rPr lang="ko-KR" altLang="en-US" sz="1000" dirty="0"/>
              <a:t>프롬프트 실행</a:t>
            </a:r>
          </a:p>
          <a:p>
            <a:pPr algn="l"/>
            <a:r>
              <a:rPr lang="ko-KR" altLang="en-US" sz="1000" dirty="0"/>
              <a:t>입력 데이터 준비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dirty="0"/>
              <a:t>프롬프트에 필요한 입력 데이터를 준비합니다</a:t>
            </a:r>
            <a:r>
              <a:rPr lang="en-US" altLang="ko-KR" sz="1000" dirty="0"/>
              <a:t>. </a:t>
            </a:r>
            <a:r>
              <a:rPr lang="ko-KR" altLang="en-US" sz="1000" dirty="0"/>
              <a:t>예를 들어</a:t>
            </a:r>
            <a:r>
              <a:rPr lang="en-US" altLang="ko-KR" sz="1000" dirty="0"/>
              <a:t>, </a:t>
            </a:r>
            <a:r>
              <a:rPr lang="ko-KR" altLang="en-US" sz="1000" dirty="0"/>
              <a:t>번역할 텍스트와 대상 언어를 지정합니다</a:t>
            </a:r>
            <a:r>
              <a:rPr lang="en-US" altLang="ko-KR" sz="1000" dirty="0"/>
              <a:t>.</a:t>
            </a:r>
          </a:p>
          <a:p>
            <a:pPr algn="l"/>
            <a:r>
              <a:rPr lang="ko-KR" altLang="en-US" sz="1000" dirty="0"/>
              <a:t>프롬프트 실행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dirty="0"/>
              <a:t>준비된 데이터를 사용하여 프롬프트를 실행합니다</a:t>
            </a:r>
            <a:r>
              <a:rPr lang="en-US" altLang="ko-KR" sz="1000" dirty="0"/>
              <a:t>. </a:t>
            </a:r>
            <a:r>
              <a:rPr lang="ko-KR" altLang="en-US" sz="1000" dirty="0"/>
              <a:t>모델에 프롬프트를 전달하고</a:t>
            </a:r>
            <a:r>
              <a:rPr lang="en-US" altLang="ko-KR" sz="1000" dirty="0"/>
              <a:t>, </a:t>
            </a:r>
            <a:r>
              <a:rPr lang="ko-KR" altLang="en-US" sz="1000" dirty="0"/>
              <a:t>결과를 생성합니다</a:t>
            </a:r>
            <a:r>
              <a:rPr lang="en-US" altLang="ko-KR" sz="1000" dirty="0"/>
              <a:t>.</a:t>
            </a:r>
          </a:p>
          <a:p>
            <a:pPr algn="l"/>
            <a:endParaRPr lang="en-US" altLang="ko-KR" sz="1000" dirty="0"/>
          </a:p>
          <a:p>
            <a:pPr algn="l"/>
            <a:r>
              <a:rPr lang="en-US" altLang="ko-KR" sz="1000" dirty="0"/>
              <a:t>4. </a:t>
            </a:r>
            <a:r>
              <a:rPr lang="ko-KR" altLang="en-US" sz="1000" dirty="0"/>
              <a:t>결과 후처리</a:t>
            </a:r>
          </a:p>
          <a:p>
            <a:pPr algn="l"/>
            <a:r>
              <a:rPr lang="ko-KR" altLang="en-US" sz="1000" dirty="0"/>
              <a:t>결과 검토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dirty="0"/>
              <a:t>모델이 생성한 결과를 검토합니다</a:t>
            </a:r>
            <a:r>
              <a:rPr lang="en-US" altLang="ko-KR" sz="1000" dirty="0"/>
              <a:t>. </a:t>
            </a:r>
            <a:r>
              <a:rPr lang="ko-KR" altLang="en-US" sz="1000" dirty="0"/>
              <a:t>예를 들어</a:t>
            </a:r>
            <a:r>
              <a:rPr lang="en-US" altLang="ko-KR" sz="1000" dirty="0"/>
              <a:t>, </a:t>
            </a:r>
            <a:r>
              <a:rPr lang="ko-KR" altLang="en-US" sz="1000" dirty="0"/>
              <a:t>번역 결과가 </a:t>
            </a:r>
            <a:r>
              <a:rPr lang="ko-KR" altLang="en-US" sz="1000" dirty="0" err="1"/>
              <a:t>올바른지</a:t>
            </a:r>
            <a:r>
              <a:rPr lang="en-US" altLang="ko-KR" sz="1000" dirty="0"/>
              <a:t>, </a:t>
            </a:r>
            <a:r>
              <a:rPr lang="ko-KR" altLang="en-US" sz="1000" dirty="0"/>
              <a:t>요약이 정확한지 확인합니다</a:t>
            </a:r>
            <a:r>
              <a:rPr lang="en-US" altLang="ko-KR" sz="1000" dirty="0"/>
              <a:t>.</a:t>
            </a:r>
          </a:p>
          <a:p>
            <a:pPr algn="l"/>
            <a:r>
              <a:rPr lang="ko-KR" altLang="en-US" sz="1000" dirty="0"/>
              <a:t>후처리 작업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dirty="0"/>
              <a:t>필요에 따라 결과를 </a:t>
            </a:r>
            <a:r>
              <a:rPr lang="ko-KR" altLang="en-US" sz="1000" dirty="0" err="1"/>
              <a:t>후처리합니다</a:t>
            </a:r>
            <a:r>
              <a:rPr lang="en-US" altLang="ko-KR" sz="1000" dirty="0"/>
              <a:t>. </a:t>
            </a:r>
            <a:r>
              <a:rPr lang="ko-KR" altLang="en-US" sz="1000" dirty="0"/>
              <a:t>예를 들어</a:t>
            </a:r>
            <a:r>
              <a:rPr lang="en-US" altLang="ko-KR" sz="1000" dirty="0"/>
              <a:t>, </a:t>
            </a:r>
            <a:r>
              <a:rPr lang="ko-KR" altLang="en-US" sz="1000" dirty="0"/>
              <a:t>텍스트 정규화</a:t>
            </a:r>
            <a:r>
              <a:rPr lang="en-US" altLang="ko-KR" sz="1000" dirty="0"/>
              <a:t>, </a:t>
            </a:r>
            <a:r>
              <a:rPr lang="ko-KR" altLang="en-US" sz="1000" dirty="0"/>
              <a:t>불필요한 문장 제거</a:t>
            </a:r>
            <a:r>
              <a:rPr lang="en-US" altLang="ko-KR" sz="1000" dirty="0"/>
              <a:t>, </a:t>
            </a:r>
            <a:r>
              <a:rPr lang="ko-KR" altLang="en-US" sz="1000" dirty="0"/>
              <a:t>형식 수정 등을 수행합니다</a:t>
            </a:r>
            <a:r>
              <a:rPr lang="en-US" altLang="ko-KR" sz="1000" dirty="0"/>
              <a:t>.</a:t>
            </a:r>
          </a:p>
          <a:p>
            <a:pPr algn="l"/>
            <a:endParaRPr lang="en-US" altLang="ko-KR" sz="1000" dirty="0"/>
          </a:p>
          <a:p>
            <a:pPr algn="l"/>
            <a:r>
              <a:rPr lang="en-US" altLang="ko-KR" sz="1000" dirty="0"/>
              <a:t>5. </a:t>
            </a:r>
            <a:r>
              <a:rPr lang="ko-KR" altLang="en-US" sz="1000" dirty="0"/>
              <a:t>피드백 및 반복</a:t>
            </a:r>
          </a:p>
          <a:p>
            <a:pPr algn="l"/>
            <a:r>
              <a:rPr lang="ko-KR" altLang="en-US" sz="1000" dirty="0"/>
              <a:t>피드백 수집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dirty="0"/>
              <a:t>사용자의 피드백을 수집합니다</a:t>
            </a:r>
            <a:r>
              <a:rPr lang="en-US" altLang="ko-KR" sz="1000" dirty="0"/>
              <a:t>. </a:t>
            </a:r>
            <a:r>
              <a:rPr lang="ko-KR" altLang="en-US" sz="1000" dirty="0"/>
              <a:t>결과의 품질</a:t>
            </a:r>
            <a:r>
              <a:rPr lang="en-US" altLang="ko-KR" sz="1000" dirty="0"/>
              <a:t>, </a:t>
            </a:r>
            <a:r>
              <a:rPr lang="ko-KR" altLang="en-US" sz="1000" dirty="0"/>
              <a:t>정확성</a:t>
            </a:r>
            <a:r>
              <a:rPr lang="en-US" altLang="ko-KR" sz="1000" dirty="0"/>
              <a:t>, </a:t>
            </a:r>
            <a:r>
              <a:rPr lang="ko-KR" altLang="en-US" sz="1000" dirty="0"/>
              <a:t>관련성 등에 대한 피드백을 반영합니다</a:t>
            </a:r>
            <a:r>
              <a:rPr lang="en-US" altLang="ko-KR" sz="1000" dirty="0"/>
              <a:t>.</a:t>
            </a:r>
          </a:p>
          <a:p>
            <a:pPr algn="l"/>
            <a:r>
              <a:rPr lang="ko-KR" altLang="en-US" sz="1000" dirty="0"/>
              <a:t>프롬프트 수정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dirty="0"/>
              <a:t>피드백을 바탕으로 프롬프트 템플릿을 수정하고 개선합니다</a:t>
            </a:r>
            <a:r>
              <a:rPr lang="en-US" altLang="ko-KR" sz="1000" dirty="0"/>
              <a:t>. </a:t>
            </a:r>
            <a:r>
              <a:rPr lang="ko-KR" altLang="en-US" sz="1000" dirty="0"/>
              <a:t>필요한 경우</a:t>
            </a:r>
            <a:r>
              <a:rPr lang="en-US" altLang="ko-KR" sz="1000" dirty="0"/>
              <a:t>, </a:t>
            </a:r>
            <a:r>
              <a:rPr lang="ko-KR" altLang="en-US" sz="1000" dirty="0"/>
              <a:t>새로운 입력 변수나 조건을 추가합니다</a:t>
            </a:r>
            <a:r>
              <a:rPr lang="en-US" altLang="ko-KR" sz="1000" dirty="0"/>
              <a:t>.</a:t>
            </a:r>
          </a:p>
          <a:p>
            <a:pPr algn="l"/>
            <a:r>
              <a:rPr lang="ko-KR" altLang="en-US" sz="1000" dirty="0"/>
              <a:t>반복 실행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dirty="0"/>
              <a:t>수정된 프롬프트를 다시 실행하여 결과를 생성하고</a:t>
            </a:r>
            <a:r>
              <a:rPr lang="en-US" altLang="ko-KR" sz="1000" dirty="0"/>
              <a:t>, </a:t>
            </a:r>
            <a:r>
              <a:rPr lang="ko-KR" altLang="en-US" sz="1000" dirty="0"/>
              <a:t>피드백 과정을 반복합니다</a:t>
            </a:r>
            <a:r>
              <a:rPr lang="en-US" altLang="ko-KR" sz="1000" dirty="0"/>
              <a:t>. </a:t>
            </a:r>
            <a:r>
              <a:rPr lang="ko-KR" altLang="en-US" sz="1000" dirty="0"/>
              <a:t>이를 통해 점진적으로 프롬프트와 결과의 품질을 개선합니다</a:t>
            </a:r>
            <a:r>
              <a:rPr lang="en-US" altLang="ko-KR" sz="1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752141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CB5561-BCDC-0B00-838E-1B6B437305D0}"/>
              </a:ext>
            </a:extLst>
          </p:cNvPr>
          <p:cNvSpPr txBox="1"/>
          <p:nvPr/>
        </p:nvSpPr>
        <p:spPr>
          <a:xfrm>
            <a:off x="653143" y="555401"/>
            <a:ext cx="5217216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ko-KR" altLang="en-US" sz="1050" dirty="0"/>
              <a:t>프롬프트 관리</a:t>
            </a:r>
            <a:r>
              <a:rPr lang="en-US" altLang="ko-KR" sz="1050" dirty="0"/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" altLang="ko-KR" sz="1050" dirty="0"/>
              <a:t>LCEL</a:t>
            </a:r>
            <a:r>
              <a:rPr lang="ko-KR" altLang="en-US" sz="1050" dirty="0"/>
              <a:t>은 프롬프트 템플릿을 정의하고 관리할 수 있는 기능을 제공합니다</a:t>
            </a:r>
            <a:r>
              <a:rPr lang="en-US" altLang="ko-KR" sz="1050" dirty="0"/>
              <a:t>. </a:t>
            </a:r>
            <a:r>
              <a:rPr lang="ko-KR" altLang="en-US" sz="1050" dirty="0"/>
              <a:t>이를 통해 일관된 프롬프트를 생성하고 다양한 입력에 유연하게 대응할 수 있습니다</a:t>
            </a:r>
            <a:r>
              <a:rPr lang="en-US" altLang="ko-KR" sz="1050" dirty="0"/>
              <a:t>.</a:t>
            </a:r>
          </a:p>
          <a:p>
            <a:pPr lvl="1" algn="l"/>
            <a:endParaRPr lang="en" altLang="ko-KR" sz="900" dirty="0"/>
          </a:p>
          <a:p>
            <a:pPr lvl="1" algn="l"/>
            <a:r>
              <a:rPr lang="en" altLang="ko-KR" sz="900" dirty="0" err="1"/>
              <a:t>input_data</a:t>
            </a:r>
            <a:r>
              <a:rPr lang="en" altLang="ko-KR" sz="900" dirty="0"/>
              <a:t> = { "language": "French", "text": ["Hello", "how are you", "Goodbye"] } # </a:t>
            </a:r>
            <a:r>
              <a:rPr lang="ko-KR" altLang="en-US" sz="900" dirty="0"/>
              <a:t>리스트를 </a:t>
            </a:r>
            <a:r>
              <a:rPr lang="ko-KR" altLang="en-US" sz="900" dirty="0" err="1"/>
              <a:t>문자열로변환</a:t>
            </a:r>
            <a:r>
              <a:rPr lang="ko-KR" altLang="en-US" sz="900" dirty="0"/>
              <a:t> </a:t>
            </a:r>
            <a:r>
              <a:rPr lang="en" altLang="ko-KR" sz="900" dirty="0" err="1"/>
              <a:t>input_data</a:t>
            </a:r>
            <a:r>
              <a:rPr lang="en" altLang="ko-KR" sz="900" dirty="0"/>
              <a:t>["text"] = ", ".join(</a:t>
            </a:r>
            <a:r>
              <a:rPr lang="en" altLang="ko-KR" sz="900" dirty="0" err="1"/>
              <a:t>input_data</a:t>
            </a:r>
            <a:r>
              <a:rPr lang="en" altLang="ko-KR" sz="900" dirty="0"/>
              <a:t>["text"])</a:t>
            </a:r>
          </a:p>
          <a:p>
            <a:pPr lvl="1" algn="l"/>
            <a:br>
              <a:rPr lang="en" altLang="ko-KR" sz="900" dirty="0"/>
            </a:br>
            <a:r>
              <a:rPr lang="en" altLang="ko-KR" sz="900" dirty="0" err="1"/>
              <a:t>input_data</a:t>
            </a:r>
            <a:r>
              <a:rPr lang="en" altLang="ko-KR" sz="900" dirty="0"/>
              <a:t> = { "language": "French", "text": { "greeting": "Hello", "question": "how are you", "farewell": "Goodbye" } } # </a:t>
            </a:r>
            <a:r>
              <a:rPr lang="ko-KR" altLang="en-US" sz="900" dirty="0" err="1"/>
              <a:t>딕셔너리를</a:t>
            </a:r>
            <a:r>
              <a:rPr lang="ko-KR" altLang="en-US" sz="900" dirty="0"/>
              <a:t> 문자열로 변환 </a:t>
            </a:r>
            <a:endParaRPr lang="en-US" altLang="ko-KR" sz="900" dirty="0"/>
          </a:p>
          <a:p>
            <a:pPr lvl="1" algn="l"/>
            <a:endParaRPr lang="en" altLang="ko-KR" sz="900" dirty="0"/>
          </a:p>
          <a:p>
            <a:pPr lvl="1" algn="l"/>
            <a:r>
              <a:rPr lang="en" altLang="ko-KR" sz="900" dirty="0" err="1"/>
              <a:t>input_data</a:t>
            </a:r>
            <a:r>
              <a:rPr lang="en" altLang="ko-KR" sz="900" dirty="0"/>
              <a:t>["text"] = "; ".join([f"{k}: {v}" for k, v in </a:t>
            </a:r>
            <a:r>
              <a:rPr lang="en" altLang="ko-KR" sz="900" dirty="0" err="1"/>
              <a:t>input_data</a:t>
            </a:r>
            <a:r>
              <a:rPr lang="en" altLang="ko-KR" sz="900" dirty="0"/>
              <a:t>["text"].items()]) # </a:t>
            </a:r>
            <a:r>
              <a:rPr lang="ko-KR" altLang="en-US" sz="900" dirty="0"/>
              <a:t>프롬프트 생성 </a:t>
            </a:r>
            <a:endParaRPr lang="en-US" altLang="ko-KR" sz="900" dirty="0"/>
          </a:p>
          <a:p>
            <a:pPr marL="742950" lvl="1" indent="-285750" algn="l">
              <a:buFont typeface="+mj-lt"/>
              <a:buAutoNum type="arabicPeriod"/>
            </a:pPr>
            <a:endParaRPr lang="en-US" altLang="ko-KR" sz="900" dirty="0"/>
          </a:p>
          <a:p>
            <a:pPr lvl="1" algn="l"/>
            <a:r>
              <a:rPr lang="en" altLang="ko-KR" sz="900" dirty="0" err="1"/>
              <a:t>prompt_text</a:t>
            </a:r>
            <a:r>
              <a:rPr lang="en" altLang="ko-KR" sz="900" dirty="0"/>
              <a:t> = </a:t>
            </a:r>
            <a:r>
              <a:rPr lang="en" altLang="ko-KR" sz="900" dirty="0" err="1"/>
              <a:t>prompt.render</a:t>
            </a:r>
            <a:r>
              <a:rPr lang="en" altLang="ko-KR" sz="900" dirty="0"/>
              <a:t>(**</a:t>
            </a:r>
            <a:r>
              <a:rPr lang="en" altLang="ko-KR" sz="900" dirty="0" err="1"/>
              <a:t>input_data</a:t>
            </a:r>
            <a:r>
              <a:rPr lang="en" altLang="ko-KR" sz="900" dirty="0"/>
              <a:t>)</a:t>
            </a:r>
            <a:endParaRPr lang="en-US" altLang="ko-KR" sz="900" dirty="0"/>
          </a:p>
          <a:p>
            <a:pPr algn="l">
              <a:buFont typeface="+mj-lt"/>
              <a:buAutoNum type="arabicPeriod"/>
            </a:pPr>
            <a:r>
              <a:rPr lang="ko-KR" altLang="en-US" sz="1050" dirty="0"/>
              <a:t>체인 구성</a:t>
            </a:r>
            <a:r>
              <a:rPr lang="en-US" altLang="ko-KR" sz="1050" dirty="0"/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ko-KR" altLang="en-US" sz="1050" dirty="0"/>
              <a:t>여러 개의 프롬프트와 응답을 결합하여 복잡한 작업을 수행할 수 있는 체인을 구성할 수 있습니다</a:t>
            </a:r>
            <a:r>
              <a:rPr lang="en-US" altLang="ko-KR" sz="1050" dirty="0"/>
              <a:t>. </a:t>
            </a:r>
            <a:r>
              <a:rPr lang="ko-KR" altLang="en-US" sz="1050" dirty="0"/>
              <a:t>체인을 통해 단계별로 작업을 정의하고 실행할 수 있습니다</a:t>
            </a:r>
            <a:r>
              <a:rPr lang="en-US" altLang="ko-KR" sz="1050" dirty="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" altLang="ko-KR" sz="900" dirty="0" err="1"/>
              <a:t>SimpleChain</a:t>
            </a:r>
            <a:r>
              <a:rPr lang="ko-KR" altLang="en-US" sz="900" dirty="0"/>
              <a:t> 단일 프롬프트 템플릿을 사용하여 작업을 수행합니다</a:t>
            </a:r>
            <a:r>
              <a:rPr lang="en-US" altLang="ko-KR" sz="900" dirty="0"/>
              <a:t>. </a:t>
            </a:r>
            <a:r>
              <a:rPr lang="ko-KR" altLang="en-US" sz="900" dirty="0"/>
              <a:t>주로 간단한 텍스트 변환 작업에 사용됩니다</a:t>
            </a:r>
            <a:r>
              <a:rPr lang="en-US" altLang="ko-KR" sz="900" dirty="0"/>
              <a:t>.</a:t>
            </a:r>
            <a:endParaRPr lang="en" altLang="ko-KR" sz="9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" altLang="ko-KR" sz="900" dirty="0" err="1"/>
              <a:t>SequentialChain</a:t>
            </a:r>
            <a:r>
              <a:rPr lang="ko-KR" altLang="en-US" sz="900" dirty="0"/>
              <a:t> 여러 단계를 순차적으로 실행하는 체인입니다</a:t>
            </a:r>
            <a:r>
              <a:rPr lang="en-US" altLang="ko-KR" sz="900" dirty="0"/>
              <a:t>. </a:t>
            </a:r>
            <a:r>
              <a:rPr lang="ko-KR" altLang="en-US" sz="900" dirty="0"/>
              <a:t>각 단계는 이전 단계의 </a:t>
            </a:r>
            <a:r>
              <a:rPr lang="ko-KR" altLang="en-US" sz="900" dirty="0" err="1"/>
              <a:t>출력값을</a:t>
            </a:r>
            <a:r>
              <a:rPr lang="ko-KR" altLang="en-US" sz="900" dirty="0"/>
              <a:t> 입력으로 받아서 실행됩니다</a:t>
            </a:r>
            <a:r>
              <a:rPr lang="en-US" altLang="ko-KR" sz="900" dirty="0"/>
              <a:t>. </a:t>
            </a:r>
            <a:r>
              <a:rPr lang="ko-KR" altLang="en-US" sz="900" dirty="0"/>
              <a:t>이를 통해 복잡한 작업을 단계별로 수행할 수 있습니다</a:t>
            </a:r>
            <a:r>
              <a:rPr lang="en-US" altLang="ko-KR" sz="900" dirty="0"/>
              <a:t>.</a:t>
            </a:r>
            <a:endParaRPr lang="en" altLang="ko-KR" sz="9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" altLang="ko-KR" sz="900" dirty="0" err="1"/>
              <a:t>ParallelChain</a:t>
            </a:r>
            <a:r>
              <a:rPr lang="ko-KR" altLang="en-US" sz="900" dirty="0"/>
              <a:t> 여러 작업을 병렬로 실행합니다</a:t>
            </a:r>
            <a:r>
              <a:rPr lang="en-US" altLang="ko-KR" sz="900" dirty="0"/>
              <a:t>. </a:t>
            </a:r>
            <a:r>
              <a:rPr lang="ko-KR" altLang="en-US" sz="900" dirty="0"/>
              <a:t>이를 통해 독립적인 작업을 동시에 수행할 수 있습니다</a:t>
            </a:r>
            <a:r>
              <a:rPr lang="en-US" altLang="ko-KR" sz="900" dirty="0"/>
              <a:t>.</a:t>
            </a:r>
            <a:endParaRPr lang="en" altLang="ko-KR" sz="9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" altLang="ko-KR" sz="900" dirty="0" err="1"/>
              <a:t>ConditionalChain</a:t>
            </a:r>
            <a:r>
              <a:rPr lang="ko-KR" altLang="en-US" sz="900" dirty="0"/>
              <a:t> 조건에 따라 다른 체인을 실행합니다</a:t>
            </a:r>
            <a:r>
              <a:rPr lang="en-US" altLang="ko-KR" sz="900" dirty="0"/>
              <a:t>. </a:t>
            </a:r>
            <a:r>
              <a:rPr lang="ko-KR" altLang="en-US" sz="900" dirty="0"/>
              <a:t>특정 조건에 따라 실행할 체인을 선택할 수 있습니다</a:t>
            </a:r>
            <a:r>
              <a:rPr lang="en-US" altLang="ko-KR" sz="900" dirty="0"/>
              <a:t>.</a:t>
            </a:r>
            <a:endParaRPr lang="en" altLang="ko-KR" sz="9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" altLang="ko-KR" sz="900" dirty="0" err="1"/>
              <a:t>DatabaseChain</a:t>
            </a:r>
            <a:r>
              <a:rPr lang="ko-KR" altLang="en-US" sz="900" dirty="0"/>
              <a:t> 데이터베이스와 통합하여 작업을 수행하는 체인입니다</a:t>
            </a:r>
            <a:r>
              <a:rPr lang="en-US" altLang="ko-KR" sz="900" dirty="0"/>
              <a:t>. </a:t>
            </a:r>
            <a:r>
              <a:rPr lang="ko-KR" altLang="en-US" sz="900" dirty="0"/>
              <a:t>데이터베이스 쿼리를 통해 필요한 정보를 조회하고 사용할 수 있습니다</a:t>
            </a:r>
            <a:r>
              <a:rPr lang="en-US" altLang="ko-KR" sz="900" dirty="0"/>
              <a:t>.</a:t>
            </a:r>
            <a:endParaRPr lang="en" altLang="ko-KR" sz="9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" altLang="ko-KR" sz="900" dirty="0" err="1"/>
              <a:t>APIChain</a:t>
            </a:r>
            <a:r>
              <a:rPr lang="ko-KR" altLang="en-US" sz="900" dirty="0"/>
              <a:t> 은 외부 </a:t>
            </a:r>
            <a:r>
              <a:rPr lang="en" altLang="ko-KR" sz="900" dirty="0"/>
              <a:t>API</a:t>
            </a:r>
            <a:r>
              <a:rPr lang="ko-KR" altLang="en-US" sz="900" dirty="0"/>
              <a:t>와 통합하여 작업을 수행하는 체인입니다</a:t>
            </a:r>
            <a:r>
              <a:rPr lang="en-US" altLang="ko-KR" sz="900" dirty="0"/>
              <a:t>. </a:t>
            </a:r>
            <a:r>
              <a:rPr lang="en" altLang="ko-KR" sz="900" dirty="0"/>
              <a:t>API </a:t>
            </a:r>
            <a:r>
              <a:rPr lang="ko-KR" altLang="en-US" sz="900" dirty="0"/>
              <a:t>호출을 통해 필요한 데이터를 가져오고 사용할 수 있습니다</a:t>
            </a:r>
            <a:r>
              <a:rPr lang="en-US" altLang="ko-KR" sz="900" dirty="0"/>
              <a:t>.</a:t>
            </a:r>
            <a:endParaRPr lang="en" altLang="ko-KR" sz="9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" altLang="ko-KR" sz="900" dirty="0" err="1"/>
              <a:t>AgentChain</a:t>
            </a:r>
            <a:r>
              <a:rPr lang="ko-KR" altLang="en-US" sz="900" dirty="0"/>
              <a:t> 은 에이전트를 사용하여 복잡한 작업을 자동으로 수행하는 체인입니다</a:t>
            </a:r>
            <a:r>
              <a:rPr lang="en-US" altLang="ko-KR" sz="900" dirty="0"/>
              <a:t>. </a:t>
            </a:r>
            <a:r>
              <a:rPr lang="ko-KR" altLang="en-US" sz="900" dirty="0"/>
              <a:t>에이전트는 여러 체인을 결합하여 사용자 요청을 처리합니다</a:t>
            </a:r>
            <a:r>
              <a:rPr lang="en-US" altLang="ko-KR" sz="900" dirty="0"/>
              <a:t>.</a:t>
            </a:r>
            <a:endParaRPr lang="en" altLang="ko-KR" sz="900" dirty="0"/>
          </a:p>
          <a:p>
            <a:pPr lvl="1" algn="l"/>
            <a:endParaRPr lang="en-US" altLang="ko-KR" sz="900" dirty="0"/>
          </a:p>
          <a:p>
            <a:pPr algn="l">
              <a:buFont typeface="+mj-lt"/>
              <a:buAutoNum type="arabicPeriod"/>
            </a:pPr>
            <a:r>
              <a:rPr lang="ko-KR" altLang="en-US" sz="1050" dirty="0"/>
              <a:t>데이터 소스 통합</a:t>
            </a:r>
            <a:r>
              <a:rPr lang="en-US" altLang="ko-KR" sz="1050" dirty="0"/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ko-KR" altLang="en-US" sz="1050" dirty="0"/>
              <a:t>다양한 데이터 소스</a:t>
            </a:r>
            <a:r>
              <a:rPr lang="en-US" altLang="ko-KR" sz="1050" dirty="0"/>
              <a:t>(</a:t>
            </a:r>
            <a:r>
              <a:rPr lang="en" altLang="ko-KR" sz="1050" dirty="0"/>
              <a:t>API, </a:t>
            </a:r>
            <a:r>
              <a:rPr lang="ko-KR" altLang="en-US" sz="1050" dirty="0"/>
              <a:t>데이터베이스</a:t>
            </a:r>
            <a:r>
              <a:rPr lang="en-US" altLang="ko-KR" sz="1050" dirty="0"/>
              <a:t>, </a:t>
            </a:r>
            <a:r>
              <a:rPr lang="ko-KR" altLang="en-US" sz="1050" dirty="0"/>
              <a:t>파일 시스템 등</a:t>
            </a:r>
            <a:r>
              <a:rPr lang="en-US" altLang="ko-KR" sz="1050" dirty="0"/>
              <a:t>)</a:t>
            </a:r>
            <a:r>
              <a:rPr lang="ko-KR" altLang="en-US" sz="1050" dirty="0"/>
              <a:t>와 통합하여 언어 모델이 더 풍부한 정보를 기반으로 응답할 수 있도록 합니다</a:t>
            </a:r>
            <a:r>
              <a:rPr lang="en-US" altLang="ko-KR" sz="105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C03F12-FF71-C961-A0DF-9560F9A726A6}"/>
              </a:ext>
            </a:extLst>
          </p:cNvPr>
          <p:cNvSpPr txBox="1"/>
          <p:nvPr/>
        </p:nvSpPr>
        <p:spPr>
          <a:xfrm>
            <a:off x="5870359" y="593673"/>
            <a:ext cx="60945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050" dirty="0"/>
              <a:t>3.</a:t>
            </a:r>
            <a:r>
              <a:rPr lang="ko-KR" altLang="en-US" sz="1050" dirty="0"/>
              <a:t> 에이전트 개발</a:t>
            </a:r>
            <a:r>
              <a:rPr lang="en-US" altLang="ko-KR" sz="1050" dirty="0"/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ko-KR" altLang="en-US" sz="1050" dirty="0"/>
              <a:t>사용자의 자연어 요청을 처리하고 다양한 작업을 자동으로 수행할 수 있는 에이전트를 개발할 수 있습니다</a:t>
            </a:r>
            <a:r>
              <a:rPr lang="en-US" altLang="ko-KR" sz="1050" dirty="0"/>
              <a:t>. </a:t>
            </a:r>
            <a:r>
              <a:rPr lang="ko-KR" altLang="en-US" sz="1050" dirty="0"/>
              <a:t>에이전트는 언어 모델과 데이터 소스를 결합하여 복잡한 작업을 처리합니다</a:t>
            </a:r>
            <a:endParaRPr lang="en-US" altLang="ko-KR" sz="105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" altLang="ko-KR" sz="900" dirty="0" err="1"/>
              <a:t>SimpleAgent</a:t>
            </a:r>
            <a:r>
              <a:rPr lang="ko-KR" altLang="en-US" sz="900" dirty="0"/>
              <a:t>는 가장 기본적인 형태의 에이전트로</a:t>
            </a:r>
            <a:r>
              <a:rPr lang="en-US" altLang="ko-KR" sz="900" dirty="0"/>
              <a:t>, </a:t>
            </a:r>
            <a:r>
              <a:rPr lang="ko-KR" altLang="en-US" sz="900" dirty="0"/>
              <a:t>단일 체인을 사용하여 사용자 요청을 처리합니다</a:t>
            </a:r>
            <a:r>
              <a:rPr lang="en-US" altLang="ko-KR" sz="900" dirty="0"/>
              <a:t>. </a:t>
            </a:r>
            <a:r>
              <a:rPr lang="ko-KR" altLang="en-US" sz="900" dirty="0"/>
              <a:t>주로 간단한 작업에 사용됩니다</a:t>
            </a:r>
            <a:r>
              <a:rPr lang="en-US" altLang="ko-KR" sz="900" dirty="0"/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" altLang="ko-KR" sz="900" dirty="0" err="1"/>
              <a:t>ToolAgent</a:t>
            </a:r>
            <a:r>
              <a:rPr lang="ko-KR" altLang="en-US" sz="900" dirty="0"/>
              <a:t>는 여러 도구를 결합하여 복잡한 작업을 처리할 수 있는 에이전트입니다</a:t>
            </a:r>
            <a:r>
              <a:rPr lang="en-US" altLang="ko-KR" sz="900" dirty="0"/>
              <a:t>. </a:t>
            </a:r>
            <a:r>
              <a:rPr lang="ko-KR" altLang="en-US" sz="900" dirty="0"/>
              <a:t>각 도구는 특정 작업을 수행하며</a:t>
            </a:r>
            <a:r>
              <a:rPr lang="en-US" altLang="ko-KR" sz="900" dirty="0"/>
              <a:t>, </a:t>
            </a:r>
            <a:r>
              <a:rPr lang="en" altLang="ko-KR" sz="900" dirty="0" err="1"/>
              <a:t>ToolAgent</a:t>
            </a:r>
            <a:r>
              <a:rPr lang="ko-KR" altLang="en-US" sz="900" dirty="0"/>
              <a:t>는 이들을 결합하여 더 복잡한 기능을 제공합니다</a:t>
            </a:r>
            <a:r>
              <a:rPr lang="en-US" altLang="ko-KR" sz="900" dirty="0"/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" altLang="ko-KR" sz="900" dirty="0" err="1"/>
              <a:t>ConversationalAgent</a:t>
            </a:r>
            <a:r>
              <a:rPr lang="ko-KR" altLang="en-US" sz="900" dirty="0"/>
              <a:t>는 대화형 응용 프로그램에 특화된 에이전트입니다</a:t>
            </a:r>
            <a:r>
              <a:rPr lang="en-US" altLang="ko-KR" sz="900" dirty="0"/>
              <a:t>. </a:t>
            </a:r>
            <a:r>
              <a:rPr lang="ko-KR" altLang="en-US" sz="900" dirty="0"/>
              <a:t>이 에이전트는 사용자의 입력을 이해하고</a:t>
            </a:r>
            <a:r>
              <a:rPr lang="en-US" altLang="ko-KR" sz="900" dirty="0"/>
              <a:t>, </a:t>
            </a:r>
            <a:r>
              <a:rPr lang="ko-KR" altLang="en-US" sz="900" dirty="0"/>
              <a:t>적절한 응답을 생성하여 자연스러운 대화를 유지합니다</a:t>
            </a:r>
            <a:r>
              <a:rPr lang="en-US" altLang="ko-KR" sz="900" dirty="0"/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" altLang="ko-KR" sz="900" dirty="0" err="1"/>
              <a:t>ReactiveAgent</a:t>
            </a:r>
            <a:r>
              <a:rPr lang="ko-KR" altLang="en-US" sz="900" dirty="0"/>
              <a:t>는 특정 조건이나 이벤트에 반응하는 에이전트입니다</a:t>
            </a:r>
            <a:r>
              <a:rPr lang="en-US" altLang="ko-KR" sz="900" dirty="0"/>
              <a:t>. </a:t>
            </a:r>
            <a:r>
              <a:rPr lang="ko-KR" altLang="en-US" sz="900" dirty="0"/>
              <a:t>조건에 따라 다른 작업을 수행할 수 있으며</a:t>
            </a:r>
            <a:r>
              <a:rPr lang="en-US" altLang="ko-KR" sz="900" dirty="0"/>
              <a:t>, </a:t>
            </a:r>
            <a:r>
              <a:rPr lang="ko-KR" altLang="en-US" sz="900" dirty="0"/>
              <a:t>주로 실시간 응답이 필요한 시나리오에서 사용됩니다</a:t>
            </a:r>
            <a:r>
              <a:rPr lang="en-US" altLang="ko-KR" sz="900" dirty="0"/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" altLang="ko-KR" sz="900" dirty="0" err="1"/>
              <a:t>MultiStepAgent</a:t>
            </a:r>
            <a:r>
              <a:rPr lang="ko-KR" altLang="en-US" sz="900" dirty="0"/>
              <a:t>는 여러 단계를 순차적으로 수행하는 에이전트입니다</a:t>
            </a:r>
            <a:r>
              <a:rPr lang="en-US" altLang="ko-KR" sz="900" dirty="0"/>
              <a:t>. </a:t>
            </a:r>
            <a:r>
              <a:rPr lang="ko-KR" altLang="en-US" sz="900" dirty="0"/>
              <a:t>복잡한 작업을 단계별로 정의하고</a:t>
            </a:r>
            <a:r>
              <a:rPr lang="en-US" altLang="ko-KR" sz="900" dirty="0"/>
              <a:t>, </a:t>
            </a:r>
            <a:r>
              <a:rPr lang="ko-KR" altLang="en-US" sz="900" dirty="0"/>
              <a:t>각 단계를 차례로 실행하여 최종 결과를 도출합니다</a:t>
            </a:r>
            <a:r>
              <a:rPr lang="en-US" altLang="ko-KR" sz="900" dirty="0"/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" altLang="ko-KR" sz="900" dirty="0" err="1"/>
              <a:t>StatefulAgent</a:t>
            </a:r>
            <a:r>
              <a:rPr lang="ko-KR" altLang="en-US" sz="900" dirty="0"/>
              <a:t>는 상태를 유지하면서 작업을 수행하는 에이전트입니다</a:t>
            </a:r>
            <a:r>
              <a:rPr lang="en-US" altLang="ko-KR" sz="900" dirty="0"/>
              <a:t>. </a:t>
            </a:r>
            <a:r>
              <a:rPr lang="ko-KR" altLang="en-US" sz="900" dirty="0"/>
              <a:t>이전의 상태나 컨텍스트를 기억하고</a:t>
            </a:r>
            <a:r>
              <a:rPr lang="en-US" altLang="ko-KR" sz="900" dirty="0"/>
              <a:t>, </a:t>
            </a:r>
            <a:r>
              <a:rPr lang="ko-KR" altLang="en-US" sz="900" dirty="0"/>
              <a:t>이를 기반으로 현재 작업을 수행할 수 있습니다</a:t>
            </a:r>
            <a:r>
              <a:rPr lang="en-US" altLang="ko-KR" sz="900" dirty="0"/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" altLang="ko-KR" sz="900" dirty="0" err="1"/>
              <a:t>CustomAgent</a:t>
            </a:r>
            <a:r>
              <a:rPr lang="ko-KR" altLang="en-US" sz="900" dirty="0"/>
              <a:t>는 사용자가 정의한 커스텀 로직을 기반으로 동작하는 에이전트입니다</a:t>
            </a:r>
            <a:r>
              <a:rPr lang="en-US" altLang="ko-KR" sz="900" dirty="0"/>
              <a:t>. </a:t>
            </a:r>
            <a:r>
              <a:rPr lang="ko-KR" altLang="en-US" sz="900" dirty="0"/>
              <a:t>사용자는 자신만의 로직을 구현하여 에이전트를 구성할 수 있습니다</a:t>
            </a:r>
            <a:r>
              <a:rPr lang="en-US" altLang="ko-KR" sz="900" dirty="0"/>
              <a:t>.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834111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6945</TotalTime>
  <Words>6607</Words>
  <Application>Microsoft Macintosh PowerPoint</Application>
  <PresentationFormat>와이드스크린</PresentationFormat>
  <Paragraphs>710</Paragraphs>
  <Slides>32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5" baseType="lpstr">
      <vt:lpstr>맑은 고딕</vt:lpstr>
      <vt:lpstr>Apple SD Gothic Neo</vt:lpstr>
      <vt:lpstr>Söhne</vt:lpstr>
      <vt:lpstr>ui-sans-serif</vt:lpstr>
      <vt:lpstr>Arial</vt:lpstr>
      <vt:lpstr>Courier New</vt:lpstr>
      <vt:lpstr>Helvetica</vt:lpstr>
      <vt:lpstr>Helvetica Neue</vt:lpstr>
      <vt:lpstr>Menlo-Regular</vt:lpstr>
      <vt:lpstr>Open Sans</vt:lpstr>
      <vt:lpstr>Roboto</vt:lpstr>
      <vt:lpstr>Tahoma</vt:lpstr>
      <vt:lpstr>Office 테마</vt:lpstr>
      <vt:lpstr>진행 사항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설치 메뉴얼</vt:lpstr>
      <vt:lpstr>사전 설치</vt:lpstr>
      <vt:lpstr>사전 설치</vt:lpstr>
      <vt:lpstr>PowerPoint 프레젠테이션</vt:lpstr>
      <vt:lpstr>사전 설치</vt:lpstr>
      <vt:lpstr>사전 설치</vt:lpstr>
      <vt:lpstr>사전 설치</vt:lpstr>
      <vt:lpstr>설치 YUM repository는 개방형 네트워크 경우 이용 가능 (/docs/latest/install-and-configure/install-opensearch/rpm/)</vt:lpstr>
      <vt:lpstr>설치</vt:lpstr>
      <vt:lpstr>설치</vt:lpstr>
      <vt:lpstr>사전 설치</vt:lpstr>
      <vt:lpstr>설치</vt:lpstr>
      <vt:lpstr>설치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범석 이</dc:creator>
  <cp:lastModifiedBy>범석 이</cp:lastModifiedBy>
  <cp:revision>125</cp:revision>
  <dcterms:created xsi:type="dcterms:W3CDTF">2024-04-03T21:23:44Z</dcterms:created>
  <dcterms:modified xsi:type="dcterms:W3CDTF">2024-05-14T10:31:14Z</dcterms:modified>
</cp:coreProperties>
</file>